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課外主題｜從梯度下降到倒傳遞演算法 Backpropagation（BP）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115-1 深度學習於海事應用｜課外主題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188720"/>
            <a:ext cx="10515600" cy="676656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一　梯度從哪裡來：數值微分，簡單但是貴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56816"/>
            <a:ext cx="10515600" cy="676656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二　計算圖：把一串運算畫成節點，每個節點只管自己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24912"/>
            <a:ext cx="10515600" cy="676656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三　兩條節點規則：加法原封不動傳，乘法乘以另一邊的輸入值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493008"/>
            <a:ext cx="10515600" cy="676656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四　梯度確認：用數值微分驗倒傳遞，這是本份的驗收條件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59636E"/>
                </a:solidFill>
                <a:latin typeface="Microsoft JhengHei"/>
              </a:rPr>
              <a:t>上一份教材《梯度下降法》停在更新式，梯度是我手推給各位的。</a:t>
            </a:r>
          </a:p>
          <a:p>
            <a:r>
              <a:rPr sz="1900" b="0">
                <a:solidFill>
                  <a:srgbClr val="59636E"/>
                </a:solidFill>
                <a:latin typeface="Microsoft JhengHei"/>
              </a:rPr>
              <a:t>參數只有一個的時候推得動，上萬個的時候推不動——這一份補的就是梯度自己怎麼算出來。</a:t>
            </a:r>
          </a:p>
          <a:p>
            <a:r>
              <a:rPr sz="1900" b="0">
                <a:solidFill>
                  <a:srgbClr val="59636E"/>
                </a:solidFill>
                <a:latin typeface="Microsoft JhengHei"/>
              </a:rPr>
              <a:t>示範函數仍然是 L(w) = (w − 3)²，起點 w = 0，和上一份完全一樣，數字可以互相核對。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一、上一份教材停在哪裡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更新式右邊那一項，我們一直當作「已經有了」</a:t>
            </a:r>
          </a:p>
        </p:txBody>
      </p:sp>
      <p:pic>
        <p:nvPicPr>
          <p:cNvPr id="6" name="Picture 5" descr="m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143000"/>
            <a:ext cx="6035040" cy="119191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331720"/>
          <a:ext cx="6035038" cy="12070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0560"/>
                <a:gridCol w="1609343"/>
                <a:gridCol w="2145792"/>
                <a:gridCol w="1609343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k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w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dL/dw = 2(w-3)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L(w)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-6.000000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9.000000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0.600000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-4.800000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5.760000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1.080000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-3.840000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3.686400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0" y="23317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202020"/>
                </a:solidFill>
                <a:latin typeface="Microsoft JhengHei"/>
              </a:rPr>
              <a:t>黃色那一欄是上一份教材用的梯度。</a:t>
            </a:r>
          </a:p>
          <a:p>
            <a:r>
              <a:rPr sz="1900" b="0">
                <a:solidFill>
                  <a:srgbClr val="202020"/>
                </a:solidFill>
                <a:latin typeface="Microsoft JhengHei"/>
              </a:rPr>
              <a:t>它是我用手推出 2(w − 3) 之後</a:t>
            </a:r>
          </a:p>
          <a:p>
            <a:r>
              <a:rPr sz="1900" b="0">
                <a:solidFill>
                  <a:srgbClr val="202020"/>
                </a:solidFill>
                <a:latin typeface="Microsoft JhengHei"/>
              </a:rPr>
              <a:t>代數字進去算的。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3886200"/>
            <a:ext cx="4754880" cy="82296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C03030"/>
                </a:solidFill>
                <a:latin typeface="Microsoft JhengHei"/>
              </a:rPr>
              <a:t>問題：一個參數推得動，
上萬個參數推不動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6035040" cy="68580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1E7A45"/>
                </a:solidFill>
                <a:latin typeface="Microsoft JhengHei"/>
              </a:rPr>
              <a:t>這一份要回答：梯度怎麼讓電腦自己算出來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02020"/>
                </a:solidFill>
                <a:latin typeface="Microsoft JhengHei"/>
              </a:rPr>
              <a:t>梯度有兩種算法。第一種叫數值微分，三行就寫得完，但是很貴；</a:t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>第二種叫倒傳遞演算法，很便宜，但是容易寫錯而且錯了不會報錯。</a:t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>兩種都要學，因為最後要用第一種去驗第二種。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二、方法一：數值微分 numerical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從導數的定義出發，不必推公式</a:t>
            </a:r>
          </a:p>
        </p:txBody>
      </p:sp>
      <p:pic>
        <p:nvPicPr>
          <p:cNvPr id="6" name="Picture 5" descr="m_cen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97280"/>
            <a:ext cx="6675120" cy="8510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4884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202020"/>
                </a:solidFill>
                <a:latin typeface="Microsoft JhengHei"/>
              </a:rPr>
              <a:t>取左右各 h 的兩點，連成一條割線，</a:t>
            </a:r>
          </a:p>
          <a:p>
            <a:r>
              <a:rPr sz="1900" b="0">
                <a:solidFill>
                  <a:srgbClr val="202020"/>
                </a:solidFill>
                <a:latin typeface="Microsoft JhengHei"/>
              </a:rPr>
              <a:t>用斜率當導數，這叫中心差分 central difference。</a:t>
            </a:r>
          </a:p>
        </p:txBody>
      </p:sp>
      <p:pic>
        <p:nvPicPr>
          <p:cNvPr id="8" name="Picture 7" descr="f1_cen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240280"/>
            <a:ext cx="4846320" cy="31154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3063240"/>
            <a:ext cx="5852160" cy="64008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59636E"/>
                </a:solidFill>
                <a:latin typeface="Microsoft JhengHei"/>
              </a:rPr>
              <a:t>灰線是前向差分，斜率 −5.5，偏掉了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94760"/>
            <a:ext cx="5852160" cy="64008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E7A45"/>
                </a:solidFill>
                <a:latin typeface="Microsoft JhengHei"/>
              </a:rPr>
              <a:t>紅虛線是中心差分，斜率 −6.0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53712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02020"/>
                </a:solidFill>
                <a:latin typeface="Microsoft JhengHei"/>
              </a:rPr>
              <a:t>紅虛線整條疊在綠色切線上，看起來像畫錯，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其實是對的：二次函數的中心差分剛好精確。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532120"/>
            <a:ext cx="10881360" cy="713232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1F4E79"/>
                </a:solidFill>
                <a:latin typeface="Microsoft JhengHei"/>
              </a:rPr>
              <a:t>好處：L 怎麼寫都不必管，給得出 L(w) 就算得出梯度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數值微分真的跑一次：w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代進去的每一個數字都看得到，請自己按計算機對一次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6400800" cy="1417320"/>
          </a:xfrm>
          <a:prstGeom prst="rect">
            <a:avLst/>
          </a:prstGeom>
          <a:solidFill>
            <a:srgbClr val="F2F4F7"/>
          </a:solidFill>
          <a:ln>
            <a:solidFill>
              <a:srgbClr val="C8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91440"/>
          <a:lstStyle/>
          <a:p>
            <a:pPr algn="l"/>
            <a:r>
              <a:rPr sz="1600">
                <a:solidFill>
                  <a:srgbClr val="1F4E79"/>
                </a:solidFill>
                <a:latin typeface="Consolas"/>
              </a:rPr>
              <a:t>def numerical_gradient(f, w, h=1e-4):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onsolas"/>
              </a:rPr>
              <a:t>    return (f(w + h) - f(w - h)) / (2 * h)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onsolas"/>
              </a:rPr>
              <a:t/>
            </a:r>
          </a:p>
          <a:p>
            <a:pPr algn="l"/>
            <a:r>
              <a:rPr sz="1600">
                <a:solidFill>
                  <a:srgbClr val="202020"/>
                </a:solidFill>
                <a:latin typeface="Consolas"/>
              </a:rPr>
              <a:t>numerical_gradient(lambda w: (w - 3) ** 2, 0.0)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697480"/>
          <a:ext cx="6400800" cy="18105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73680"/>
                <a:gridCol w="362712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項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值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L(0 + 0.0001)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8.999400010000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L(0 - 0.0001)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9.000600010000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分子：兩者相減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-0.001200000000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分母：2h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0.000200000000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相除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-6.000000000013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406640" y="1097280"/>
            <a:ext cx="429768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手推的解析解</a:t>
            </a:r>
          </a:p>
        </p:txBody>
      </p:sp>
      <p:pic>
        <p:nvPicPr>
          <p:cNvPr id="9" name="Picture 8" descr="m_loss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65960"/>
            <a:ext cx="3840480" cy="69655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06640" y="2788920"/>
            <a:ext cx="429768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F4E79"/>
                </a:solidFill>
                <a:latin typeface="Microsoft JhengHei"/>
              </a:rPr>
              <a:t>2(0 − 3) = −6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3657600"/>
            <a:ext cx="4297680" cy="114300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E7A45"/>
                </a:solidFill>
                <a:latin typeface="Microsoft JhengHei"/>
              </a:rPr>
              <a:t>兩邊差 1.3e-11
不用微積分也算得出來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C03030"/>
                </a:solidFill>
                <a:latin typeface="Microsoft JhengHei"/>
              </a:rPr>
              <a:t>注意分子那個 −0.0012：兩個很接近的數相減，有效位數會掉。</a:t>
            </a:r>
          </a:p>
          <a:p>
            <a:r>
              <a:rPr sz="1900" b="0">
                <a:solidFill>
                  <a:srgbClr val="C03030"/>
                </a:solidFill>
                <a:latin typeface="Microsoft JhengHei"/>
              </a:rPr>
              <a:t>h 取太小反而更不準，這是數值微分自己的毛病，所以 h 定在 1e-4。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三、數值微分的代價：一個參數要跑兩次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以手寫數字辨識網路為例：784 個輸入、50 個隱藏、10 個輸出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43000"/>
          <a:ext cx="5120639" cy="18105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22400"/>
                <a:gridCol w="1991359"/>
                <a:gridCol w="170688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參數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形狀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個數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W1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784 x 50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39,200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b1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50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50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W2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50 x 10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500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b2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合計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39,760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2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43000"/>
            <a:ext cx="5303520" cy="3241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3246120"/>
            <a:ext cx="5120640" cy="137160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C03030"/>
                </a:solidFill>
                <a:latin typeface="Microsoft JhengHei"/>
              </a:rPr>
              <a:t>39,760 個參數
每個要算兩次 L
一次梯度 = 79,520 次前向計算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800600"/>
            <a:ext cx="10881360" cy="713232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C03030"/>
                </a:solidFill>
                <a:latin typeface="Microsoft JhengHei"/>
              </a:rPr>
              <a:t>而這只是「走一步」。梯度下降要走幾千步，每一步都要 79,520 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669280"/>
            <a:ext cx="10881360" cy="713232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1E7A45"/>
                </a:solidFill>
                <a:latin typeface="Microsoft JhengHei"/>
              </a:rPr>
              <a:t>倒傳遞：不管幾個參數，一次梯度都只要正向一次、反向一次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四、換一組示範資料：買蘋果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第四節到第十一節都用這一組，第十二節再換回 L(w) = (w − 3)²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188720"/>
            <a:ext cx="10515600" cy="868680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300" b="1">
                <a:solidFill>
                  <a:srgbClr val="1F4E79"/>
                </a:solidFill>
                <a:latin typeface="Microsoft JhengHei"/>
              </a:rPr>
              <a:t>太郎在超市買了 2 個蘋果，每個 100 日圓。消費稅 10%，求應付金額。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02020"/>
                </a:solidFill>
                <a:latin typeface="Microsoft JhengHei"/>
              </a:rPr>
              <a:t>為什麼要借這個例子：它的數字小到可以心算，</a:t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>兩條節點規則在上面一眼看得出來，不必和微分的細節纏在一起。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29000"/>
            <a:ext cx="5029200" cy="731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把它畫成計算圖 computational graph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429000"/>
            <a:ext cx="5029200" cy="731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節點是運算，箭頭上是數值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43400"/>
            <a:ext cx="10515600" cy="804672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1E7A45"/>
                </a:solidFill>
                <a:latin typeface="Microsoft JhengHei"/>
              </a:rPr>
              <a:t>答案是 220 日圓。這個數字各位心算就算得出來，所以圖畫錯了會知道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9636E"/>
                </a:solidFill>
                <a:latin typeface="Microsoft JhengHei"/>
              </a:rPr>
              <a:t>之所以從一個買蘋果的問題開始講倒傳遞，理由在第七節：</a:t>
            </a:r>
          </a:p>
          <a:p>
            <a:r>
              <a:rPr sz="2000" b="0">
                <a:solidFill>
                  <a:srgbClr val="59636E"/>
                </a:solidFill>
                <a:latin typeface="Microsoft JhengHei"/>
              </a:rPr>
              <a:t>這張圖真正要回答的不是「總共多少錢」，是「蘋果漲價 1 圓，總價會漲多少」。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五、正向傳播 forward 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從左往右算，就是一般的算法，沒有新東西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783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蘋果價格 100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" y="2478024"/>
            <a:ext cx="1737360" cy="0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97480" y="206654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Microsoft JhengHei"/>
              </a:rPr>
              <a:t>100</a:t>
            </a:r>
          </a:p>
        </p:txBody>
      </p:sp>
      <p:sp>
        <p:nvSpPr>
          <p:cNvPr id="9" name="Oval 8"/>
          <p:cNvSpPr/>
          <p:nvPr/>
        </p:nvSpPr>
        <p:spPr>
          <a:xfrm>
            <a:off x="4197096" y="2148840"/>
            <a:ext cx="658368" cy="658368"/>
          </a:xfrm>
          <a:prstGeom prst="ellipse">
            <a:avLst/>
          </a:prstGeom>
          <a:solidFill>
            <a:srgbClr val="DAE6F2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Microsoft JhengHei"/>
              </a:rPr>
              <a:t>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069080"/>
            <a:ext cx="1783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蘋果個數 2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182112" y="2871216"/>
            <a:ext cx="1170432" cy="1197864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55464" y="2478024"/>
            <a:ext cx="2779776" cy="0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23559" y="206654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Microsoft JhengHei"/>
              </a:rPr>
              <a:t>200</a:t>
            </a:r>
          </a:p>
        </p:txBody>
      </p:sp>
      <p:sp>
        <p:nvSpPr>
          <p:cNvPr id="14" name="Oval 13"/>
          <p:cNvSpPr/>
          <p:nvPr/>
        </p:nvSpPr>
        <p:spPr>
          <a:xfrm>
            <a:off x="7671816" y="2148840"/>
            <a:ext cx="658368" cy="658368"/>
          </a:xfrm>
          <a:prstGeom prst="ellipse">
            <a:avLst/>
          </a:prstGeom>
          <a:solidFill>
            <a:srgbClr val="DAE6F2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Microsoft JhengHei"/>
              </a:rPr>
              <a:t>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4069080"/>
            <a:ext cx="1783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消費稅 1.1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656832" y="2871216"/>
            <a:ext cx="1170432" cy="1197864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30183" y="2478024"/>
            <a:ext cx="1225297" cy="0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48471" y="206654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Microsoft JhengHei"/>
              </a:rPr>
              <a:t>220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2194560"/>
            <a:ext cx="1783080" cy="566928"/>
          </a:xfrm>
          <a:prstGeom prst="roundRect">
            <a:avLst/>
          </a:prstGeom>
          <a:solidFill>
            <a:srgbClr val="DCF0E4"/>
          </a:solidFill>
          <a:ln w="1905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7A45"/>
                </a:solidFill>
                <a:latin typeface="Microsoft JhengHei"/>
              </a:rPr>
              <a:t>應付 220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074920"/>
            <a:ext cx="10881360" cy="73152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300" b="1">
                <a:solidFill>
                  <a:srgbClr val="1E7A45"/>
                </a:solidFill>
                <a:latin typeface="Microsoft JhengHei"/>
              </a:rPr>
              <a:t>100 × 2 = 200，200 × 1.1 = 220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Microsoft JhengHei"/>
              </a:rPr>
              <a:t>每個圓圈只拿到兩個數字，做一次乘法就交出去。它不知道前面發生過什麼事。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六、局部計算：每個節點只管自己那一格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這是計算圖唯一的規矩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77440" cy="566928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59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9636E"/>
                </a:solidFill>
                <a:latin typeface="Microsoft JhengHei"/>
              </a:rPr>
              <a:t>別的東西 4000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112264"/>
            <a:ext cx="1691640" cy="0"/>
          </a:xfrm>
          <a:prstGeom prst="line">
            <a:avLst/>
          </a:prstGeom>
          <a:ln w="28575">
            <a:solidFill>
              <a:srgbClr val="59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46120" y="170078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9636E"/>
                </a:solidFill>
                <a:latin typeface="Microsoft JhengHei"/>
              </a:rPr>
              <a:t>4000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46120"/>
            <a:ext cx="237744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蘋果小計 200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017520" y="2514600"/>
            <a:ext cx="1691640" cy="1014984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46120" y="36118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Microsoft JhengHei"/>
              </a:rPr>
              <a:t>200</a:t>
            </a:r>
          </a:p>
        </p:txBody>
      </p:sp>
      <p:sp>
        <p:nvSpPr>
          <p:cNvPr id="12" name="Oval 11"/>
          <p:cNvSpPr/>
          <p:nvPr/>
        </p:nvSpPr>
        <p:spPr>
          <a:xfrm>
            <a:off x="4745736" y="1984248"/>
            <a:ext cx="658368" cy="658368"/>
          </a:xfrm>
          <a:prstGeom prst="ellipse">
            <a:avLst/>
          </a:prstGeom>
          <a:solidFill>
            <a:srgbClr val="DAE6F2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Microsoft JhengHei"/>
              </a:rPr>
              <a:t>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04104" y="2313432"/>
            <a:ext cx="1499616" cy="0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32120" y="1901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Microsoft JhengHei"/>
              </a:rPr>
              <a:t>4200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029968"/>
            <a:ext cx="2011680" cy="566928"/>
          </a:xfrm>
          <a:prstGeom prst="roundRect">
            <a:avLst/>
          </a:prstGeom>
          <a:solidFill>
            <a:srgbClr val="DCF0E4"/>
          </a:solidFill>
          <a:ln w="1905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7A45"/>
                </a:solidFill>
                <a:latin typeface="Microsoft JhengHei"/>
              </a:rPr>
              <a:t>合計 4200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783080"/>
            <a:ext cx="2377440" cy="100584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E7A45"/>
                </a:solidFill>
                <a:latin typeface="Microsoft JhengHei"/>
              </a:rPr>
              <a:t>這個節點只做
4000 + 200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10881360" cy="73152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C03030"/>
                </a:solidFill>
                <a:latin typeface="Microsoft JhengHei"/>
              </a:rPr>
              <a:t>那個 4000 是怎麼來的，加法節點完全不管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02020"/>
                </a:solidFill>
                <a:latin typeface="Microsoft JhengHei"/>
              </a:rPr>
              <a:t>整張圖再複雜，每一個節點做的都是一件簡單的事，而且只看自己收到的那兩個數字。</a:t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>這就是為什麼複雜的網路可以被拆開來算——下一頁要用的，也正是這個性質。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七、真正要問的問題：蘋果漲 1 圓，總價漲多少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這就是導數，而導數正是梯度下降要的那個東西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881360" cy="804672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300" b="1">
                <a:solidFill>
                  <a:srgbClr val="1F4E79"/>
                </a:solidFill>
                <a:latin typeface="Microsoft JhengHei"/>
              </a:rPr>
              <a:t>蘋果價格記作 x，應付金額記作 L，要問的是 ∂L / ∂x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6766558" cy="12070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90164"/>
                <a:gridCol w="2786230"/>
                <a:gridCol w="1990164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蘋果價格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計算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應付金額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100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100 x 2 x 1.1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220.0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101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101 x 2 x 1.1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222.2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差 1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差 2.2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80960" y="2103120"/>
            <a:ext cx="3931920" cy="132588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1E7A45"/>
                </a:solidFill>
                <a:latin typeface="Microsoft JhengHei"/>
              </a:rPr>
              <a:t>蘋果漲 1 圓
總價漲 2.2 圓
所以 ∂L / ∂x = 2.2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10881360" cy="749808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C03030"/>
                </a:solidFill>
                <a:latin typeface="Microsoft JhengHei"/>
              </a:rPr>
              <a:t>這一頁是用「漲價再算一次」硬試出來的，一個參數試一次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02020"/>
                </a:solidFill>
                <a:latin typeface="Microsoft JhengHei"/>
              </a:rPr>
              <a:t>硬試就是第二節那個數值微分，而第三節算過，39,760 個參數要試 79,520 次。</a:t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/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>倒傳遞要做的，是把同一個 2.2 從右往左一路傳回來，</a:t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>而且順便把消費稅、蘋果個數的導數一起算出來，只走一趟。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7" grpId="0">
        <p:bldAsOne/>
      </p:bldGraphic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八、憑什麼可以一節一節傳回來：鏈式法則 chain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倒傳遞能成立，全靠這一條</a:t>
            </a:r>
          </a:p>
        </p:txBody>
      </p:sp>
      <p:pic>
        <p:nvPicPr>
          <p:cNvPr id="6" name="Picture 5" descr="m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143000"/>
            <a:ext cx="4937760" cy="1764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774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02020"/>
                </a:solidFill>
                <a:latin typeface="Microsoft JhengHei"/>
              </a:rPr>
              <a:t>要知道 L 對最左邊那個 x 的導數，不必把整串展開。</a:t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>只要每個節點都知道「自己的輸出對自己的輸入」的導數，一路乘回去就好。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74720"/>
            <a:ext cx="3291840" cy="86868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上游傳來的導數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611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03030"/>
                </a:solidFill>
                <a:latin typeface="Microsoft JhengHei"/>
              </a:rP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3474720"/>
            <a:ext cx="3291840" cy="86868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自己這個節點的
局部導數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611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03030"/>
                </a:solidFill>
                <a:latin typeface="Microsoft JhengHei"/>
              </a:rPr>
              <a:t>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3474720"/>
            <a:ext cx="2286000" cy="86868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E7A45"/>
                </a:solidFill>
                <a:latin typeface="Microsoft JhengHei"/>
              </a:rPr>
              <a:t>往下游傳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663440"/>
            <a:ext cx="10789920" cy="749808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E7A45"/>
                </a:solidFill>
                <a:latin typeface="Microsoft JhengHei"/>
              </a:rPr>
              <a:t>所以每個節點只要會算自己那一步的導數就夠了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Microsoft JhengHei"/>
              </a:rPr>
              <a:t>接下來兩頁，把最常用的兩種節點各看一次。只有兩條規則，都背得起來。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九、加法節點：原封不動傳下去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例子是 10 + 5 = 15，上游傳來 1.3</a:t>
            </a:r>
          </a:p>
        </p:txBody>
      </p:sp>
      <p:pic>
        <p:nvPicPr>
          <p:cNvPr id="6" name="Picture 5" descr="m_addn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051560"/>
            <a:ext cx="7406640" cy="11152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606040"/>
            <a:ext cx="15544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x = 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889504"/>
            <a:ext cx="1508760" cy="0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4069080"/>
            <a:ext cx="15544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y = 5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194560" y="3255264"/>
            <a:ext cx="1700784" cy="1097280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739896" y="2560320"/>
            <a:ext cx="658368" cy="658368"/>
          </a:xfrm>
          <a:prstGeom prst="ellipse">
            <a:avLst/>
          </a:prstGeom>
          <a:solidFill>
            <a:srgbClr val="DAE6F2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Microsoft JhengHei"/>
              </a:rPr>
              <a:t>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98264" y="2889504"/>
            <a:ext cx="1453896" cy="0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26279" y="247802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Microsoft JhengHei"/>
              </a:rP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2606040"/>
            <a:ext cx="1554480" cy="566928"/>
          </a:xfrm>
          <a:prstGeom prst="roundRect">
            <a:avLst/>
          </a:prstGeom>
          <a:solidFill>
            <a:srgbClr val="DCF0E4"/>
          </a:solidFill>
          <a:ln w="1905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7A45"/>
                </a:solidFill>
                <a:latin typeface="Microsoft JhengHei"/>
              </a:rPr>
              <a:t>z = 15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480560" y="3611880"/>
            <a:ext cx="1417320" cy="0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0" y="36576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3030"/>
                </a:solidFill>
                <a:latin typeface="Microsoft JhengHei"/>
              </a:rPr>
              <a:t>1.3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240280" y="3611880"/>
            <a:ext cx="1463040" cy="0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77440" y="36576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3030"/>
                </a:solidFill>
                <a:latin typeface="Microsoft JhengHei"/>
              </a:rPr>
              <a:t>1.3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834640" y="3474720"/>
            <a:ext cx="1280160" cy="1005840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60320" y="4526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3030"/>
                </a:solidFill>
                <a:latin typeface="Microsoft JhengHei"/>
              </a:rPr>
              <a:t>1.3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2606040"/>
            <a:ext cx="3794760" cy="91440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1E7A45"/>
                </a:solidFill>
                <a:latin typeface="Microsoft JhengHei"/>
              </a:rPr>
              <a:t>兩邊都是 1.3
一模一樣送下去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74920"/>
            <a:ext cx="10881360" cy="731520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F4E79"/>
                </a:solidFill>
                <a:latin typeface="Microsoft JhengHei"/>
              </a:rPr>
              <a:t>因為 z 對 x 的導數是 1，乘 1 等於沒乘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Microsoft JhengHei"/>
              </a:rPr>
              <a:t>加法節點不改數值，只負責分叉。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十、乘法節點：乘以另一邊的輸入值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例子是 10 × 5 = 50，上游傳來 1.3</a:t>
            </a:r>
          </a:p>
        </p:txBody>
      </p:sp>
      <p:pic>
        <p:nvPicPr>
          <p:cNvPr id="6" name="Picture 5" descr="m_muln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051560"/>
            <a:ext cx="7406640" cy="12173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606040"/>
            <a:ext cx="15544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x = 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889504"/>
            <a:ext cx="1508760" cy="0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4069080"/>
            <a:ext cx="15544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y = 5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194560" y="3255264"/>
            <a:ext cx="1700784" cy="1097280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739896" y="2560320"/>
            <a:ext cx="658368" cy="658368"/>
          </a:xfrm>
          <a:prstGeom prst="ellipse">
            <a:avLst/>
          </a:prstGeom>
          <a:solidFill>
            <a:srgbClr val="DAE6F2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Microsoft JhengHei"/>
              </a:rPr>
              <a:t>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98264" y="2889504"/>
            <a:ext cx="1453896" cy="0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26279" y="247802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Microsoft JhengHei"/>
              </a:rPr>
              <a:t>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2606040"/>
            <a:ext cx="1554480" cy="566928"/>
          </a:xfrm>
          <a:prstGeom prst="roundRect">
            <a:avLst/>
          </a:prstGeom>
          <a:solidFill>
            <a:srgbClr val="DCF0E4"/>
          </a:solidFill>
          <a:ln w="1905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7A45"/>
                </a:solidFill>
                <a:latin typeface="Microsoft JhengHei"/>
              </a:rPr>
              <a:t>z = 50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480560" y="3611880"/>
            <a:ext cx="1417320" cy="0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0" y="36576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3030"/>
                </a:solidFill>
                <a:latin typeface="Microsoft JhengHei"/>
              </a:rPr>
              <a:t>1.3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240280" y="3611880"/>
            <a:ext cx="1463040" cy="0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03120" y="3657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03030"/>
                </a:solidFill>
                <a:latin typeface="Microsoft JhengHei"/>
              </a:rPr>
              <a:t>1.3 × 5 = 6.5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834640" y="3474720"/>
            <a:ext cx="1280160" cy="1005840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0" y="45262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03030"/>
                </a:solidFill>
                <a:latin typeface="Microsoft JhengHei"/>
              </a:rPr>
              <a:t>1.3 × 10 = 13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2606040"/>
            <a:ext cx="3794760" cy="123444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C03030"/>
                </a:solidFill>
                <a:latin typeface="Microsoft JhengHei"/>
              </a:rPr>
              <a:t>x 那一邊拿到 y
y 那一邊拿到 x
左右互換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F4E79"/>
                </a:solidFill>
                <a:latin typeface="Microsoft JhengHei"/>
              </a:rPr>
              <a:t>乘法節點要記得正向時收到的值，加法節點不必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十一、兩條規則套回蘋果圖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全部都是乘法節點，所以每一步都是「乘另一邊」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783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蘋果價格 100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" y="2478024"/>
            <a:ext cx="1737360" cy="0"/>
          </a:xfrm>
          <a:prstGeom prst="line">
            <a:avLst/>
          </a:prstGeom>
          <a:ln w="19050">
            <a:solidFill>
              <a:srgbClr val="59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97480" y="206654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9636E"/>
                </a:solidFill>
                <a:latin typeface="Microsoft JhengHei"/>
              </a:rPr>
              <a:t>100</a:t>
            </a:r>
          </a:p>
        </p:txBody>
      </p:sp>
      <p:sp>
        <p:nvSpPr>
          <p:cNvPr id="9" name="Oval 8"/>
          <p:cNvSpPr/>
          <p:nvPr/>
        </p:nvSpPr>
        <p:spPr>
          <a:xfrm>
            <a:off x="4197096" y="2148840"/>
            <a:ext cx="658368" cy="658368"/>
          </a:xfrm>
          <a:prstGeom prst="ellipse">
            <a:avLst/>
          </a:prstGeom>
          <a:solidFill>
            <a:srgbClr val="DAE6F2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Microsoft JhengHei"/>
              </a:rPr>
              <a:t>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069080"/>
            <a:ext cx="1783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蘋果個數 2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182112" y="2871216"/>
            <a:ext cx="1170432" cy="1197864"/>
          </a:xfrm>
          <a:prstGeom prst="line">
            <a:avLst/>
          </a:prstGeom>
          <a:ln w="19050">
            <a:solidFill>
              <a:srgbClr val="59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55464" y="2478024"/>
            <a:ext cx="2779776" cy="0"/>
          </a:xfrm>
          <a:prstGeom prst="line">
            <a:avLst/>
          </a:prstGeom>
          <a:ln w="19050">
            <a:solidFill>
              <a:srgbClr val="59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23559" y="206654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9636E"/>
                </a:solidFill>
                <a:latin typeface="Microsoft JhengHei"/>
              </a:rPr>
              <a:t>200</a:t>
            </a:r>
          </a:p>
        </p:txBody>
      </p:sp>
      <p:sp>
        <p:nvSpPr>
          <p:cNvPr id="14" name="Oval 13"/>
          <p:cNvSpPr/>
          <p:nvPr/>
        </p:nvSpPr>
        <p:spPr>
          <a:xfrm>
            <a:off x="7671816" y="2148840"/>
            <a:ext cx="658368" cy="658368"/>
          </a:xfrm>
          <a:prstGeom prst="ellipse">
            <a:avLst/>
          </a:prstGeom>
          <a:solidFill>
            <a:srgbClr val="DAE6F2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Microsoft JhengHei"/>
              </a:rPr>
              <a:t>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4069080"/>
            <a:ext cx="1783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消費稅 1.1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656832" y="2871216"/>
            <a:ext cx="1170432" cy="1197864"/>
          </a:xfrm>
          <a:prstGeom prst="line">
            <a:avLst/>
          </a:prstGeom>
          <a:ln w="19050">
            <a:solidFill>
              <a:srgbClr val="59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30183" y="2478024"/>
            <a:ext cx="1225297" cy="0"/>
          </a:xfrm>
          <a:prstGeom prst="line">
            <a:avLst/>
          </a:prstGeom>
          <a:ln w="19050">
            <a:solidFill>
              <a:srgbClr val="59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01200" y="2194560"/>
            <a:ext cx="1783080" cy="566928"/>
          </a:xfrm>
          <a:prstGeom prst="roundRect">
            <a:avLst/>
          </a:prstGeom>
          <a:solidFill>
            <a:srgbClr val="DCF0E4"/>
          </a:solidFill>
          <a:ln w="1905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7A45"/>
                </a:solidFill>
                <a:latin typeface="Microsoft JhengHei"/>
              </a:rPr>
              <a:t>應付 220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330183" y="3200400"/>
            <a:ext cx="1225297" cy="0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48471" y="32461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3030"/>
                </a:solidFill>
                <a:latin typeface="Microsoft JhengHei"/>
              </a:rPr>
              <a:t>1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855464" y="3200400"/>
            <a:ext cx="2779776" cy="0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03520" y="32461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03030"/>
                </a:solidFill>
                <a:latin typeface="Microsoft JhengHei"/>
              </a:rPr>
              <a:t>1 × 1.1 = 1.1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423160" y="3200400"/>
            <a:ext cx="1737360" cy="0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77440" y="32461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03030"/>
                </a:solidFill>
                <a:latin typeface="Microsoft JhengHei"/>
              </a:rPr>
              <a:t>1.1 × 2 = 2.2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840480" y="3017520"/>
            <a:ext cx="868680" cy="960119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67128" y="4736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03030"/>
                </a:solidFill>
                <a:latin typeface="Microsoft JhengHei"/>
              </a:rPr>
              <a:t>1.1 × 100 = 110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315200" y="3017520"/>
            <a:ext cx="868679" cy="960119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41848" y="4736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03030"/>
                </a:solidFill>
                <a:latin typeface="Microsoft JhengHei"/>
              </a:rPr>
              <a:t>1 × 200 = 200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E7A45"/>
                </a:solidFill>
                <a:latin typeface="Microsoft JhengHei"/>
              </a:rPr>
              <a:t>蘋果價格 2.2、蘋果個數 110、消費稅 200，三個導數一趟算完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Microsoft JhengHei"/>
              </a:rPr>
              <a:t>那個 2.2 和第七節硬試出來的完全一樣，但這一次沒有重算任何一次正向。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十二、換回我們自己的例子：L(w) = (w − 3)²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蘋果的部分到此結束。接下來到最後都用本課原本那條曲線</a:t>
            </a:r>
          </a:p>
        </p:txBody>
      </p:sp>
      <p:pic>
        <p:nvPicPr>
          <p:cNvPr id="6" name="Picture 5" descr="m_cg_fw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51560"/>
            <a:ext cx="4206240" cy="58031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331720"/>
            <a:ext cx="146304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w = 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615184"/>
            <a:ext cx="1737360" cy="0"/>
          </a:xfrm>
          <a:prstGeom prst="line">
            <a:avLst/>
          </a:prstGeom>
          <a:ln w="19050">
            <a:solidFill>
              <a:srgbClr val="59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877055" y="2286000"/>
            <a:ext cx="658368" cy="658368"/>
          </a:xfrm>
          <a:prstGeom prst="ellipse">
            <a:avLst/>
          </a:prstGeom>
          <a:solidFill>
            <a:srgbClr val="DAE6F2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Microsoft JhengHei"/>
              </a:rPr>
              <a:t>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4206240"/>
            <a:ext cx="146304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468880" y="3008376"/>
            <a:ext cx="1572768" cy="1197864"/>
          </a:xfrm>
          <a:prstGeom prst="line">
            <a:avLst/>
          </a:prstGeom>
          <a:ln w="19050">
            <a:solidFill>
              <a:srgbClr val="59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35424" y="2615184"/>
            <a:ext cx="2368296" cy="0"/>
          </a:xfrm>
          <a:prstGeom prst="line">
            <a:avLst/>
          </a:prstGeom>
          <a:ln w="19050">
            <a:solidFill>
              <a:srgbClr val="59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0" y="220370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9636E"/>
                </a:solidFill>
                <a:latin typeface="Microsoft JhengHei"/>
              </a:rPr>
              <a:t>t = −3</a:t>
            </a:r>
          </a:p>
        </p:txBody>
      </p:sp>
      <p:sp>
        <p:nvSpPr>
          <p:cNvPr id="14" name="Oval 13"/>
          <p:cNvSpPr/>
          <p:nvPr/>
        </p:nvSpPr>
        <p:spPr>
          <a:xfrm>
            <a:off x="6940296" y="2286000"/>
            <a:ext cx="658368" cy="658368"/>
          </a:xfrm>
          <a:prstGeom prst="ellipse">
            <a:avLst/>
          </a:prstGeom>
          <a:solidFill>
            <a:srgbClr val="DAE6F2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F4E79"/>
                </a:solidFill>
                <a:latin typeface="Microsoft JhengHei"/>
              </a:rPr>
              <a:t>x²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98664" y="2615184"/>
            <a:ext cx="1682496" cy="0"/>
          </a:xfrm>
          <a:prstGeom prst="line">
            <a:avLst/>
          </a:prstGeom>
          <a:ln w="19050">
            <a:solidFill>
              <a:srgbClr val="59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26880" y="2331720"/>
            <a:ext cx="1737360" cy="566928"/>
          </a:xfrm>
          <a:prstGeom prst="roundRect">
            <a:avLst/>
          </a:prstGeom>
          <a:solidFill>
            <a:srgbClr val="DCF0E4"/>
          </a:solidFill>
          <a:ln w="1905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7A45"/>
                </a:solidFill>
                <a:latin typeface="Microsoft JhengHei"/>
              </a:rPr>
              <a:t>L = 9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598664" y="3337560"/>
            <a:ext cx="1682496" cy="0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45552" y="3383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3030"/>
                </a:solidFill>
                <a:latin typeface="Microsoft JhengHei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535424" y="3337560"/>
            <a:ext cx="2368296" cy="0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46320" y="33832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03030"/>
                </a:solidFill>
                <a:latin typeface="Microsoft JhengHei"/>
              </a:rPr>
              <a:t>1 × 2t = −6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103120" y="3337560"/>
            <a:ext cx="1737360" cy="0"/>
          </a:xfrm>
          <a:prstGeom prst="line">
            <a:avLst/>
          </a:prstGeom>
          <a:ln w="285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77440" y="3383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3030"/>
                </a:solidFill>
                <a:latin typeface="Microsoft JhengHei"/>
              </a:rPr>
              <a:t>−6</a:t>
            </a:r>
          </a:p>
        </p:txBody>
      </p:sp>
      <p:pic>
        <p:nvPicPr>
          <p:cNvPr id="23" name="Picture 22" descr="m_cg_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800600"/>
            <a:ext cx="5669280" cy="72237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40080" y="5897880"/>
            <a:ext cx="10881360" cy="73152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E7A45"/>
                </a:solidFill>
                <a:latin typeface="Microsoft JhengHei"/>
              </a:rPr>
              <a:t>dL/dw = −6，和第一節表格裡手推的那一格一模一樣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十三、驗收條件：梯度確認 gradient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倒傳遞寫錯不會報錯，所以一定要有一個判定式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881360" cy="749808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1F4E79"/>
                </a:solidFill>
                <a:latin typeface="Microsoft JhengHei"/>
              </a:rPr>
              <a:t>倒傳遞很快但容易寫錯；數值微分很慢但不會寫錯。拿慢的去驗快的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57400"/>
          <a:ext cx="7406638" cy="18105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81328"/>
                <a:gridCol w="2221991"/>
                <a:gridCol w="2221991"/>
                <a:gridCol w="1481328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w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數值微分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倒傳遞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差的絕對值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-6.000000000013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-6.000000000000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1.3e-11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0.600000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-4.799999999996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-4.800000000000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4.1e-12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1.080000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-3.839999999999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-3.840000000000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6.0e-13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1.464000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-3.072000000000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-3.072000000000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4.8e-13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2.213568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-1.572864000003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-1.572864000000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3.4e-12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m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377440"/>
            <a:ext cx="3108960" cy="33692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03920" y="3291840"/>
            <a:ext cx="3108960" cy="91440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1E7A45"/>
                </a:solidFill>
                <a:latin typeface="Microsoft JhengHei"/>
              </a:rPr>
              <a:t>五個點全部通過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69080"/>
            <a:ext cx="7406640" cy="713232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E7A45"/>
                </a:solidFill>
                <a:latin typeface="Microsoft JhengHei"/>
              </a:rPr>
              <a:t>差最大的一列是 1.3e-11，遠小於 1e-7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02020"/>
                </a:solidFill>
                <a:latin typeface="Microsoft JhengHei"/>
              </a:rPr>
              <a:t>請注意這張表的用法：它不是「跑完沒有出錯訊息」，是一個答案只有通過或不通過的判定式。</a:t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>浮點數不會剛好相等，所以門檻要自己訂：寫對時差非常接近 0，差很大就是寫錯了。</a:t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>本份訂 1e-7：寫對時差在 1e-11 以下，故意寫錯時差是 1 的數量級，門檻放在兩者中間。</a:t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>這和本課其他主題的驗收是同一個動作：先寫下怎樣才算對，再去跑。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十四、整理與練習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兩種算法，各有各的位置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43000"/>
          <a:ext cx="10881360" cy="1508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47035"/>
                <a:gridCol w="3400425"/>
                <a:gridCol w="45339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數值微分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倒傳遞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寫起來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兩行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每種節點各寫一個類別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一次梯度的成本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參數個數 x 2 次前向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正向 1 次 + 反向 1 次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寫錯了會不會知道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幾乎不會寫錯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不會報錯，數字照樣跑得出來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實際用途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拿來驗倒傳遞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真正拿來訓練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3291840"/>
            <a:ext cx="10881360" cy="74980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練習一　把 L(w) = (w − 3)² 在 w = 0.6 的計算圖自己畫一次，反向算到 dL/dw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60520"/>
            <a:ext cx="10881360" cy="74980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練習二　蘋果 2 個加橘子 3 個，橘子每個 150 圓，求橘子價格的導數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881360" cy="749808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C03030"/>
                </a:solidFill>
                <a:latin typeface="Microsoft JhengHei"/>
              </a:rPr>
              <a:t>練習三　把練習一的答案和數值微分比對，自己訂一個門檻判定通過或不通過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59636E"/>
                </a:solidFill>
                <a:latin typeface="Microsoft JhengHei"/>
              </a:rPr>
              <a:t>練習二自己驗：橘子漲 1 圓，總價應該從 715 變成 718.3，差就是你算出來的導數。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