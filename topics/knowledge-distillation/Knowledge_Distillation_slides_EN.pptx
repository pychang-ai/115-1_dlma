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005840"/>
          </a:xfrm>
          <a:prstGeom prst="rect">
            <a:avLst/>
          </a:prstGeom>
          <a:noFill/>
        </p:spPr>
        <p:txBody>
          <a:bodyPr wrap="square">
            <a:spAutoFit/>
          </a:bodyPr>
          <a:lstStyle/>
          <a:p>
            <a:pPr algn="just"/>
            <a:r>
              <a:rPr sz="5400" b="1" i="0">
                <a:solidFill>
                  <a:srgbClr val="FFFFFF"/>
                </a:solidFill>
                <a:latin typeface="Times New Roman"/>
              </a:rPr>
              <a:t>Knowledge Distillation</a:t>
            </a:r>
          </a:p>
        </p:txBody>
      </p:sp>
      <p:sp>
        <p:nvSpPr>
          <p:cNvPr id="4" name="TextBox 3"/>
          <p:cNvSpPr txBox="1"/>
          <p:nvPr/>
        </p:nvSpPr>
        <p:spPr>
          <a:xfrm>
            <a:off x="822960" y="2743200"/>
            <a:ext cx="10515600" cy="731520"/>
          </a:xfrm>
          <a:prstGeom prst="rect">
            <a:avLst/>
          </a:prstGeom>
          <a:noFill/>
        </p:spPr>
        <p:txBody>
          <a:bodyPr wrap="square">
            <a:spAutoFit/>
          </a:bodyPr>
          <a:lstStyle/>
          <a:p>
            <a:pPr algn="just"/>
            <a:r>
              <a:rPr sz="2600" b="0" i="0">
                <a:solidFill>
                  <a:srgbClr val="FFFFFF"/>
                </a:solidFill>
                <a:latin typeface="Times New Roman"/>
              </a:rPr>
              <a:t>Transferring the knowledge of a cumbersome model to a small model</a:t>
            </a:r>
          </a:p>
        </p:txBody>
      </p:sp>
      <p:sp>
        <p:nvSpPr>
          <p:cNvPr id="5" name="Rectangle 4"/>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840480"/>
            <a:ext cx="10515600" cy="822960"/>
          </a:xfrm>
          <a:prstGeom prst="rect">
            <a:avLst/>
          </a:prstGeom>
          <a:noFill/>
        </p:spPr>
        <p:txBody>
          <a:bodyPr wrap="square">
            <a:spAutoFit/>
          </a:bodyPr>
          <a:lstStyle/>
          <a:p>
            <a:pPr algn="just"/>
            <a:r>
              <a:rPr sz="1800" b="0" i="0">
                <a:solidFill>
                  <a:srgbClr val="C7D6E5"/>
                </a:solidFill>
                <a:latin typeface="Times New Roman"/>
              </a:rPr>
              <a:t>Based on G. Hinton, O. Vinyals, and J. Dean (2015),</a:t>
            </a:r>
          </a:p>
          <a:p>
            <a:pPr algn="just"/>
            <a:r>
              <a:rPr sz="1800" b="0" i="0">
                <a:solidFill>
                  <a:srgbClr val="C7D6E5"/>
                </a:solidFill>
                <a:latin typeface="Times New Roman"/>
              </a:rPr>
              <a:t>Distilling the Knowledge in a Neural Network, arXiv:1503.02531</a:t>
            </a:r>
          </a:p>
        </p:txBody>
      </p:sp>
      <p:sp>
        <p:nvSpPr>
          <p:cNvPr id="7" name="TextBox 6"/>
          <p:cNvSpPr txBox="1"/>
          <p:nvPr/>
        </p:nvSpPr>
        <p:spPr>
          <a:xfrm>
            <a:off x="822960" y="6080760"/>
            <a:ext cx="10515600" cy="411480"/>
          </a:xfrm>
          <a:prstGeom prst="rect">
            <a:avLst/>
          </a:prstGeom>
          <a:noFill/>
        </p:spPr>
        <p:txBody>
          <a:bodyPr wrap="square">
            <a:spAutoFit/>
          </a:bodyPr>
          <a:lstStyle/>
          <a:p>
            <a:pPr algn="just"/>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64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The process of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paragraph on the previous slide, step by step</a:t>
            </a:r>
          </a:p>
        </p:txBody>
      </p:sp>
      <p:sp>
        <p:nvSpPr>
          <p:cNvPr id="6" name="Rectangle 5"/>
          <p:cNvSpPr/>
          <p:nvPr/>
        </p:nvSpPr>
        <p:spPr>
          <a:xfrm>
            <a:off x="548640" y="1097280"/>
            <a:ext cx="11109960" cy="9601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a cumbersome model is best at extracting structure from the data, but deployment requires a small, fast model, and a small model trained only on the correct labels does not learn to generalize the way the cumbersome model does.</a:t>
            </a:r>
          </a:p>
        </p:txBody>
      </p:sp>
      <p:sp>
        <p:nvSpPr>
          <p:cNvPr id="7" name="Rounded Rectangle 6"/>
          <p:cNvSpPr/>
          <p:nvPr/>
        </p:nvSpPr>
        <p:spPr>
          <a:xfrm>
            <a:off x="54864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1  Cumbersome model</a:t>
            </a:r>
          </a:p>
          <a:p>
            <a:pPr algn="just"/>
            <a:r>
              <a:rPr sz="1500" b="0">
                <a:solidFill>
                  <a:srgbClr val="202020"/>
                </a:solidFill>
                <a:latin typeface="Times New Roman"/>
              </a:rPr>
              <a:t>Train an ensemble or a very large regularized net; its knowledge is a mapping from inputs to outputs</a:t>
            </a:r>
          </a:p>
        </p:txBody>
      </p:sp>
      <p:cxnSp>
        <p:nvCxnSpPr>
          <p:cNvPr id="8" name="Connector 7"/>
          <p:cNvCxnSpPr/>
          <p:nvPr/>
        </p:nvCxnSpPr>
        <p:spPr>
          <a:xfrm>
            <a:off x="304495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2900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2  Soft targets</a:t>
            </a:r>
          </a:p>
          <a:p>
            <a:pPr algn="just"/>
            <a:r>
              <a:rPr sz="1500" b="0">
                <a:solidFill>
                  <a:srgbClr val="202020"/>
                </a:solidFill>
                <a:latin typeface="Times New Roman"/>
              </a:rPr>
              <a:t>Raise the softmax temperature; the softer distribution keeps the relative probabilities of wrong answers</a:t>
            </a:r>
          </a:p>
        </p:txBody>
      </p:sp>
      <p:cxnSp>
        <p:nvCxnSpPr>
          <p:cNvPr id="10" name="Connector 9"/>
          <p:cNvCxnSpPr/>
          <p:nvPr/>
        </p:nvCxnSpPr>
        <p:spPr>
          <a:xfrm>
            <a:off x="592531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3  Small model</a:t>
            </a:r>
          </a:p>
          <a:p>
            <a:pPr algn="just"/>
            <a:r>
              <a:rPr sz="1500" b="0">
                <a:solidFill>
                  <a:srgbClr val="202020"/>
                </a:solidFill>
                <a:latin typeface="Times New Roman"/>
              </a:rPr>
              <a:t>Match the soft targets at the same temperature, together with the correct labels</a:t>
            </a:r>
          </a:p>
        </p:txBody>
      </p:sp>
      <p:cxnSp>
        <p:nvCxnSpPr>
          <p:cNvPr id="12" name="Connector 11"/>
          <p:cNvCxnSpPr/>
          <p:nvPr/>
        </p:nvCxnSpPr>
        <p:spPr>
          <a:xfrm>
            <a:off x="880567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89720" y="2331720"/>
            <a:ext cx="2468880" cy="224028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E7A45"/>
                </a:solidFill>
                <a:latin typeface="Times New Roman"/>
              </a:rPr>
              <a:t>Result</a:t>
            </a:r>
          </a:p>
          <a:p>
            <a:pPr algn="just"/>
            <a:r>
              <a:rPr sz="1500" b="0">
                <a:solidFill>
                  <a:srgbClr val="202020"/>
                </a:solidFill>
                <a:latin typeface="Times New Roman"/>
              </a:rPr>
              <a:t>The small model generalizes like the cumbersome model, often from much less data</a:t>
            </a:r>
          </a:p>
        </p:txBody>
      </p:sp>
      <p:sp>
        <p:nvSpPr>
          <p:cNvPr id="14" name="TextBox 13"/>
          <p:cNvSpPr txBox="1"/>
          <p:nvPr/>
        </p:nvSpPr>
        <p:spPr>
          <a:xfrm>
            <a:off x="548640" y="4892040"/>
            <a:ext cx="11109960" cy="1463040"/>
          </a:xfrm>
          <a:prstGeom prst="rect">
            <a:avLst/>
          </a:prstGeom>
          <a:noFill/>
        </p:spPr>
        <p:txBody>
          <a:bodyPr wrap="none">
            <a:spAutoFit/>
          </a:bodyPr>
          <a:lstStyle/>
          <a:p>
            <a:pPr algn="ctr"/>
            <a:r>
              <a:rPr sz="2400" b="0">
                <a:solidFill>
                  <a:srgbClr val="202020"/>
                </a:solidFill>
                <a:latin typeface="Times New Roman"/>
              </a:rPr>
              <a:t>This process is called  </a:t>
            </a:r>
            <a:r>
              <a:rPr sz="4800" b="1">
                <a:solidFill>
                  <a:srgbClr val="C03030"/>
                </a:solidFill>
                <a:latin typeface="Times New Roman"/>
              </a:rPr>
              <a:t>knowledge distillation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5–6</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7–10</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11–15</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16–20</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21</a:t>
                      </a:r>
                    </a:p>
                  </a:txBody>
                  <a:tcPr marL="36576" marR="36576" marT="9144" marB="9144">
                    <a:solidFill>
                      <a:srgbClr val="FFFFFF"/>
                    </a:solidFill>
                  </a:tcPr>
                </a:tc>
              </a:tr>
            </a:tbl>
          </a:graphicData>
        </a:graphic>
      </p:graphicFrame>
      <p:sp>
        <p:nvSpPr>
          <p:cNvPr id="7" name="Rectangle 6"/>
          <p:cNvSpPr/>
          <p:nvPr/>
        </p:nvSpPr>
        <p:spPr>
          <a:xfrm>
            <a:off x="731520" y="34290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After working through this module, you should be able to:</a:t>
            </a:r>
          </a:p>
          <a:p>
            <a:pPr algn="just"/>
            <a:r>
              <a:rPr sz="1700" b="1">
                <a:solidFill>
                  <a:srgbClr val="1E7A45"/>
                </a:solidFill>
                <a:latin typeface="Times New Roman"/>
              </a:rPr>
              <a:t>1. compute a softmax with a temperature by hand and explain what soft targets convey that hard targets do not;</a:t>
            </a:r>
          </a:p>
          <a:p>
            <a:pPr algn="just"/>
            <a:r>
              <a:rPr sz="1700" b="1">
                <a:solidFill>
                  <a:srgbClr val="1E7A45"/>
                </a:solidFill>
                <a:latin typeface="Times New Roman"/>
              </a:rPr>
              <a:t>2. write down the distillation objective and compute its value and gradient step by step;</a:t>
            </a:r>
          </a:p>
          <a:p>
            <a:pPr algn="just"/>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166360"/>
            <a:ext cx="10881360" cy="1097280"/>
          </a:xfrm>
          <a:prstGeom prst="rect">
            <a:avLst/>
          </a:prstGeom>
          <a:noFill/>
        </p:spPr>
        <p:txBody>
          <a:bodyPr wrap="square">
            <a:spAutoFit/>
          </a:bodyPr>
          <a:lstStyle/>
          <a:p>
            <a:pPr algn="just"/>
            <a:r>
              <a:rPr sz="1600" b="0" i="0">
                <a:solidFill>
                  <a:srgbClr val="59636E"/>
                </a:solidFill>
                <a:latin typeface="Times New Roman"/>
              </a:rPr>
              <a:t>Accompanied by the Colab notebook knowledge_distillation_en.ipynb and the data file kd_mnist.npz.</a:t>
            </a:r>
          </a:p>
          <a:p>
            <a:pPr algn="just"/>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a different kind of training that transfers</a:t>
            </a:r>
          </a:p>
          <a:p>
            <a:pPr algn="just"/>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This defines a rich similarity</a:t>
            </a:r>
          </a:p>
          <a:p>
            <a:pPr algn="just"/>
            <a:r>
              <a:rPr sz="1800" b="1">
                <a:solidFill>
                  <a:srgbClr val="1E7A45"/>
                </a:solidFill>
                <a:latin typeface="Times New Roman"/>
              </a:rPr>
              <a:t>structure over the data: it says</a:t>
            </a:r>
          </a:p>
          <a:p>
            <a:pPr algn="just"/>
            <a:r>
              <a:rPr sz="1800" b="1">
                <a:solidFill>
                  <a:srgbClr val="1E7A45"/>
                </a:solidFill>
                <a:latin typeface="Times New Roman"/>
              </a:rPr>
              <a:t>which 2's look like 3's and</a:t>
            </a:r>
          </a:p>
          <a:p>
            <a:pPr algn="just"/>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such probabilities have very little influence on the cross-entropy cost function during the transfer stage, because they are so close to zero.</a:t>
            </a:r>
          </a:p>
          <a:p>
            <a:pPr algn="just"/>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Used from this slide to slide 15</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F4E79"/>
                </a:solidFill>
                <a:latin typeface="Times New Roman"/>
              </a:rPr>
              <a:t>The cumbersome model is confident that</a:t>
            </a:r>
          </a:p>
          <a:p>
            <a:pPr algn="just"/>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The distilled model, not yet trained,</a:t>
            </a:r>
          </a:p>
          <a:p>
            <a:pPr algn="just"/>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700" b="0" i="0">
                <a:solidFill>
                  <a:srgbClr val="59636E"/>
                </a:solidFill>
                <a:latin typeface="Times New Roman"/>
              </a:rPr>
              <a:t>These logits are chosen for hand calculation; they are not produced by a trained model.</a:t>
            </a:r>
          </a:p>
          <a:p>
            <a:pPr algn="just"/>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The probabilities of 3 and 7 are 0.0180 and 0.0003. The information that this 2 resembles a 3 more than a 7</a:t>
            </a:r>
          </a:p>
          <a:p>
            <a:pPr algn="just"/>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The probabilities of 3 and 7 become 0.2447 and 0.0900.</a:t>
            </a:r>
          </a:p>
          <a:p>
            <a:pPr algn="just"/>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600" b="0" i="0">
                <a:solidFill>
                  <a:srgbClr val="59636E"/>
                </a:solidFill>
                <a:latin typeface="Times New Roman"/>
              </a:rPr>
              <a:t>The ratio equals exp((4 − 0)/T):</a:t>
            </a:r>
          </a:p>
          <a:p>
            <a:pPr algn="just"/>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α: we found that the best results were</a:t>
            </a:r>
          </a:p>
          <a:p>
            <a:pPr algn="just"/>
            <a:r>
              <a:rPr sz="1600" b="0">
                <a:solidFill>
                  <a:srgbClr val="1F4E79"/>
                </a:solidFill>
                <a:latin typeface="Times New Roman"/>
              </a:rPr>
              <a:t>generally obtained by using a considerably</a:t>
            </a:r>
          </a:p>
          <a:p>
            <a:pPr algn="just"/>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C03030"/>
                </a:solidFill>
                <a:latin typeface="Times New Roman"/>
              </a:rPr>
              <a:t>T²: the magnitudes of the gradients produced by</a:t>
            </a:r>
          </a:p>
          <a:p>
            <a:pPr algn="just"/>
            <a:r>
              <a:rPr sz="1600" b="0">
                <a:solidFill>
                  <a:srgbClr val="C03030"/>
                </a:solidFill>
                <a:latin typeface="Times New Roman"/>
              </a:rPr>
              <a:t>the soft targets scale as 1/T², so we multiply</a:t>
            </a:r>
          </a:p>
          <a:p>
            <a:pPr algn="just"/>
            <a:r>
              <a:rPr sz="1600" b="0">
                <a:solidFill>
                  <a:srgbClr val="C03030"/>
                </a:solidFill>
                <a:latin typeface="Times New Roman"/>
              </a:rPr>
              <a:t>them by T² (checked on slide 15)</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500" b="0" i="0">
                <a:solidFill>
                  <a:srgbClr val="59636E"/>
                </a:solidFill>
                <a:latin typeface="Times New Roman"/>
              </a:rPr>
              <a:t>At T = 4 the distilled</a:t>
            </a:r>
          </a:p>
          <a:p>
            <a:pPr algn="just"/>
            <a:r>
              <a:rPr sz="1500" b="0" i="0">
                <a:solidFill>
                  <a:srgbClr val="59636E"/>
                </a:solidFill>
                <a:latin typeface="Times New Roman"/>
              </a:rPr>
              <a:t>model gives 3 and 7</a:t>
            </a:r>
          </a:p>
          <a:p>
            <a:pPr algn="just"/>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600" b="0" i="0">
                <a:solidFill>
                  <a:srgbClr val="202020"/>
                </a:solidFill>
                <a:latin typeface="Times New Roman"/>
              </a:rPr>
              <a:t>Here log denotes the natural logarithm. Entries are rounded to four decimal places; the sum is computed from unrounded values.</a:t>
            </a:r>
          </a:p>
          <a:p>
            <a:pPr algn="just"/>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Gradient descent moves the logit of 2 up, the logit of 7 down the most, and the logit of 3 down only slightly,</a:t>
            </a:r>
          </a:p>
          <a:p>
            <a:pPr algn="just"/>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600" b="0" i="0">
                <a:solidFill>
                  <a:srgbClr val="59636E"/>
                </a:solidFill>
                <a:latin typeface="Times New Roman"/>
              </a:rPr>
              <a:t>Section 3 of the notebook recomputes these values with automatic differentiation (TensorFlow GradientTape)</a:t>
            </a:r>
          </a:p>
          <a:p>
            <a:pPr algn="just"/>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600" b="0" i="0">
                <a:solidFill>
                  <a:srgbClr val="202020"/>
                </a:solidFill>
                <a:latin typeface="Times New Roman"/>
              </a:rPr>
              <a:t>From T = 4 to T = 20 the gradient shrinks by a factor</a:t>
            </a:r>
          </a:p>
          <a:p>
            <a:pPr algn="just"/>
            <a:r>
              <a:rPr sz="1600" b="0" i="0">
                <a:solidFill>
                  <a:srgbClr val="202020"/>
                </a:solidFill>
                <a:latin typeface="Times New Roman"/>
              </a:rPr>
              <a:t>of about 20, close to (20/4)² = 25; multiplied by T²,</a:t>
            </a:r>
          </a:p>
          <a:p>
            <a:pPr algn="just"/>
            <a:r>
              <a:rPr sz="1600" b="0" i="0">
                <a:solidFill>
                  <a:srgbClr val="202020"/>
                </a:solidFill>
                <a:latin typeface="Times New Roman"/>
              </a:rPr>
              <a:t>the values 0.85 and 1.05 are of similar size. The 1/T²</a:t>
            </a:r>
          </a:p>
          <a:p>
            <a:pPr algn="just"/>
            <a:r>
              <a:rPr sz="1600" b="0" i="0">
                <a:solidFill>
                  <a:srgbClr val="202020"/>
                </a:solidFill>
                <a:latin typeface="Times New Roman"/>
              </a:rPr>
              <a:t>scaling holds in the high-temperature limit; T = 1 is</a:t>
            </a:r>
          </a:p>
          <a:p>
            <a:pPr algn="just"/>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600" b="0" i="0">
                <a:solidFill>
                  <a:srgbClr val="202020"/>
                </a:solidFill>
                <a:latin typeface="Times New Roman"/>
              </a:rPr>
              <a:t>If T is high compared with the logits and the logits</a:t>
            </a:r>
          </a:p>
          <a:p>
            <a:pPr algn="just"/>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Matching logits is a special case of distillation. At lower temperatures, distillation pays much less attention</a:t>
            </a:r>
          </a:p>
          <a:p>
            <a:pPr algn="just"/>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600" b="0" i="0">
                <a:solidFill>
                  <a:srgbClr val="202020"/>
                </a:solidFill>
                <a:latin typeface="Times New Roman"/>
              </a:rPr>
              <a:t>1200-1200 denotes two hidden layers of 1200 rectified linear hidden units.</a:t>
            </a:r>
          </a:p>
          <a:p>
            <a:pPr algn="just"/>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In our repetition, distillation reduces the gap between the</a:t>
            </a:r>
          </a:p>
          <a:p>
            <a:pPr algn="just"/>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600" b="0" i="0">
                <a:solidFill>
                  <a:srgbClr val="202020"/>
                </a:solidFill>
                <a:latin typeface="Times New Roman"/>
              </a:rPr>
              <a:t>In the paper, soft targets transfer a great deal of knowledge</a:t>
            </a:r>
          </a:p>
          <a:p>
            <a:pPr algn="just"/>
            <a:r>
              <a:rPr sz="1600" b="0" i="0">
                <a:solidFill>
                  <a:srgbClr val="202020"/>
                </a:solidFill>
                <a:latin typeface="Times New Roman"/>
              </a:rPr>
              <a:t>to the distilled model, including the knowledge about how</a:t>
            </a:r>
          </a:p>
          <a:p>
            <a:pPr algn="just"/>
            <a:r>
              <a:rPr sz="1600" b="0" i="0">
                <a:solidFill>
                  <a:srgbClr val="202020"/>
                </a:solidFill>
                <a:latin typeface="Times New Roman"/>
              </a:rPr>
              <a:t>to generalize that is learned from translated training data,</a:t>
            </a:r>
          </a:p>
          <a:p>
            <a:pPr algn="just"/>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500" b="1">
                <a:solidFill>
                  <a:srgbClr val="1F4E79"/>
                </a:solidFill>
                <a:latin typeface="Times New Roman"/>
              </a:rPr>
              <a:t>Paper: with 300 or more units per layer, all temperatures above 8 gave fairly similar results; with 30 units per layer,</a:t>
            </a:r>
          </a:p>
          <a:p>
            <a:pPr algn="just"/>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59636E"/>
                </a:solidFill>
                <a:latin typeface="Times New Roman"/>
              </a:rPr>
              <a:t>Hard targets only: no training case has the</a:t>
            </a:r>
          </a:p>
          <a:p>
            <a:pPr algn="just"/>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Distillation: the soft targets for other digits</a:t>
            </a:r>
          </a:p>
          <a:p>
            <a:pPr algn="just"/>
            <a:r>
              <a:rPr sz="1600" b="1">
                <a:solidFill>
                  <a:srgbClr val="1E7A45"/>
                </a:solidFill>
                <a:latin typeface="Times New Roman"/>
              </a:rPr>
              <a:t>say how much each of them resembles a 3,</a:t>
            </a:r>
          </a:p>
          <a:p>
            <a:pPr algn="just"/>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600" b="0" i="0">
                <a:solidFill>
                  <a:srgbClr val="202020"/>
                </a:solidFill>
                <a:latin typeface="Times New Roman"/>
              </a:rPr>
              <a:t>Most of the errors are caused by the fact that the learned bias for the 3 class is much too low.</a:t>
            </a:r>
          </a:p>
          <a:p>
            <a:pPr algn="just"/>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500" b="0" i="0">
                <a:solidFill>
                  <a:srgbClr val="202020"/>
                </a:solidFill>
                <a:latin typeface="Times New Roman"/>
              </a:rPr>
              <a:t>Acoustic model of Android voice search: more than 80%</a:t>
            </a:r>
          </a:p>
          <a:p>
            <a:pPr algn="just"/>
            <a:r>
              <a:rPr sz="1500" b="0" i="0">
                <a:solidFill>
                  <a:srgbClr val="202020"/>
                </a:solidFill>
                <a:latin typeface="Times New Roman"/>
              </a:rPr>
              <a:t>of the improvement in frame accuracy achieved by the</a:t>
            </a:r>
          </a:p>
          <a:p>
            <a:pPr algn="just"/>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500" b="0" i="0">
                <a:solidFill>
                  <a:srgbClr val="202020"/>
                </a:solidFill>
                <a:latin typeface="Times New Roman"/>
              </a:rPr>
              <a:t>Soft targets allow a new model to generalize well from</a:t>
            </a:r>
          </a:p>
          <a:p>
            <a:pPr algn="just"/>
            <a:r>
              <a:rPr sz="1500" b="0" i="0">
                <a:solidFill>
                  <a:srgbClr val="202020"/>
                </a:solidFill>
                <a:latin typeface="Times New Roman"/>
              </a:rPr>
              <a:t>only 3% of the training set; with hard targets the model</a:t>
            </a:r>
          </a:p>
          <a:p>
            <a:pPr algn="just"/>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Specialist models: on JFT (100 million labeled images, 15,000 labels), 61 specialist models, each trained on a</a:t>
            </a:r>
          </a:p>
          <a:p>
            <a:pPr algn="just"/>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1  At T = 2, what are the soft targets for v = (8, 4, 0)? Use the four steps of slide 8</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