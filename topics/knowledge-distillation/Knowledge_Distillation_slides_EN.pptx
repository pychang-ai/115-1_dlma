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515600" cy="1005840"/>
          </a:xfrm>
          <a:prstGeom prst="rect">
            <a:avLst/>
          </a:prstGeom>
          <a:noFill/>
        </p:spPr>
        <p:txBody>
          <a:bodyPr wrap="square">
            <a:spAutoFit/>
          </a:bodyPr>
          <a:lstStyle/>
          <a:p>
            <a:r>
              <a:rPr sz="5400" b="1" i="0">
                <a:solidFill>
                  <a:srgbClr val="FFFFFF"/>
                </a:solidFill>
                <a:latin typeface="Times New Roman"/>
              </a:rPr>
              <a:t>Knowledge Distillation</a:t>
            </a:r>
          </a:p>
        </p:txBody>
      </p:sp>
      <p:sp>
        <p:nvSpPr>
          <p:cNvPr id="4" name="TextBox 3"/>
          <p:cNvSpPr txBox="1"/>
          <p:nvPr/>
        </p:nvSpPr>
        <p:spPr>
          <a:xfrm>
            <a:off x="822960" y="2743200"/>
            <a:ext cx="10515600" cy="731520"/>
          </a:xfrm>
          <a:prstGeom prst="rect">
            <a:avLst/>
          </a:prstGeom>
          <a:noFill/>
        </p:spPr>
        <p:txBody>
          <a:bodyPr wrap="square">
            <a:spAutoFit/>
          </a:bodyPr>
          <a:lstStyle/>
          <a:p>
            <a:r>
              <a:rPr sz="2600" b="0" i="0">
                <a:solidFill>
                  <a:srgbClr val="FFFFFF"/>
                </a:solidFill>
                <a:latin typeface="Times New Roman"/>
              </a:rPr>
              <a:t>Transferring the knowledge of a cumbersome model to a small model</a:t>
            </a:r>
          </a:p>
        </p:txBody>
      </p:sp>
      <p:sp>
        <p:nvSpPr>
          <p:cNvPr id="5" name="Rectangle 4"/>
          <p:cNvSpPr/>
          <p:nvPr/>
        </p:nvSpPr>
        <p:spPr>
          <a:xfrm>
            <a:off x="868680" y="3611880"/>
            <a:ext cx="27432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840480"/>
            <a:ext cx="10515600" cy="822960"/>
          </a:xfrm>
          <a:prstGeom prst="rect">
            <a:avLst/>
          </a:prstGeom>
          <a:noFill/>
        </p:spPr>
        <p:txBody>
          <a:bodyPr wrap="square">
            <a:spAutoFit/>
          </a:bodyPr>
          <a:lstStyle/>
          <a:p>
            <a:r>
              <a:rPr sz="1800" b="0" i="0">
                <a:solidFill>
                  <a:srgbClr val="C7D6E5"/>
                </a:solidFill>
                <a:latin typeface="Times New Roman"/>
              </a:rPr>
              <a:t>Based on G. Hinton, O. Vinyals, and J. Dean (2015),</a:t>
            </a:r>
          </a:p>
          <a:p>
            <a:r>
              <a:rPr sz="1800" b="0" i="0">
                <a:solidFill>
                  <a:srgbClr val="C7D6E5"/>
                </a:solidFill>
                <a:latin typeface="Times New Roman"/>
              </a:rPr>
              <a:t>Distilling the Knowledge in a Neural Network, arXiv:1503.02531</a:t>
            </a:r>
          </a:p>
        </p:txBody>
      </p:sp>
      <p:sp>
        <p:nvSpPr>
          <p:cNvPr id="7" name="TextBox 6"/>
          <p:cNvSpPr txBox="1"/>
          <p:nvPr/>
        </p:nvSpPr>
        <p:spPr>
          <a:xfrm>
            <a:off x="822960" y="6080760"/>
            <a:ext cx="10515600" cy="411480"/>
          </a:xfrm>
          <a:prstGeom prst="rect">
            <a:avLst/>
          </a:prstGeom>
          <a:noFill/>
        </p:spPr>
        <p:txBody>
          <a:bodyPr wrap="square">
            <a:spAutoFit/>
          </a:bodyPr>
          <a:lstStyle/>
          <a:p>
            <a:r>
              <a:rPr sz="1500" b="0" i="0">
                <a:solidFill>
                  <a:srgbClr val="C7D6E5"/>
                </a:solidFill>
                <a:latin typeface="Times New Roman"/>
              </a:rPr>
              <a:t>© 2026 Maritime AI Lab. All rights reserved.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Outline</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Based on Hinton, Vinyals, and Dean (2015), Distilling the Knowledge in a Neural Network</a:t>
            </a:r>
          </a:p>
        </p:txBody>
      </p:sp>
      <p:graphicFrame>
        <p:nvGraphicFramePr>
          <p:cNvPr id="6" name="Table 5"/>
          <p:cNvGraphicFramePr>
            <a:graphicFrameLocks noGrp="1"/>
          </p:cNvGraphicFramePr>
          <p:nvPr/>
        </p:nvGraphicFramePr>
        <p:xfrm>
          <a:off x="731520" y="1143000"/>
          <a:ext cx="10881358" cy="1975104"/>
        </p:xfrm>
        <a:graphic>
          <a:graphicData uri="http://schemas.openxmlformats.org/drawingml/2006/table">
            <a:tbl>
              <a:tblPr bandRow="1">
                <a:tableStyleId>{5C22544A-7EE6-4342-B048-85BDC9FD1C3A}</a:tableStyleId>
              </a:tblPr>
              <a:tblGrid>
                <a:gridCol w="2374114"/>
                <a:gridCol w="7715873"/>
                <a:gridCol w="791371"/>
              </a:tblGrid>
              <a:tr h="329184">
                <a:tc>
                  <a:txBody>
                    <a:bodyPr/>
                    <a:lstStyle/>
                    <a:p>
                      <a:pPr algn="ctr"/>
                      <a:r>
                        <a:rPr sz="1500" b="1">
                          <a:solidFill>
                            <a:srgbClr val="FFFFFF"/>
                          </a:solidFill>
                          <a:latin typeface="Times New Roman"/>
                        </a:rPr>
                        <a:t>Part</a:t>
                      </a:r>
                    </a:p>
                  </a:txBody>
                  <a:tcPr marL="36576" marR="36576" marT="9144" marB="9144">
                    <a:solidFill>
                      <a:srgbClr val="1F4E79"/>
                    </a:solidFill>
                  </a:tcPr>
                </a:tc>
                <a:tc>
                  <a:txBody>
                    <a:bodyPr/>
                    <a:lstStyle/>
                    <a:p>
                      <a:pPr algn="ctr"/>
                      <a:r>
                        <a:rPr sz="1500" b="1">
                          <a:solidFill>
                            <a:srgbClr val="FFFFFF"/>
                          </a:solidFill>
                          <a:latin typeface="Times New Roman"/>
                        </a:rPr>
                        <a:t>Key points</a:t>
                      </a:r>
                    </a:p>
                  </a:txBody>
                  <a:tcPr marL="36576" marR="36576" marT="9144" marB="9144">
                    <a:solidFill>
                      <a:srgbClr val="1F4E79"/>
                    </a:solidFill>
                  </a:tcPr>
                </a:tc>
                <a:tc>
                  <a:txBody>
                    <a:bodyPr/>
                    <a:lstStyle/>
                    <a:p>
                      <a:pPr algn="ctr"/>
                      <a:r>
                        <a:rPr sz="1500" b="1">
                          <a:solidFill>
                            <a:srgbClr val="FFFFFF"/>
                          </a:solidFill>
                          <a:latin typeface="Times New Roman"/>
                        </a:rPr>
                        <a:t>Slides</a:t>
                      </a:r>
                    </a:p>
                  </a:txBody>
                  <a:tcPr marL="36576" marR="36576" marT="9144" marB="9144">
                    <a:solidFill>
                      <a:srgbClr val="1F4E79"/>
                    </a:solidFill>
                  </a:tcPr>
                </a:tc>
              </a:tr>
              <a:tr h="329184">
                <a:tc>
                  <a:txBody>
                    <a:bodyPr/>
                    <a:lstStyle/>
                    <a:p>
                      <a:pPr algn="ctr"/>
                      <a:r>
                        <a:rPr sz="1500" b="0">
                          <a:solidFill>
                            <a:srgbClr val="202020"/>
                          </a:solidFill>
                          <a:latin typeface="Times New Roman"/>
                        </a:rPr>
                        <a:t>1  Introduction</a:t>
                      </a:r>
                    </a:p>
                  </a:txBody>
                  <a:tcPr marL="36576" marR="36576" marT="9144" marB="9144">
                    <a:solidFill>
                      <a:srgbClr val="FFFFFF"/>
                    </a:solidFill>
                  </a:tcPr>
                </a:tc>
                <a:tc>
                  <a:txBody>
                    <a:bodyPr/>
                    <a:lstStyle/>
                    <a:p>
                      <a:pPr algn="ctr"/>
                      <a:r>
                        <a:rPr sz="1500" b="0">
                          <a:solidFill>
                            <a:srgbClr val="202020"/>
                          </a:solidFill>
                          <a:latin typeface="Times New Roman"/>
                        </a:rPr>
                        <a:t>Training and deployment have different requirements; the relative probabilities of incorrect answers</a:t>
                      </a:r>
                    </a:p>
                  </a:txBody>
                  <a:tcPr marL="36576" marR="36576" marT="9144" marB="9144">
                    <a:solidFill>
                      <a:srgbClr val="FFFFFF"/>
                    </a:solidFill>
                  </a:tcPr>
                </a:tc>
                <a:tc>
                  <a:txBody>
                    <a:bodyPr/>
                    <a:lstStyle/>
                    <a:p>
                      <a:pPr algn="ctr"/>
                      <a:r>
                        <a:rPr sz="1500" b="0">
                          <a:solidFill>
                            <a:srgbClr val="202020"/>
                          </a:solidFill>
                          <a:latin typeface="Times New Roman"/>
                        </a:rPr>
                        <a:t>3–4</a:t>
                      </a:r>
                    </a:p>
                  </a:txBody>
                  <a:tcPr marL="36576" marR="36576" marT="9144" marB="9144">
                    <a:solidFill>
                      <a:srgbClr val="FFFFFF"/>
                    </a:solidFill>
                  </a:tcPr>
                </a:tc>
              </a:tr>
              <a:tr h="329184">
                <a:tc>
                  <a:txBody>
                    <a:bodyPr/>
                    <a:lstStyle/>
                    <a:p>
                      <a:pPr algn="ctr"/>
                      <a:r>
                        <a:rPr sz="1500" b="0">
                          <a:solidFill>
                            <a:srgbClr val="202020"/>
                          </a:solidFill>
                          <a:latin typeface="Times New Roman"/>
                        </a:rPr>
                        <a:t>2  Soft targets</a:t>
                      </a:r>
                    </a:p>
                  </a:txBody>
                  <a:tcPr marL="36576" marR="36576" marT="9144" marB="9144">
                    <a:solidFill>
                      <a:srgbClr val="FFFFFF"/>
                    </a:solidFill>
                  </a:tcPr>
                </a:tc>
                <a:tc>
                  <a:txBody>
                    <a:bodyPr/>
                    <a:lstStyle/>
                    <a:p>
                      <a:pPr algn="ctr"/>
                      <a:r>
                        <a:rPr sz="1500" b="0">
                          <a:solidFill>
                            <a:srgbClr val="202020"/>
                          </a:solidFill>
                          <a:latin typeface="Times New Roman"/>
                        </a:rPr>
                        <a:t>Softmax with a temperature, computed in four steps; T = 1 compared with T = 4</a:t>
                      </a:r>
                    </a:p>
                  </a:txBody>
                  <a:tcPr marL="36576" marR="36576" marT="9144" marB="9144">
                    <a:solidFill>
                      <a:srgbClr val="FFFFFF"/>
                    </a:solidFill>
                  </a:tcPr>
                </a:tc>
                <a:tc>
                  <a:txBody>
                    <a:bodyPr/>
                    <a:lstStyle/>
                    <a:p>
                      <a:pPr algn="ctr"/>
                      <a:r>
                        <a:rPr sz="1500" b="0">
                          <a:solidFill>
                            <a:srgbClr val="202020"/>
                          </a:solidFill>
                          <a:latin typeface="Times New Roman"/>
                        </a:rPr>
                        <a:t>5–8</a:t>
                      </a:r>
                    </a:p>
                  </a:txBody>
                  <a:tcPr marL="36576" marR="36576" marT="9144" marB="9144">
                    <a:solidFill>
                      <a:srgbClr val="FFFFFF"/>
                    </a:solidFill>
                  </a:tcPr>
                </a:tc>
              </a:tr>
              <a:tr h="329184">
                <a:tc>
                  <a:txBody>
                    <a:bodyPr/>
                    <a:lstStyle/>
                    <a:p>
                      <a:pPr algn="ctr"/>
                      <a:r>
                        <a:rPr sz="1500" b="0">
                          <a:solidFill>
                            <a:srgbClr val="202020"/>
                          </a:solidFill>
                          <a:latin typeface="Times New Roman"/>
                        </a:rPr>
                        <a:t>3  Distillation</a:t>
                      </a:r>
                    </a:p>
                  </a:txBody>
                  <a:tcPr marL="36576" marR="36576" marT="9144" marB="9144">
                    <a:solidFill>
                      <a:srgbClr val="FFFFFF"/>
                    </a:solidFill>
                  </a:tcPr>
                </a:tc>
                <a:tc>
                  <a:txBody>
                    <a:bodyPr/>
                    <a:lstStyle/>
                    <a:p>
                      <a:pPr algn="ctr"/>
                      <a:r>
                        <a:rPr sz="1500" b="0">
                          <a:solidFill>
                            <a:srgbClr val="202020"/>
                          </a:solidFill>
                          <a:latin typeface="Times New Roman"/>
                        </a:rPr>
                        <a:t>L = α T² C_soft + (1 − α) C_hard step by step; the gradient; why we multiply by T²</a:t>
                      </a:r>
                    </a:p>
                  </a:txBody>
                  <a:tcPr marL="36576" marR="36576" marT="9144" marB="9144">
                    <a:solidFill>
                      <a:srgbClr val="FFFFFF"/>
                    </a:solidFill>
                  </a:tcPr>
                </a:tc>
                <a:tc>
                  <a:txBody>
                    <a:bodyPr/>
                    <a:lstStyle/>
                    <a:p>
                      <a:pPr algn="ctr"/>
                      <a:r>
                        <a:rPr sz="1500" b="0">
                          <a:solidFill>
                            <a:srgbClr val="202020"/>
                          </a:solidFill>
                          <a:latin typeface="Times New Roman"/>
                        </a:rPr>
                        <a:t>9–13</a:t>
                      </a:r>
                    </a:p>
                  </a:txBody>
                  <a:tcPr marL="36576" marR="36576" marT="9144" marB="9144">
                    <a:solidFill>
                      <a:srgbClr val="FFFFFF"/>
                    </a:solidFill>
                  </a:tcPr>
                </a:tc>
              </a:tr>
              <a:tr h="329184">
                <a:tc>
                  <a:txBody>
                    <a:bodyPr/>
                    <a:lstStyle/>
                    <a:p>
                      <a:pPr algn="ctr"/>
                      <a:r>
                        <a:rPr sz="1500" b="0">
                          <a:solidFill>
                            <a:srgbClr val="202020"/>
                          </a:solidFill>
                          <a:latin typeface="Times New Roman"/>
                        </a:rPr>
                        <a:t>4  Experiments on MNIST</a:t>
                      </a:r>
                    </a:p>
                  </a:txBody>
                  <a:tcPr marL="36576" marR="36576" marT="9144" marB="9144">
                    <a:solidFill>
                      <a:srgbClr val="FFFFFF"/>
                    </a:solidFill>
                  </a:tcPr>
                </a:tc>
                <a:tc>
                  <a:txBody>
                    <a:bodyPr/>
                    <a:lstStyle/>
                    <a:p>
                      <a:pPr algn="ctr"/>
                      <a:r>
                        <a:rPr sz="1500" b="0">
                          <a:solidFill>
                            <a:srgbClr val="202020"/>
                          </a:solidFill>
                          <a:latin typeface="Times New Roman"/>
                        </a:rPr>
                        <a:t>Fewer test errors; intermediate temperatures for a very small net; a mythical digit 3</a:t>
                      </a:r>
                    </a:p>
                  </a:txBody>
                  <a:tcPr marL="36576" marR="36576" marT="9144" marB="9144">
                    <a:solidFill>
                      <a:srgbClr val="FFFFFF"/>
                    </a:solidFill>
                  </a:tcPr>
                </a:tc>
                <a:tc>
                  <a:txBody>
                    <a:bodyPr/>
                    <a:lstStyle/>
                    <a:p>
                      <a:pPr algn="ctr"/>
                      <a:r>
                        <a:rPr sz="1500" b="0">
                          <a:solidFill>
                            <a:srgbClr val="202020"/>
                          </a:solidFill>
                          <a:latin typeface="Times New Roman"/>
                        </a:rPr>
                        <a:t>14–18</a:t>
                      </a:r>
                    </a:p>
                  </a:txBody>
                  <a:tcPr marL="36576" marR="36576" marT="9144" marB="9144">
                    <a:solidFill>
                      <a:srgbClr val="FFFFFF"/>
                    </a:solidFill>
                  </a:tcPr>
                </a:tc>
              </a:tr>
              <a:tr h="329184">
                <a:tc>
                  <a:txBody>
                    <a:bodyPr/>
                    <a:lstStyle/>
                    <a:p>
                      <a:pPr algn="ctr"/>
                      <a:r>
                        <a:rPr sz="1500" b="0">
                          <a:solidFill>
                            <a:srgbClr val="202020"/>
                          </a:solidFill>
                          <a:latin typeface="Times New Roman"/>
                        </a:rPr>
                        <a:t>Summary and exercises</a:t>
                      </a:r>
                    </a:p>
                  </a:txBody>
                  <a:tcPr marL="36576" marR="36576" marT="9144" marB="9144">
                    <a:solidFill>
                      <a:srgbClr val="FFFFFF"/>
                    </a:solidFill>
                  </a:tcPr>
                </a:tc>
                <a:tc>
                  <a:txBody>
                    <a:bodyPr/>
                    <a:lstStyle/>
                    <a:p>
                      <a:pPr algn="ctr"/>
                      <a:r>
                        <a:rPr sz="1500" b="0">
                          <a:solidFill>
                            <a:srgbClr val="202020"/>
                          </a:solidFill>
                          <a:latin typeface="Times New Roman"/>
                        </a:rPr>
                        <a:t>Three main points and three exercises</a:t>
                      </a:r>
                    </a:p>
                  </a:txBody>
                  <a:tcPr marL="36576" marR="36576" marT="9144" marB="9144">
                    <a:solidFill>
                      <a:srgbClr val="FFFFFF"/>
                    </a:solidFill>
                  </a:tcPr>
                </a:tc>
                <a:tc>
                  <a:txBody>
                    <a:bodyPr/>
                    <a:lstStyle/>
                    <a:p>
                      <a:pPr algn="ctr"/>
                      <a:r>
                        <a:rPr sz="1500" b="0">
                          <a:solidFill>
                            <a:srgbClr val="202020"/>
                          </a:solidFill>
                          <a:latin typeface="Times New Roman"/>
                        </a:rPr>
                        <a:t>19</a:t>
                      </a:r>
                    </a:p>
                  </a:txBody>
                  <a:tcPr marL="36576" marR="36576" marT="9144" marB="9144">
                    <a:solidFill>
                      <a:srgbClr val="FFFFFF"/>
                    </a:solidFill>
                  </a:tcPr>
                </a:tc>
              </a:tr>
            </a:tbl>
          </a:graphicData>
        </a:graphic>
      </p:graphicFrame>
      <p:sp>
        <p:nvSpPr>
          <p:cNvPr id="7" name="Rectangle 6"/>
          <p:cNvSpPr/>
          <p:nvPr/>
        </p:nvSpPr>
        <p:spPr>
          <a:xfrm>
            <a:off x="731520" y="3429000"/>
            <a:ext cx="10881360" cy="146304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E7A45"/>
                </a:solidFill>
                <a:latin typeface="Times New Roman"/>
              </a:rPr>
              <a:t>After working through this module, you should be able to:</a:t>
            </a:r>
          </a:p>
          <a:p>
            <a:pPr algn="l"/>
            <a:r>
              <a:rPr sz="1700" b="1">
                <a:solidFill>
                  <a:srgbClr val="1E7A45"/>
                </a:solidFill>
                <a:latin typeface="Times New Roman"/>
              </a:rPr>
              <a:t>1. compute a softmax with a temperature by hand and explain what soft targets convey that hard targets do not;</a:t>
            </a:r>
          </a:p>
          <a:p>
            <a:pPr algn="l"/>
            <a:r>
              <a:rPr sz="1700" b="1">
                <a:solidFill>
                  <a:srgbClr val="1E7A45"/>
                </a:solidFill>
                <a:latin typeface="Times New Roman"/>
              </a:rPr>
              <a:t>2. write down the distillation objective and compute its value and gradient step by step;</a:t>
            </a:r>
          </a:p>
          <a:p>
            <a:pPr algn="l"/>
            <a:r>
              <a:rPr sz="1700" b="1">
                <a:solidFill>
                  <a:srgbClr val="1E7A45"/>
                </a:solidFill>
                <a:latin typeface="Times New Roman"/>
              </a:rPr>
              <a:t>3. train a cumbersome model and a distilled model in Colab and interpret the effect of the temperature.</a:t>
            </a:r>
          </a:p>
        </p:txBody>
      </p:sp>
      <p:sp>
        <p:nvSpPr>
          <p:cNvPr id="8" name="TextBox 7"/>
          <p:cNvSpPr txBox="1"/>
          <p:nvPr/>
        </p:nvSpPr>
        <p:spPr>
          <a:xfrm>
            <a:off x="731520" y="5166360"/>
            <a:ext cx="10881360" cy="1097280"/>
          </a:xfrm>
          <a:prstGeom prst="rect">
            <a:avLst/>
          </a:prstGeom>
          <a:noFill/>
        </p:spPr>
        <p:txBody>
          <a:bodyPr wrap="square">
            <a:spAutoFit/>
          </a:bodyPr>
          <a:lstStyle/>
          <a:p>
            <a:r>
              <a:rPr sz="1600" b="0" i="0">
                <a:solidFill>
                  <a:srgbClr val="59636E"/>
                </a:solidFill>
                <a:latin typeface="Times New Roman"/>
              </a:rPr>
              <a:t>Accompanied by the Colab notebook knowledge_distillation_en.ipynb and the data file kd_mnist.npz.</a:t>
            </a:r>
          </a:p>
          <a:p>
            <a:r>
              <a:rPr sz="1600" b="0" i="0">
                <a:solidFill>
                  <a:srgbClr val="59636E"/>
                </a:solidFill>
                <a:latin typeface="Times New Roman"/>
              </a:rPr>
              <a:t>Every number in Part 3 can be recomputed in Sections 2 and 3 of the notebook; Part 4 is the output of the same notebook.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1. Introduction</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Training and deployment have very different requirements</a:t>
            </a:r>
          </a:p>
        </p:txBody>
      </p:sp>
      <p:graphicFrame>
        <p:nvGraphicFramePr>
          <p:cNvPr id="6" name="Table 5"/>
          <p:cNvGraphicFramePr>
            <a:graphicFrameLocks noGrp="1"/>
          </p:cNvGraphicFramePr>
          <p:nvPr/>
        </p:nvGraphicFramePr>
        <p:xfrm>
          <a:off x="731520" y="1188720"/>
          <a:ext cx="6583679" cy="1645920"/>
        </p:xfrm>
        <a:graphic>
          <a:graphicData uri="http://schemas.openxmlformats.org/drawingml/2006/table">
            <a:tbl>
              <a:tblPr bandRow="1">
                <a:tableStyleId>{5C22544A-7EE6-4342-B048-85BDC9FD1C3A}</a:tableStyleId>
              </a:tblPr>
              <a:tblGrid>
                <a:gridCol w="1711756"/>
                <a:gridCol w="2633472"/>
                <a:gridCol w="2238451"/>
              </a:tblGrid>
              <a:tr h="329184">
                <a:tc>
                  <a:txBody>
                    <a:bodyPr/>
                    <a:lstStyle/>
                    <a:p>
                      <a:pPr algn="ctr"/>
                      <a:r>
                        <a:rPr sz="1600" b="1">
                          <a:solidFill>
                            <a:srgbClr val="FFFFFF"/>
                          </a:solidFill>
                          <a:latin typeface="Times New Roman"/>
                        </a:rPr>
                        <a:t/>
                      </a:r>
                    </a:p>
                  </a:txBody>
                  <a:tcPr marL="36576" marR="36576" marT="9144" marB="9144">
                    <a:solidFill>
                      <a:srgbClr val="1F4E79"/>
                    </a:solidFill>
                  </a:tcPr>
                </a:tc>
                <a:tc>
                  <a:txBody>
                    <a:bodyPr/>
                    <a:lstStyle/>
                    <a:p>
                      <a:pPr algn="ctr"/>
                      <a:r>
                        <a:rPr sz="1600" b="1">
                          <a:solidFill>
                            <a:srgbClr val="FFFFFF"/>
                          </a:solidFill>
                          <a:latin typeface="Times New Roman"/>
                        </a:rPr>
                        <a:t>Training stage</a:t>
                      </a:r>
                    </a:p>
                  </a:txBody>
                  <a:tcPr marL="36576" marR="36576" marT="9144" marB="9144">
                    <a:solidFill>
                      <a:srgbClr val="1F4E79"/>
                    </a:solidFill>
                  </a:tcPr>
                </a:tc>
                <a:tc>
                  <a:txBody>
                    <a:bodyPr/>
                    <a:lstStyle/>
                    <a:p>
                      <a:pPr algn="ctr"/>
                      <a:r>
                        <a:rPr sz="1600" b="1">
                          <a:solidFill>
                            <a:srgbClr val="FFFFFF"/>
                          </a:solidFill>
                          <a:latin typeface="Times New Roman"/>
                        </a:rPr>
                        <a:t>Deployment stage</a:t>
                      </a:r>
                    </a:p>
                  </a:txBody>
                  <a:tcPr marL="36576" marR="36576" marT="9144" marB="9144">
                    <a:solidFill>
                      <a:srgbClr val="1F4E79"/>
                    </a:solidFill>
                  </a:tcPr>
                </a:tc>
              </a:tr>
              <a:tr h="329184">
                <a:tc>
                  <a:txBody>
                    <a:bodyPr/>
                    <a:lstStyle/>
                    <a:p>
                      <a:pPr algn="ctr"/>
                      <a:r>
                        <a:rPr sz="1600" b="0">
                          <a:solidFill>
                            <a:srgbClr val="202020"/>
                          </a:solidFill>
                          <a:latin typeface="Times New Roman"/>
                        </a:rPr>
                        <a:t>Data</a:t>
                      </a:r>
                    </a:p>
                  </a:txBody>
                  <a:tcPr marL="36576" marR="36576" marT="9144" marB="9144">
                    <a:solidFill>
                      <a:srgbClr val="FFFFFF"/>
                    </a:solidFill>
                  </a:tcPr>
                </a:tc>
                <a:tc>
                  <a:txBody>
                    <a:bodyPr/>
                    <a:lstStyle/>
                    <a:p>
                      <a:pPr algn="ctr"/>
                      <a:r>
                        <a:rPr sz="1600" b="0">
                          <a:solidFill>
                            <a:srgbClr val="202020"/>
                          </a:solidFill>
                          <a:latin typeface="Times New Roman"/>
                        </a:rPr>
                        <a:t>very large, highly redundant</a:t>
                      </a:r>
                    </a:p>
                  </a:txBody>
                  <a:tcPr marL="36576" marR="36576" marT="9144" marB="9144">
                    <a:solidFill>
                      <a:srgbClr val="FFFFFF"/>
                    </a:solidFill>
                  </a:tcPr>
                </a:tc>
                <a:tc>
                  <a:txBody>
                    <a:bodyPr/>
                    <a:lstStyle/>
                    <a:p>
                      <a:pPr algn="ctr"/>
                      <a:r>
                        <a:rPr sz="1600" b="0">
                          <a:solidFill>
                            <a:srgbClr val="202020"/>
                          </a:solidFill>
                          <a:latin typeface="Times New Roman"/>
                        </a:rPr>
                        <a:t>one case at a time</a:t>
                      </a:r>
                    </a:p>
                  </a:txBody>
                  <a:tcPr marL="36576" marR="36576" marT="9144" marB="9144">
                    <a:solidFill>
                      <a:srgbClr val="FFFFFF"/>
                    </a:solidFill>
                  </a:tcPr>
                </a:tc>
              </a:tr>
              <a:tr h="329184">
                <a:tc>
                  <a:txBody>
                    <a:bodyPr/>
                    <a:lstStyle/>
                    <a:p>
                      <a:pPr algn="ctr"/>
                      <a:r>
                        <a:rPr sz="1600" b="0">
                          <a:solidFill>
                            <a:srgbClr val="202020"/>
                          </a:solidFill>
                          <a:latin typeface="Times New Roman"/>
                        </a:rPr>
                        <a:t>Time</a:t>
                      </a:r>
                    </a:p>
                  </a:txBody>
                  <a:tcPr marL="36576" marR="36576" marT="9144" marB="9144">
                    <a:solidFill>
                      <a:srgbClr val="FFFFFF"/>
                    </a:solidFill>
                  </a:tcPr>
                </a:tc>
                <a:tc>
                  <a:txBody>
                    <a:bodyPr/>
                    <a:lstStyle/>
                    <a:p>
                      <a:pPr algn="ctr"/>
                      <a:r>
                        <a:rPr sz="1600" b="0">
                          <a:solidFill>
                            <a:srgbClr val="202020"/>
                          </a:solidFill>
                          <a:latin typeface="Times New Roman"/>
                        </a:rPr>
                        <a:t>need not run in real time</a:t>
                      </a:r>
                    </a:p>
                  </a:txBody>
                  <a:tcPr marL="36576" marR="36576" marT="9144" marB="9144">
                    <a:solidFill>
                      <a:srgbClr val="FFFFFF"/>
                    </a:solidFill>
                  </a:tcPr>
                </a:tc>
                <a:tc>
                  <a:txBody>
                    <a:bodyPr/>
                    <a:lstStyle/>
                    <a:p>
                      <a:pPr algn="ctr"/>
                      <a:r>
                        <a:rPr sz="1600" b="0">
                          <a:solidFill>
                            <a:srgbClr val="202020"/>
                          </a:solidFill>
                          <a:latin typeface="Times New Roman"/>
                        </a:rPr>
                        <a:t>stringent latency</a:t>
                      </a:r>
                    </a:p>
                  </a:txBody>
                  <a:tcPr marL="36576" marR="36576" marT="9144" marB="9144">
                    <a:solidFill>
                      <a:srgbClr val="FFFFFF"/>
                    </a:solidFill>
                  </a:tcPr>
                </a:tc>
              </a:tr>
              <a:tr h="329184">
                <a:tc>
                  <a:txBody>
                    <a:bodyPr/>
                    <a:lstStyle/>
                    <a:p>
                      <a:pPr algn="ctr"/>
                      <a:r>
                        <a:rPr sz="1600" b="0">
                          <a:solidFill>
                            <a:srgbClr val="202020"/>
                          </a:solidFill>
                          <a:latin typeface="Times New Roman"/>
                        </a:rPr>
                        <a:t>Computation</a:t>
                      </a:r>
                    </a:p>
                  </a:txBody>
                  <a:tcPr marL="36576" marR="36576" marT="9144" marB="9144">
                    <a:solidFill>
                      <a:srgbClr val="FFFFFF"/>
                    </a:solidFill>
                  </a:tcPr>
                </a:tc>
                <a:tc>
                  <a:txBody>
                    <a:bodyPr/>
                    <a:lstStyle/>
                    <a:p>
                      <a:pPr algn="ctr"/>
                      <a:r>
                        <a:rPr sz="1600" b="0">
                          <a:solidFill>
                            <a:srgbClr val="202020"/>
                          </a:solidFill>
                          <a:latin typeface="Times New Roman"/>
                        </a:rPr>
                        <a:t>a huge amount</a:t>
                      </a:r>
                    </a:p>
                  </a:txBody>
                  <a:tcPr marL="36576" marR="36576" marT="9144" marB="9144">
                    <a:solidFill>
                      <a:srgbClr val="FFFFFF"/>
                    </a:solidFill>
                  </a:tcPr>
                </a:tc>
                <a:tc>
                  <a:txBody>
                    <a:bodyPr/>
                    <a:lstStyle/>
                    <a:p>
                      <a:pPr algn="ctr"/>
                      <a:r>
                        <a:rPr sz="1600" b="0">
                          <a:solidFill>
                            <a:srgbClr val="202020"/>
                          </a:solidFill>
                          <a:latin typeface="Times New Roman"/>
                        </a:rPr>
                        <a:t>limited resources</a:t>
                      </a:r>
                    </a:p>
                  </a:txBody>
                  <a:tcPr marL="36576" marR="36576" marT="9144" marB="9144">
                    <a:solidFill>
                      <a:srgbClr val="FFFFFF"/>
                    </a:solidFill>
                  </a:tcPr>
                </a:tc>
              </a:tr>
              <a:tr h="329184">
                <a:tc>
                  <a:txBody>
                    <a:bodyPr/>
                    <a:lstStyle/>
                    <a:p>
                      <a:pPr algn="ctr"/>
                      <a:r>
                        <a:rPr sz="1600" b="0">
                          <a:solidFill>
                            <a:srgbClr val="202020"/>
                          </a:solidFill>
                          <a:latin typeface="Times New Roman"/>
                        </a:rPr>
                        <a:t>Model</a:t>
                      </a:r>
                    </a:p>
                  </a:txBody>
                  <a:tcPr marL="36576" marR="36576" marT="9144" marB="9144">
                    <a:solidFill>
                      <a:srgbClr val="FFFFFF"/>
                    </a:solidFill>
                  </a:tcPr>
                </a:tc>
                <a:tc>
                  <a:txBody>
                    <a:bodyPr/>
                    <a:lstStyle/>
                    <a:p>
                      <a:pPr algn="ctr"/>
                      <a:r>
                        <a:rPr sz="1600" b="0">
                          <a:solidFill>
                            <a:srgbClr val="202020"/>
                          </a:solidFill>
                          <a:latin typeface="Times New Roman"/>
                        </a:rPr>
                        <a:t>cumbersome model</a:t>
                      </a:r>
                    </a:p>
                  </a:txBody>
                  <a:tcPr marL="36576" marR="36576" marT="9144" marB="9144">
                    <a:solidFill>
                      <a:srgbClr val="FFF3CD"/>
                    </a:solidFill>
                  </a:tcPr>
                </a:tc>
                <a:tc>
                  <a:txBody>
                    <a:bodyPr/>
                    <a:lstStyle/>
                    <a:p>
                      <a:pPr algn="ctr"/>
                      <a:r>
                        <a:rPr sz="1600" b="0">
                          <a:solidFill>
                            <a:srgbClr val="202020"/>
                          </a:solidFill>
                          <a:latin typeface="Times New Roman"/>
                        </a:rPr>
                        <a:t>small model</a:t>
                      </a:r>
                    </a:p>
                  </a:txBody>
                  <a:tcPr marL="36576" marR="36576" marT="9144" marB="9144">
                    <a:solidFill>
                      <a:srgbClr val="FFF3CD"/>
                    </a:solidFill>
                  </a:tcPr>
                </a:tc>
              </a:tr>
            </a:tbl>
          </a:graphicData>
        </a:graphic>
      </p:graphicFrame>
      <p:sp>
        <p:nvSpPr>
          <p:cNvPr id="7" name="Rounded Rectangle 6"/>
          <p:cNvSpPr/>
          <p:nvPr/>
        </p:nvSpPr>
        <p:spPr>
          <a:xfrm>
            <a:off x="7863840" y="1188720"/>
            <a:ext cx="3566160" cy="1051560"/>
          </a:xfrm>
          <a:prstGeom prst="roundRect">
            <a:avLst/>
          </a:prstGeom>
          <a:solidFill>
            <a:srgbClr val="DAE6F2"/>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1F4E79"/>
                </a:solidFill>
                <a:latin typeface="Times New Roman"/>
              </a:rPr>
              <a:t>Cumbersome model</a:t>
            </a:r>
          </a:p>
          <a:p>
            <a:pPr algn="ctr"/>
            <a:r>
              <a:rPr sz="1700" b="0">
                <a:solidFill>
                  <a:srgbClr val="1F4E79"/>
                </a:solidFill>
                <a:latin typeface="Times New Roman"/>
              </a:rPr>
              <a:t>ensemble or large regularized net</a:t>
            </a:r>
          </a:p>
        </p:txBody>
      </p:sp>
      <p:cxnSp>
        <p:nvCxnSpPr>
          <p:cNvPr id="8" name="Connector 7"/>
          <p:cNvCxnSpPr/>
          <p:nvPr/>
        </p:nvCxnSpPr>
        <p:spPr>
          <a:xfrm>
            <a:off x="9646920" y="2286000"/>
            <a:ext cx="0" cy="777240"/>
          </a:xfrm>
          <a:prstGeom prst="line">
            <a:avLst/>
          </a:prstGeom>
          <a:ln w="38100">
            <a:solidFill>
              <a:srgbClr val="1E7A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829800" y="2423160"/>
            <a:ext cx="2011680" cy="457200"/>
          </a:xfrm>
          <a:prstGeom prst="rect">
            <a:avLst/>
          </a:prstGeom>
          <a:noFill/>
        </p:spPr>
        <p:txBody>
          <a:bodyPr wrap="square">
            <a:spAutoFit/>
          </a:bodyPr>
          <a:lstStyle/>
          <a:p>
            <a:r>
              <a:rPr sz="1900" b="1" i="0">
                <a:solidFill>
                  <a:srgbClr val="1E7A45"/>
                </a:solidFill>
                <a:latin typeface="Times New Roman"/>
              </a:rPr>
              <a:t>soft targets</a:t>
            </a:r>
          </a:p>
        </p:txBody>
      </p:sp>
      <p:sp>
        <p:nvSpPr>
          <p:cNvPr id="10" name="Rounded Rectangle 9"/>
          <p:cNvSpPr/>
          <p:nvPr/>
        </p:nvSpPr>
        <p:spPr>
          <a:xfrm>
            <a:off x="7863840" y="3108960"/>
            <a:ext cx="3566160" cy="1051560"/>
          </a:xfrm>
          <a:prstGeom prst="roundRect">
            <a:avLst/>
          </a:prstGeom>
          <a:solidFill>
            <a:srgbClr val="DCF0E4"/>
          </a:solidFill>
          <a:ln w="25400">
            <a:solidFill>
              <a:srgbClr val="1E7A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100" b="1">
                <a:solidFill>
                  <a:srgbClr val="1E7A45"/>
                </a:solidFill>
                <a:latin typeface="Times New Roman"/>
              </a:rPr>
              <a:t>Distilled model</a:t>
            </a:r>
          </a:p>
          <a:p>
            <a:pPr algn="ctr"/>
            <a:r>
              <a:rPr sz="1700" b="0">
                <a:solidFill>
                  <a:srgbClr val="1E7A45"/>
                </a:solidFill>
                <a:latin typeface="Times New Roman"/>
              </a:rPr>
              <a:t>small, suitable for deployment</a:t>
            </a:r>
          </a:p>
        </p:txBody>
      </p:sp>
      <p:sp>
        <p:nvSpPr>
          <p:cNvPr id="11" name="Rectangle 10"/>
          <p:cNvSpPr/>
          <p:nvPr/>
        </p:nvSpPr>
        <p:spPr>
          <a:xfrm>
            <a:off x="731520" y="3154680"/>
            <a:ext cx="6583680" cy="100584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1E7A45"/>
                </a:solidFill>
                <a:latin typeface="Times New Roman"/>
              </a:rPr>
              <a:t>Distillation: a different kind of training that transfers</a:t>
            </a:r>
          </a:p>
          <a:p>
            <a:pPr algn="l"/>
            <a:r>
              <a:rPr sz="1800" b="1">
                <a:solidFill>
                  <a:srgbClr val="1E7A45"/>
                </a:solidFill>
                <a:latin typeface="Times New Roman"/>
              </a:rPr>
              <a:t>the knowledge from the cumbersome model to a small model</a:t>
            </a:r>
          </a:p>
        </p:txBody>
      </p:sp>
      <p:sp>
        <p:nvSpPr>
          <p:cNvPr id="12" name="TextBox 11"/>
          <p:cNvSpPr txBox="1"/>
          <p:nvPr/>
        </p:nvSpPr>
        <p:spPr>
          <a:xfrm>
            <a:off x="731520" y="4434840"/>
            <a:ext cx="10881360" cy="2011680"/>
          </a:xfrm>
          <a:prstGeom prst="rect">
            <a:avLst/>
          </a:prstGeom>
          <a:noFill/>
        </p:spPr>
        <p:txBody>
          <a:bodyPr wrap="square">
            <a:spAutoFit/>
          </a:bodyPr>
          <a:lstStyle/>
          <a:p>
            <a:r>
              <a:rPr sz="1800" b="0" i="0">
                <a:solidFill>
                  <a:srgbClr val="202020"/>
                </a:solidFill>
                <a:latin typeface="Times New Roman"/>
              </a:rPr>
              <a:t>We tend to identify the knowledge in a trained model with the learned parameter values, which makes it hard to see how we can change the form of the model but keep the same knowledge.</a:t>
            </a:r>
          </a:p>
          <a:p>
            <a:r>
              <a:rPr sz="1800" b="0" i="0">
                <a:solidFill>
                  <a:srgbClr val="202020"/>
                </a:solidFill>
                <a:latin typeface="Times New Roman"/>
              </a:rPr>
              <a:t>A more abstract view of the knowledge, which frees it from any particular instantiation, is that it is a learned mapping from input vectors to output vectors.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0" grpId="0" animBg="1"/>
      <p:bldP spid="11" grpId="0" animBg="1"/>
      <p:bldP spid="1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1. The relative probabilities of incorrect answers</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Examples from Section 1 of the paper</a:t>
            </a:r>
          </a:p>
        </p:txBody>
      </p:sp>
      <p:sp>
        <p:nvSpPr>
          <p:cNvPr id="6" name="TextBox 5"/>
          <p:cNvSpPr txBox="1"/>
          <p:nvPr/>
        </p:nvSpPr>
        <p:spPr>
          <a:xfrm>
            <a:off x="731520" y="1051560"/>
            <a:ext cx="10881360" cy="822960"/>
          </a:xfrm>
          <a:prstGeom prst="rect">
            <a:avLst/>
          </a:prstGeom>
          <a:noFill/>
        </p:spPr>
        <p:txBody>
          <a:bodyPr wrap="square">
            <a:spAutoFit/>
          </a:bodyPr>
          <a:lstStyle/>
          <a:p>
            <a:r>
              <a:rPr sz="1700" b="0" i="0">
                <a:solidFill>
                  <a:srgbClr val="202020"/>
                </a:solidFill>
                <a:latin typeface="Times New Roman"/>
              </a:rPr>
              <a:t>A side-effect of learning is that the trained model assigns probabilities to all of the incorrect answers. Even when these are very small, some of them are much larger than others, and they tell us a lot about how the model tends to generalize.</a:t>
            </a:r>
          </a:p>
        </p:txBody>
      </p:sp>
      <p:graphicFrame>
        <p:nvGraphicFramePr>
          <p:cNvPr id="7" name="Table 6"/>
          <p:cNvGraphicFramePr>
            <a:graphicFrameLocks noGrp="1"/>
          </p:cNvGraphicFramePr>
          <p:nvPr/>
        </p:nvGraphicFramePr>
        <p:xfrm>
          <a:off x="731520" y="2011680"/>
          <a:ext cx="6400799" cy="987552"/>
        </p:xfrm>
        <a:graphic>
          <a:graphicData uri="http://schemas.openxmlformats.org/drawingml/2006/table">
            <a:tbl>
              <a:tblPr bandRow="1">
                <a:tableStyleId>{5C22544A-7EE6-4342-B048-85BDC9FD1C3A}</a:tableStyleId>
              </a:tblPr>
              <a:tblGrid>
                <a:gridCol w="2275840"/>
                <a:gridCol w="1991359"/>
                <a:gridCol w="2133600"/>
              </a:tblGrid>
              <a:tr h="329184">
                <a:tc>
                  <a:txBody>
                    <a:bodyPr/>
                    <a:lstStyle/>
                    <a:p>
                      <a:pPr algn="ctr"/>
                      <a:r>
                        <a:rPr sz="1600" b="1">
                          <a:solidFill>
                            <a:srgbClr val="FFFFFF"/>
                          </a:solidFill>
                          <a:latin typeface="Times New Roman"/>
                        </a:rPr>
                        <a:t>An image of a BMW</a:t>
                      </a:r>
                    </a:p>
                  </a:txBody>
                  <a:tcPr marL="36576" marR="36576" marT="9144" marB="9144">
                    <a:solidFill>
                      <a:srgbClr val="1F4E79"/>
                    </a:solidFill>
                  </a:tcPr>
                </a:tc>
                <a:tc>
                  <a:txBody>
                    <a:bodyPr/>
                    <a:lstStyle/>
                    <a:p>
                      <a:pPr algn="ctr"/>
                      <a:r>
                        <a:rPr sz="1600" b="1">
                          <a:solidFill>
                            <a:srgbClr val="FFFFFF"/>
                          </a:solidFill>
                          <a:latin typeface="Times New Roman"/>
                        </a:rPr>
                        <a:t>mistaken for</a:t>
                      </a:r>
                    </a:p>
                  </a:txBody>
                  <a:tcPr marL="36576" marR="36576" marT="9144" marB="9144">
                    <a:solidFill>
                      <a:srgbClr val="1F4E79"/>
                    </a:solidFill>
                  </a:tcPr>
                </a:tc>
                <a:tc>
                  <a:txBody>
                    <a:bodyPr/>
                    <a:lstStyle/>
                    <a:p>
                      <a:pPr algn="ctr"/>
                      <a:r>
                        <a:rPr sz="1600" b="1">
                          <a:solidFill>
                            <a:srgbClr val="FFFFFF"/>
                          </a:solidFill>
                          <a:latin typeface="Times New Roman"/>
                        </a:rPr>
                        <a:t>chance</a:t>
                      </a:r>
                    </a:p>
                  </a:txBody>
                  <a:tcPr marL="36576" marR="36576" marT="9144" marB="9144">
                    <a:solidFill>
                      <a:srgbClr val="1F4E79"/>
                    </a:solidFill>
                  </a:tcPr>
                </a:tc>
              </a:tr>
              <a:tr h="329184">
                <a:tc>
                  <a:txBody>
                    <a:bodyPr/>
                    <a:lstStyle/>
                    <a:p>
                      <a:pPr algn="ctr"/>
                      <a:r>
                        <a:rPr sz="1600" b="0">
                          <a:solidFill>
                            <a:srgbClr val="202020"/>
                          </a:solidFill>
                          <a:latin typeface="Times New Roman"/>
                        </a:rPr>
                        <a:t/>
                      </a:r>
                    </a:p>
                  </a:txBody>
                  <a:tcPr marL="36576" marR="36576" marT="9144" marB="9144">
                    <a:solidFill>
                      <a:srgbClr val="FFFFFF"/>
                    </a:solidFill>
                  </a:tcPr>
                </a:tc>
                <a:tc>
                  <a:txBody>
                    <a:bodyPr/>
                    <a:lstStyle/>
                    <a:p>
                      <a:pPr algn="ctr"/>
                      <a:r>
                        <a:rPr sz="1600" b="0">
                          <a:solidFill>
                            <a:srgbClr val="202020"/>
                          </a:solidFill>
                          <a:latin typeface="Times New Roman"/>
                        </a:rPr>
                        <a:t>a garbage truck</a:t>
                      </a:r>
                    </a:p>
                  </a:txBody>
                  <a:tcPr marL="36576" marR="36576" marT="9144" marB="9144">
                    <a:solidFill>
                      <a:srgbClr val="FFFFFF"/>
                    </a:solidFill>
                  </a:tcPr>
                </a:tc>
                <a:tc>
                  <a:txBody>
                    <a:bodyPr/>
                    <a:lstStyle/>
                    <a:p>
                      <a:pPr algn="ctr"/>
                      <a:r>
                        <a:rPr sz="1600" b="0">
                          <a:solidFill>
                            <a:srgbClr val="202020"/>
                          </a:solidFill>
                          <a:latin typeface="Times New Roman"/>
                        </a:rPr>
                        <a:t>very small</a:t>
                      </a:r>
                    </a:p>
                  </a:txBody>
                  <a:tcPr marL="36576" marR="36576" marT="9144" marB="9144">
                    <a:solidFill>
                      <a:srgbClr val="FFFFFF"/>
                    </a:solidFill>
                  </a:tcPr>
                </a:tc>
              </a:tr>
              <a:tr h="329184">
                <a:tc>
                  <a:txBody>
                    <a:bodyPr/>
                    <a:lstStyle/>
                    <a:p>
                      <a:pPr algn="ctr"/>
                      <a:r>
                        <a:rPr sz="1600" b="0">
                          <a:solidFill>
                            <a:srgbClr val="202020"/>
                          </a:solidFill>
                          <a:latin typeface="Times New Roman"/>
                        </a:rPr>
                        <a:t/>
                      </a:r>
                    </a:p>
                  </a:txBody>
                  <a:tcPr marL="36576" marR="36576" marT="9144" marB="9144">
                    <a:solidFill>
                      <a:srgbClr val="FFFFFF"/>
                    </a:solidFill>
                  </a:tcPr>
                </a:tc>
                <a:tc>
                  <a:txBody>
                    <a:bodyPr/>
                    <a:lstStyle/>
                    <a:p>
                      <a:pPr algn="ctr"/>
                      <a:r>
                        <a:rPr sz="1600" b="0">
                          <a:solidFill>
                            <a:srgbClr val="202020"/>
                          </a:solidFill>
                          <a:latin typeface="Times New Roman"/>
                        </a:rPr>
                        <a:t>a carrot</a:t>
                      </a:r>
                    </a:p>
                  </a:txBody>
                  <a:tcPr marL="36576" marR="36576" marT="9144" marB="9144">
                    <a:solidFill>
                      <a:srgbClr val="FFFFFF"/>
                    </a:solidFill>
                  </a:tcPr>
                </a:tc>
                <a:tc>
                  <a:txBody>
                    <a:bodyPr/>
                    <a:lstStyle/>
                    <a:p>
                      <a:pPr algn="ctr"/>
                      <a:r>
                        <a:rPr sz="1600" b="0">
                          <a:solidFill>
                            <a:srgbClr val="202020"/>
                          </a:solidFill>
                          <a:latin typeface="Times New Roman"/>
                        </a:rPr>
                        <a:t>many times smaller</a:t>
                      </a:r>
                    </a:p>
                  </a:txBody>
                  <a:tcPr marL="36576" marR="36576" marT="9144" marB="9144">
                    <a:solidFill>
                      <a:srgbClr val="FFF3CD"/>
                    </a:solidFill>
                  </a:tcPr>
                </a:tc>
              </a:tr>
            </a:tbl>
          </a:graphicData>
        </a:graphic>
      </p:graphicFrame>
      <p:graphicFrame>
        <p:nvGraphicFramePr>
          <p:cNvPr id="8" name="Table 7"/>
          <p:cNvGraphicFramePr>
            <a:graphicFrameLocks noGrp="1"/>
          </p:cNvGraphicFramePr>
          <p:nvPr/>
        </p:nvGraphicFramePr>
        <p:xfrm>
          <a:off x="731520" y="3246120"/>
          <a:ext cx="6400799" cy="987552"/>
        </p:xfrm>
        <a:graphic>
          <a:graphicData uri="http://schemas.openxmlformats.org/drawingml/2006/table">
            <a:tbl>
              <a:tblPr bandRow="1">
                <a:tableStyleId>{5C22544A-7EE6-4342-B048-85BDC9FD1C3A}</a:tableStyleId>
              </a:tblPr>
              <a:tblGrid>
                <a:gridCol w="2275840"/>
                <a:gridCol w="1991359"/>
                <a:gridCol w="2133600"/>
              </a:tblGrid>
              <a:tr h="329184">
                <a:tc>
                  <a:txBody>
                    <a:bodyPr/>
                    <a:lstStyle/>
                    <a:p>
                      <a:pPr algn="ctr"/>
                      <a:r>
                        <a:rPr sz="1600" b="1">
                          <a:solidFill>
                            <a:srgbClr val="FFFFFF"/>
                          </a:solidFill>
                          <a:latin typeface="Times New Roman"/>
                        </a:rPr>
                        <a:t>A version of a 2</a:t>
                      </a:r>
                    </a:p>
                  </a:txBody>
                  <a:tcPr marL="36576" marR="36576" marT="9144" marB="9144">
                    <a:solidFill>
                      <a:srgbClr val="1F4E79"/>
                    </a:solidFill>
                  </a:tcPr>
                </a:tc>
                <a:tc>
                  <a:txBody>
                    <a:bodyPr/>
                    <a:lstStyle/>
                    <a:p>
                      <a:pPr algn="ctr"/>
                      <a:r>
                        <a:rPr sz="1600" b="1">
                          <a:solidFill>
                            <a:srgbClr val="FFFFFF"/>
                          </a:solidFill>
                          <a:latin typeface="Times New Roman"/>
                        </a:rPr>
                        <a:t>probability of a 3</a:t>
                      </a:r>
                    </a:p>
                  </a:txBody>
                  <a:tcPr marL="36576" marR="36576" marT="9144" marB="9144">
                    <a:solidFill>
                      <a:srgbClr val="1F4E79"/>
                    </a:solidFill>
                  </a:tcPr>
                </a:tc>
                <a:tc>
                  <a:txBody>
                    <a:bodyPr/>
                    <a:lstStyle/>
                    <a:p>
                      <a:pPr algn="ctr"/>
                      <a:r>
                        <a:rPr sz="1600" b="1">
                          <a:solidFill>
                            <a:srgbClr val="FFFFFF"/>
                          </a:solidFill>
                          <a:latin typeface="Times New Roman"/>
                        </a:rPr>
                        <a:t>probability of a 7</a:t>
                      </a:r>
                    </a:p>
                  </a:txBody>
                  <a:tcPr marL="36576" marR="36576" marT="9144" marB="9144">
                    <a:solidFill>
                      <a:srgbClr val="1F4E79"/>
                    </a:solidFill>
                  </a:tcPr>
                </a:tc>
              </a:tr>
              <a:tr h="329184">
                <a:tc>
                  <a:txBody>
                    <a:bodyPr/>
                    <a:lstStyle/>
                    <a:p>
                      <a:pPr algn="ctr"/>
                      <a:r>
                        <a:rPr sz="1600" b="0">
                          <a:solidFill>
                            <a:srgbClr val="202020"/>
                          </a:solidFill>
                          <a:latin typeface="Times New Roman"/>
                        </a:rPr>
                        <a:t>one version</a:t>
                      </a:r>
                    </a:p>
                  </a:txBody>
                  <a:tcPr marL="36576" marR="36576" marT="9144" marB="9144">
                    <a:solidFill>
                      <a:srgbClr val="FFFFFF"/>
                    </a:solidFill>
                  </a:tcPr>
                </a:tc>
                <a:tc>
                  <a:txBody>
                    <a:bodyPr/>
                    <a:lstStyle/>
                    <a:p>
                      <a:pPr algn="ctr"/>
                      <a:r>
                        <a:rPr sz="1600" b="0">
                          <a:solidFill>
                            <a:srgbClr val="202020"/>
                          </a:solidFill>
                          <a:latin typeface="Times New Roman"/>
                        </a:rPr>
                        <a:t>10⁻⁶</a:t>
                      </a:r>
                    </a:p>
                  </a:txBody>
                  <a:tcPr marL="36576" marR="36576" marT="9144" marB="9144">
                    <a:solidFill>
                      <a:srgbClr val="FFF3CD"/>
                    </a:solidFill>
                  </a:tcPr>
                </a:tc>
                <a:tc>
                  <a:txBody>
                    <a:bodyPr/>
                    <a:lstStyle/>
                    <a:p>
                      <a:pPr algn="ctr"/>
                      <a:r>
                        <a:rPr sz="1600" b="0">
                          <a:solidFill>
                            <a:srgbClr val="202020"/>
                          </a:solidFill>
                          <a:latin typeface="Times New Roman"/>
                        </a:rPr>
                        <a:t>10⁻⁹</a:t>
                      </a:r>
                    </a:p>
                  </a:txBody>
                  <a:tcPr marL="36576" marR="36576" marT="9144" marB="9144">
                    <a:solidFill>
                      <a:srgbClr val="FFFFFF"/>
                    </a:solidFill>
                  </a:tcPr>
                </a:tc>
              </a:tr>
              <a:tr h="329184">
                <a:tc>
                  <a:txBody>
                    <a:bodyPr/>
                    <a:lstStyle/>
                    <a:p>
                      <a:pPr algn="ctr"/>
                      <a:r>
                        <a:rPr sz="1600" b="0">
                          <a:solidFill>
                            <a:srgbClr val="202020"/>
                          </a:solidFill>
                          <a:latin typeface="Times New Roman"/>
                        </a:rPr>
                        <a:t>another version</a:t>
                      </a:r>
                    </a:p>
                  </a:txBody>
                  <a:tcPr marL="36576" marR="36576" marT="9144" marB="9144">
                    <a:solidFill>
                      <a:srgbClr val="FFFFFF"/>
                    </a:solidFill>
                  </a:tcPr>
                </a:tc>
                <a:tc>
                  <a:txBody>
                    <a:bodyPr/>
                    <a:lstStyle/>
                    <a:p>
                      <a:pPr algn="ctr"/>
                      <a:r>
                        <a:rPr sz="1600" b="0">
                          <a:solidFill>
                            <a:srgbClr val="202020"/>
                          </a:solidFill>
                          <a:latin typeface="Times New Roman"/>
                        </a:rPr>
                        <a:t>10⁻⁹</a:t>
                      </a:r>
                    </a:p>
                  </a:txBody>
                  <a:tcPr marL="36576" marR="36576" marT="9144" marB="9144">
                    <a:solidFill>
                      <a:srgbClr val="FFFFFF"/>
                    </a:solidFill>
                  </a:tcPr>
                </a:tc>
                <a:tc>
                  <a:txBody>
                    <a:bodyPr/>
                    <a:lstStyle/>
                    <a:p>
                      <a:pPr algn="ctr"/>
                      <a:r>
                        <a:rPr sz="1600" b="0">
                          <a:solidFill>
                            <a:srgbClr val="202020"/>
                          </a:solidFill>
                          <a:latin typeface="Times New Roman"/>
                        </a:rPr>
                        <a:t>10⁻⁶</a:t>
                      </a:r>
                    </a:p>
                  </a:txBody>
                  <a:tcPr marL="36576" marR="36576" marT="9144" marB="9144">
                    <a:solidFill>
                      <a:srgbClr val="FFF3CD"/>
                    </a:solidFill>
                  </a:tcPr>
                </a:tc>
              </a:tr>
            </a:tbl>
          </a:graphicData>
        </a:graphic>
      </p:graphicFrame>
      <p:sp>
        <p:nvSpPr>
          <p:cNvPr id="9" name="Rectangle 8"/>
          <p:cNvSpPr/>
          <p:nvPr/>
        </p:nvSpPr>
        <p:spPr>
          <a:xfrm>
            <a:off x="7498079" y="2011680"/>
            <a:ext cx="4114800" cy="224028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1E7A45"/>
                </a:solidFill>
                <a:latin typeface="Times New Roman"/>
              </a:rPr>
              <a:t>This defines a rich similarity</a:t>
            </a:r>
          </a:p>
          <a:p>
            <a:pPr algn="l"/>
            <a:r>
              <a:rPr sz="1800" b="1">
                <a:solidFill>
                  <a:srgbClr val="1E7A45"/>
                </a:solidFill>
                <a:latin typeface="Times New Roman"/>
              </a:rPr>
              <a:t>structure over the data: it says</a:t>
            </a:r>
          </a:p>
          <a:p>
            <a:pPr algn="l"/>
            <a:r>
              <a:rPr sz="1800" b="1">
                <a:solidFill>
                  <a:srgbClr val="1E7A45"/>
                </a:solidFill>
                <a:latin typeface="Times New Roman"/>
              </a:rPr>
              <a:t>which 2's look like 3's and</a:t>
            </a:r>
          </a:p>
          <a:p>
            <a:pPr algn="l"/>
            <a:r>
              <a:rPr sz="1800" b="1">
                <a:solidFill>
                  <a:srgbClr val="1E7A45"/>
                </a:solidFill>
                <a:latin typeface="Times New Roman"/>
              </a:rPr>
              <a:t>which look like 7's.</a:t>
            </a:r>
          </a:p>
        </p:txBody>
      </p:sp>
      <p:sp>
        <p:nvSpPr>
          <p:cNvPr id="10" name="Rectangle 9"/>
          <p:cNvSpPr/>
          <p:nvPr/>
        </p:nvSpPr>
        <p:spPr>
          <a:xfrm>
            <a:off x="731520" y="4572000"/>
            <a:ext cx="10881360" cy="118872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C03030"/>
                </a:solidFill>
                <a:latin typeface="Times New Roman"/>
              </a:rPr>
              <a:t>Problem: such probabilities have very little influence on the cross-entropy cost function during the transfer stage, because they are so close to zero.</a:t>
            </a:r>
          </a:p>
          <a:p>
            <a:pPr algn="l"/>
            <a:r>
              <a:rPr sz="1700" b="1">
                <a:solidFill>
                  <a:srgbClr val="C03030"/>
                </a:solidFill>
                <a:latin typeface="Times New Roman"/>
              </a:rPr>
              <a:t>Our solution: raise the temperature of the final softmax until the cumbersome model produces a suitably soft set of targets (Part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Graphic spid="8" grpId="0">
        <p:bldAsOne/>
      </p:bldGraphic>
      <p:bldP spid="9" grpId="0" animBg="1"/>
      <p:bldP spid="1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A worked example: a handwritten 2</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Used from this slide to slide 13</a:t>
            </a:r>
          </a:p>
        </p:txBody>
      </p:sp>
      <p:sp>
        <p:nvSpPr>
          <p:cNvPr id="6" name="TextBox 5"/>
          <p:cNvSpPr txBox="1"/>
          <p:nvPr/>
        </p:nvSpPr>
        <p:spPr>
          <a:xfrm>
            <a:off x="731520" y="1051560"/>
            <a:ext cx="10881360" cy="822960"/>
          </a:xfrm>
          <a:prstGeom prst="rect">
            <a:avLst/>
          </a:prstGeom>
          <a:noFill/>
        </p:spPr>
        <p:txBody>
          <a:bodyPr wrap="square">
            <a:spAutoFit/>
          </a:bodyPr>
          <a:lstStyle/>
          <a:p>
            <a:r>
              <a:rPr sz="1800" b="0" i="0">
                <a:solidFill>
                  <a:srgbClr val="202020"/>
                </a:solidFill>
                <a:latin typeface="Times New Roman"/>
              </a:rPr>
              <a:t>The logits are the inputs to the final softmax. To allow calculation by hand, we consider only the three classes 2, 3, and 7.</a:t>
            </a:r>
          </a:p>
        </p:txBody>
      </p:sp>
      <p:graphicFrame>
        <p:nvGraphicFramePr>
          <p:cNvPr id="7" name="Table 6"/>
          <p:cNvGraphicFramePr>
            <a:graphicFrameLocks noGrp="1"/>
          </p:cNvGraphicFramePr>
          <p:nvPr/>
        </p:nvGraphicFramePr>
        <p:xfrm>
          <a:off x="731520" y="1965960"/>
          <a:ext cx="5852157" cy="1316736"/>
        </p:xfrm>
        <a:graphic>
          <a:graphicData uri="http://schemas.openxmlformats.org/drawingml/2006/table">
            <a:tbl>
              <a:tblPr bandRow="1">
                <a:tableStyleId>{5C22544A-7EE6-4342-B048-85BDC9FD1C3A}</a:tableStyleId>
              </a:tblPr>
              <a:tblGrid>
                <a:gridCol w="836022"/>
                <a:gridCol w="1776548"/>
                <a:gridCol w="1672045"/>
                <a:gridCol w="1567542"/>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c>
                  <a:txBody>
                    <a:bodyPr/>
                    <a:lstStyle/>
                    <a:p>
                      <a:pPr algn="ctr"/>
                      <a:r>
                        <a:rPr sz="1600" b="1">
                          <a:solidFill>
                            <a:srgbClr val="FFFFFF"/>
                          </a:solidFill>
                          <a:latin typeface="Times New Roman"/>
                        </a:rPr>
                        <a:t>Cumbersome v</a:t>
                      </a:r>
                    </a:p>
                  </a:txBody>
                  <a:tcPr marL="36576" marR="36576" marT="9144" marB="9144">
                    <a:solidFill>
                      <a:srgbClr val="1F4E79"/>
                    </a:solidFill>
                  </a:tcPr>
                </a:tc>
                <a:tc>
                  <a:txBody>
                    <a:bodyPr/>
                    <a:lstStyle/>
                    <a:p>
                      <a:pPr algn="ctr"/>
                      <a:r>
                        <a:rPr sz="1600" b="1">
                          <a:solidFill>
                            <a:srgbClr val="FFFFFF"/>
                          </a:solidFill>
                          <a:latin typeface="Times New Roman"/>
                        </a:rPr>
                        <a:t>Distilled z</a:t>
                      </a:r>
                    </a:p>
                  </a:txBody>
                  <a:tcPr marL="36576" marR="36576" marT="9144" marB="9144">
                    <a:solidFill>
                      <a:srgbClr val="1F4E79"/>
                    </a:solidFill>
                  </a:tcPr>
                </a:tc>
                <a:tc>
                  <a:txBody>
                    <a:bodyPr/>
                    <a:lstStyle/>
                    <a:p>
                      <a:pPr algn="ctr"/>
                      <a:r>
                        <a:rPr sz="1600" b="1">
                          <a:solidFill>
                            <a:srgbClr val="FFFFFF"/>
                          </a:solidFill>
                          <a:latin typeface="Times New Roman"/>
                        </a:rPr>
                        <a:t>Correct label y</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c>
                  <a:txBody>
                    <a:bodyPr/>
                    <a:lstStyle/>
                    <a:p>
                      <a:pPr algn="ctr"/>
                      <a:r>
                        <a:rPr sz="1600" b="0">
                          <a:solidFill>
                            <a:srgbClr val="202020"/>
                          </a:solidFill>
                          <a:latin typeface="Times New Roman"/>
                        </a:rPr>
                        <a:t>8</a:t>
                      </a:r>
                    </a:p>
                  </a:txBody>
                  <a:tcPr marL="36576" marR="36576" marT="9144" marB="9144">
                    <a:solidFill>
                      <a:srgbClr val="FFFFFF"/>
                    </a:solidFill>
                  </a:tcPr>
                </a:tc>
                <a:tc>
                  <a:txBody>
                    <a:bodyPr/>
                    <a:lstStyle/>
                    <a:p>
                      <a:pPr algn="ctr"/>
                      <a:r>
                        <a:rPr sz="1600" b="0">
                          <a:solidFill>
                            <a:srgbClr val="202020"/>
                          </a:solidFill>
                          <a:latin typeface="Times New Roman"/>
                        </a:rPr>
                        <a:t>4</a:t>
                      </a:r>
                    </a:p>
                  </a:txBody>
                  <a:tcPr marL="36576" marR="36576" marT="9144" marB="9144">
                    <a:solidFill>
                      <a:srgbClr val="FFFFFF"/>
                    </a:solidFill>
                  </a:tcPr>
                </a:tc>
                <a:tc>
                  <a:txBody>
                    <a:bodyPr/>
                    <a:lstStyle/>
                    <a:p>
                      <a:pPr algn="ctr"/>
                      <a:r>
                        <a:rPr sz="1600" b="0">
                          <a:solidFill>
                            <a:srgbClr val="202020"/>
                          </a:solidFill>
                          <a:latin typeface="Times New Roman"/>
                        </a:rPr>
                        <a:t>1</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c>
                  <a:txBody>
                    <a:bodyPr/>
                    <a:lstStyle/>
                    <a:p>
                      <a:pPr algn="ctr"/>
                      <a:r>
                        <a:rPr sz="1600" b="0">
                          <a:solidFill>
                            <a:srgbClr val="202020"/>
                          </a:solidFill>
                          <a:latin typeface="Times New Roman"/>
                        </a:rPr>
                        <a:t>4</a:t>
                      </a:r>
                    </a:p>
                  </a:txBody>
                  <a:tcPr marL="36576" marR="36576" marT="9144" marB="9144">
                    <a:solidFill>
                      <a:srgbClr val="FFFFFF"/>
                    </a:solidFill>
                  </a:tcPr>
                </a:tc>
                <a:tc>
                  <a:txBody>
                    <a:bodyPr/>
                    <a:lstStyle/>
                    <a:p>
                      <a:pPr algn="ctr"/>
                      <a:r>
                        <a:rPr sz="1600" b="0">
                          <a:solidFill>
                            <a:srgbClr val="202020"/>
                          </a:solidFill>
                          <a:latin typeface="Times New Roman"/>
                        </a:rPr>
                        <a:t>2</a:t>
                      </a:r>
                    </a:p>
                  </a:txBody>
                  <a:tcPr marL="36576" marR="36576" marT="9144" marB="9144">
                    <a:solidFill>
                      <a:srgbClr val="FFFFFF"/>
                    </a:solidFill>
                  </a:tcPr>
                </a:tc>
                <a:tc>
                  <a:txBody>
                    <a:bodyPr/>
                    <a:lstStyle/>
                    <a:p>
                      <a:pPr algn="ctr"/>
                      <a:r>
                        <a:rPr sz="1600" b="0">
                          <a:solidFill>
                            <a:srgbClr val="202020"/>
                          </a:solidFill>
                          <a:latin typeface="Times New Roman"/>
                        </a:rPr>
                        <a:t>0</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c>
                  <a:txBody>
                    <a:bodyPr/>
                    <a:lstStyle/>
                    <a:p>
                      <a:pPr algn="ctr"/>
                      <a:r>
                        <a:rPr sz="1600" b="0">
                          <a:solidFill>
                            <a:srgbClr val="202020"/>
                          </a:solidFill>
                          <a:latin typeface="Times New Roman"/>
                        </a:rPr>
                        <a:t>0</a:t>
                      </a:r>
                    </a:p>
                  </a:txBody>
                  <a:tcPr marL="36576" marR="36576" marT="9144" marB="9144">
                    <a:solidFill>
                      <a:srgbClr val="FFFFFF"/>
                    </a:solidFill>
                  </a:tcPr>
                </a:tc>
                <a:tc>
                  <a:txBody>
                    <a:bodyPr/>
                    <a:lstStyle/>
                    <a:p>
                      <a:pPr algn="ctr"/>
                      <a:r>
                        <a:rPr sz="1600" b="0">
                          <a:solidFill>
                            <a:srgbClr val="202020"/>
                          </a:solidFill>
                          <a:latin typeface="Times New Roman"/>
                        </a:rPr>
                        <a:t>2</a:t>
                      </a:r>
                    </a:p>
                  </a:txBody>
                  <a:tcPr marL="36576" marR="36576" marT="9144" marB="9144">
                    <a:solidFill>
                      <a:srgbClr val="FFFFFF"/>
                    </a:solidFill>
                  </a:tcPr>
                </a:tc>
                <a:tc>
                  <a:txBody>
                    <a:bodyPr/>
                    <a:lstStyle/>
                    <a:p>
                      <a:pPr algn="ctr"/>
                      <a:r>
                        <a:rPr sz="1600" b="0">
                          <a:solidFill>
                            <a:srgbClr val="202020"/>
                          </a:solidFill>
                          <a:latin typeface="Times New Roman"/>
                        </a:rPr>
                        <a:t>0</a:t>
                      </a:r>
                    </a:p>
                  </a:txBody>
                  <a:tcPr marL="36576" marR="36576" marT="9144" marB="9144">
                    <a:solidFill>
                      <a:srgbClr val="FFFFFF"/>
                    </a:solidFill>
                  </a:tcPr>
                </a:tc>
              </a:tr>
            </a:tbl>
          </a:graphicData>
        </a:graphic>
      </p:graphicFrame>
      <p:sp>
        <p:nvSpPr>
          <p:cNvPr id="8" name="Rectangle 7"/>
          <p:cNvSpPr/>
          <p:nvPr/>
        </p:nvSpPr>
        <p:spPr>
          <a:xfrm>
            <a:off x="6858000" y="1874519"/>
            <a:ext cx="4754880" cy="1325880"/>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1F4E79"/>
                </a:solidFill>
                <a:latin typeface="Times New Roman"/>
              </a:rPr>
              <a:t>The cumbersome model is confident that</a:t>
            </a:r>
          </a:p>
          <a:p>
            <a:pPr algn="l"/>
            <a:r>
              <a:rPr sz="1800" b="1">
                <a:solidFill>
                  <a:srgbClr val="1F4E79"/>
                </a:solidFill>
                <a:latin typeface="Times New Roman"/>
              </a:rPr>
              <a:t>this is a 2 and rates a 3 above a 7</a:t>
            </a:r>
          </a:p>
        </p:txBody>
      </p:sp>
      <p:sp>
        <p:nvSpPr>
          <p:cNvPr id="9" name="Rectangle 8"/>
          <p:cNvSpPr/>
          <p:nvPr/>
        </p:nvSpPr>
        <p:spPr>
          <a:xfrm>
            <a:off x="6858000" y="3337560"/>
            <a:ext cx="4754880" cy="132588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59636E"/>
                </a:solidFill>
                <a:latin typeface="Times New Roman"/>
              </a:rPr>
              <a:t>The distilled model, not yet trained,</a:t>
            </a:r>
          </a:p>
          <a:p>
            <a:pPr algn="l"/>
            <a:r>
              <a:rPr sz="1800" b="1">
                <a:solidFill>
                  <a:srgbClr val="59636E"/>
                </a:solidFill>
                <a:latin typeface="Times New Roman"/>
              </a:rPr>
              <a:t>identifies the 2 but rates 3 and 7 equally</a:t>
            </a:r>
          </a:p>
        </p:txBody>
      </p:sp>
      <p:sp>
        <p:nvSpPr>
          <p:cNvPr id="10" name="TextBox 9"/>
          <p:cNvSpPr txBox="1"/>
          <p:nvPr/>
        </p:nvSpPr>
        <p:spPr>
          <a:xfrm>
            <a:off x="731520" y="5166360"/>
            <a:ext cx="10881360" cy="1097280"/>
          </a:xfrm>
          <a:prstGeom prst="rect">
            <a:avLst/>
          </a:prstGeom>
          <a:noFill/>
        </p:spPr>
        <p:txBody>
          <a:bodyPr wrap="square">
            <a:spAutoFit/>
          </a:bodyPr>
          <a:lstStyle/>
          <a:p>
            <a:r>
              <a:rPr sz="1700" b="0" i="0">
                <a:solidFill>
                  <a:srgbClr val="59636E"/>
                </a:solidFill>
                <a:latin typeface="Times New Roman"/>
              </a:rPr>
              <a:t>These logits are chosen for hand calculation; they are not produced by a trained model.</a:t>
            </a:r>
          </a:p>
          <a:p>
            <a:r>
              <a:rPr sz="1700" b="0" i="0">
                <a:solidFill>
                  <a:srgbClr val="59636E"/>
                </a:solidFill>
                <a:latin typeface="Times New Roman"/>
              </a:rPr>
              <a:t>The temperature T and the weight α are introduced where they are first used.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P spid="8" grpId="0" animBg="1"/>
      <p:bldP spid="9" grpId="0" animBg="1"/>
      <p:bldP spid="1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2. Softmax with a temperature: T = 1</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Eq. 1 of the paper; T is normally set to 1</a:t>
            </a:r>
          </a:p>
        </p:txBody>
      </p:sp>
      <p:pic>
        <p:nvPicPr>
          <p:cNvPr id="6" name="Picture 5" descr="m_softmax.png"/>
          <p:cNvPicPr>
            <a:picLocks noChangeAspect="1"/>
          </p:cNvPicPr>
          <p:nvPr/>
        </p:nvPicPr>
        <p:blipFill>
          <a:blip r:embed="rId2"/>
          <a:stretch>
            <a:fillRect/>
          </a:stretch>
        </p:blipFill>
        <p:spPr>
          <a:xfrm>
            <a:off x="822960" y="1051560"/>
            <a:ext cx="1834822" cy="868680"/>
          </a:xfrm>
          <a:prstGeom prst="rect">
            <a:avLst/>
          </a:prstGeom>
        </p:spPr>
      </p:pic>
      <p:sp>
        <p:nvSpPr>
          <p:cNvPr id="7" name="TextBox 6"/>
          <p:cNvSpPr txBox="1"/>
          <p:nvPr/>
        </p:nvSpPr>
        <p:spPr>
          <a:xfrm>
            <a:off x="4754880" y="1097280"/>
            <a:ext cx="6949440" cy="914400"/>
          </a:xfrm>
          <a:prstGeom prst="rect">
            <a:avLst/>
          </a:prstGeom>
          <a:noFill/>
        </p:spPr>
        <p:txBody>
          <a:bodyPr wrap="square">
            <a:spAutoFit/>
          </a:bodyPr>
          <a:lstStyle/>
          <a:p>
            <a:r>
              <a:rPr sz="1700" b="0" i="0">
                <a:solidFill>
                  <a:srgbClr val="202020"/>
                </a:solidFill>
                <a:latin typeface="Times New Roman"/>
              </a:rPr>
              <a:t>The softmax converts the logit z_i computed for each class into a probability q_i by comparing z_i with the other logits; T is a temperature.</a:t>
            </a:r>
          </a:p>
        </p:txBody>
      </p:sp>
      <p:graphicFrame>
        <p:nvGraphicFramePr>
          <p:cNvPr id="8" name="Table 7"/>
          <p:cNvGraphicFramePr>
            <a:graphicFrameLocks noGrp="1"/>
          </p:cNvGraphicFramePr>
          <p:nvPr/>
        </p:nvGraphicFramePr>
        <p:xfrm>
          <a:off x="731520" y="2240280"/>
          <a:ext cx="1188720" cy="1316736"/>
        </p:xfrm>
        <a:graphic>
          <a:graphicData uri="http://schemas.openxmlformats.org/drawingml/2006/table">
            <a:tbl>
              <a:tblPr bandRow="1">
                <a:tableStyleId>{5C22544A-7EE6-4342-B048-85BDC9FD1C3A}</a:tableStyleId>
              </a:tblPr>
              <a:tblGrid>
                <a:gridCol w="118872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9" name="Table 8"/>
          <p:cNvGraphicFramePr>
            <a:graphicFrameLocks noGrp="1"/>
          </p:cNvGraphicFramePr>
          <p:nvPr/>
        </p:nvGraphicFramePr>
        <p:xfrm>
          <a:off x="2057400" y="224028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v</a:t>
                      </a:r>
                    </a:p>
                  </a:txBody>
                  <a:tcPr marL="36576" marR="36576" marT="9144" marB="9144">
                    <a:solidFill>
                      <a:srgbClr val="1F4E79"/>
                    </a:solidFill>
                  </a:tcPr>
                </a:tc>
              </a:tr>
              <a:tr h="329184">
                <a:tc>
                  <a:txBody>
                    <a:bodyPr/>
                    <a:lstStyle/>
                    <a:p>
                      <a:pPr algn="ctr"/>
                      <a:r>
                        <a:rPr sz="1600" b="0">
                          <a:solidFill>
                            <a:srgbClr val="202020"/>
                          </a:solidFill>
                          <a:latin typeface="Times New Roman"/>
                        </a:rPr>
                        <a:t>8</a:t>
                      </a:r>
                    </a:p>
                  </a:txBody>
                  <a:tcPr marL="36576" marR="36576" marT="9144" marB="9144">
                    <a:solidFill>
                      <a:srgbClr val="FFFFFF"/>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r>
              <a:tr h="329184">
                <a:tc>
                  <a:txBody>
                    <a:bodyPr/>
                    <a:lstStyle/>
                    <a:p>
                      <a:pPr algn="ctr"/>
                      <a:r>
                        <a:rPr sz="1600" b="0">
                          <a:solidFill>
                            <a:srgbClr val="202020"/>
                          </a:solidFill>
                          <a:latin typeface="Times New Roman"/>
                        </a:rPr>
                        <a:t>0</a:t>
                      </a:r>
                    </a:p>
                  </a:txBody>
                  <a:tcPr marL="36576" marR="36576" marT="9144" marB="9144">
                    <a:solidFill>
                      <a:srgbClr val="FFFFFF"/>
                    </a:solidFill>
                  </a:tcPr>
                </a:tc>
              </a:tr>
            </a:tbl>
          </a:graphicData>
        </a:graphic>
      </p:graphicFrame>
      <p:graphicFrame>
        <p:nvGraphicFramePr>
          <p:cNvPr id="10" name="Table 9"/>
          <p:cNvGraphicFramePr>
            <a:graphicFrameLocks noGrp="1"/>
          </p:cNvGraphicFramePr>
          <p:nvPr/>
        </p:nvGraphicFramePr>
        <p:xfrm>
          <a:off x="3657600" y="2240280"/>
          <a:ext cx="1965960" cy="1316736"/>
        </p:xfrm>
        <a:graphic>
          <a:graphicData uri="http://schemas.openxmlformats.org/drawingml/2006/table">
            <a:tbl>
              <a:tblPr bandRow="1">
                <a:tableStyleId>{5C22544A-7EE6-4342-B048-85BDC9FD1C3A}</a:tableStyleId>
              </a:tblPr>
              <a:tblGrid>
                <a:gridCol w="1965960"/>
              </a:tblGrid>
              <a:tr h="329184">
                <a:tc>
                  <a:txBody>
                    <a:bodyPr/>
                    <a:lstStyle/>
                    <a:p>
                      <a:pPr algn="ctr"/>
                      <a:r>
                        <a:rPr sz="1600" b="1">
                          <a:solidFill>
                            <a:srgbClr val="FFFFFF"/>
                          </a:solidFill>
                          <a:latin typeface="Times New Roman"/>
                        </a:rPr>
                        <a:t>Step 1:  ÷ T</a:t>
                      </a:r>
                    </a:p>
                  </a:txBody>
                  <a:tcPr marL="36576" marR="36576" marT="9144" marB="9144">
                    <a:solidFill>
                      <a:srgbClr val="1F4E79"/>
                    </a:solidFill>
                  </a:tcPr>
                </a:tc>
              </a:tr>
              <a:tr h="329184">
                <a:tc>
                  <a:txBody>
                    <a:bodyPr/>
                    <a:lstStyle/>
                    <a:p>
                      <a:pPr algn="ctr"/>
                      <a:r>
                        <a:rPr sz="1600" b="0">
                          <a:solidFill>
                            <a:srgbClr val="202020"/>
                          </a:solidFill>
                          <a:latin typeface="Times New Roman"/>
                        </a:rPr>
                        <a:t>8.0000</a:t>
                      </a:r>
                    </a:p>
                  </a:txBody>
                  <a:tcPr marL="36576" marR="36576" marT="9144" marB="9144">
                    <a:solidFill>
                      <a:srgbClr val="FFFFFF"/>
                    </a:solidFill>
                  </a:tcPr>
                </a:tc>
              </a:tr>
              <a:tr h="329184">
                <a:tc>
                  <a:txBody>
                    <a:bodyPr/>
                    <a:lstStyle/>
                    <a:p>
                      <a:pPr algn="ctr"/>
                      <a:r>
                        <a:rPr sz="1600" b="0">
                          <a:solidFill>
                            <a:srgbClr val="202020"/>
                          </a:solidFill>
                          <a:latin typeface="Times New Roman"/>
                        </a:rPr>
                        <a:t>4.0000</a:t>
                      </a:r>
                    </a:p>
                  </a:txBody>
                  <a:tcPr marL="36576" marR="36576" marT="9144" marB="9144">
                    <a:solidFill>
                      <a:srgbClr val="FFFFFF"/>
                    </a:solidFill>
                  </a:tcPr>
                </a:tc>
              </a:tr>
              <a:tr h="329184">
                <a:tc>
                  <a:txBody>
                    <a:bodyPr/>
                    <a:lstStyle/>
                    <a:p>
                      <a:pPr algn="ctr"/>
                      <a:r>
                        <a:rPr sz="1600" b="0">
                          <a:solidFill>
                            <a:srgbClr val="202020"/>
                          </a:solidFill>
                          <a:latin typeface="Times New Roman"/>
                        </a:rPr>
                        <a:t>0.0000</a:t>
                      </a:r>
                    </a:p>
                  </a:txBody>
                  <a:tcPr marL="36576" marR="36576" marT="9144" marB="9144">
                    <a:solidFill>
                      <a:srgbClr val="FFFFFF"/>
                    </a:solidFill>
                  </a:tcPr>
                </a:tc>
              </a:tr>
            </a:tbl>
          </a:graphicData>
        </a:graphic>
      </p:graphicFrame>
      <p:graphicFrame>
        <p:nvGraphicFramePr>
          <p:cNvPr id="11" name="Table 10"/>
          <p:cNvGraphicFramePr>
            <a:graphicFrameLocks noGrp="1"/>
          </p:cNvGraphicFramePr>
          <p:nvPr/>
        </p:nvGraphicFramePr>
        <p:xfrm>
          <a:off x="5760720" y="2240280"/>
          <a:ext cx="2240279" cy="1316736"/>
        </p:xfrm>
        <a:graphic>
          <a:graphicData uri="http://schemas.openxmlformats.org/drawingml/2006/table">
            <a:tbl>
              <a:tblPr bandRow="1">
                <a:tableStyleId>{5C22544A-7EE6-4342-B048-85BDC9FD1C3A}</a:tableStyleId>
              </a:tblPr>
              <a:tblGrid>
                <a:gridCol w="2240279"/>
              </a:tblGrid>
              <a:tr h="329184">
                <a:tc>
                  <a:txBody>
                    <a:bodyPr/>
                    <a:lstStyle/>
                    <a:p>
                      <a:pPr algn="ctr"/>
                      <a:r>
                        <a:rPr sz="1600" b="1">
                          <a:solidFill>
                            <a:srgbClr val="FFFFFF"/>
                          </a:solidFill>
                          <a:latin typeface="Times New Roman"/>
                        </a:rPr>
                        <a:t>Step 2:  exp</a:t>
                      </a:r>
                    </a:p>
                  </a:txBody>
                  <a:tcPr marL="36576" marR="36576" marT="9144" marB="9144">
                    <a:solidFill>
                      <a:srgbClr val="1F4E79"/>
                    </a:solidFill>
                  </a:tcPr>
                </a:tc>
              </a:tr>
              <a:tr h="329184">
                <a:tc>
                  <a:txBody>
                    <a:bodyPr/>
                    <a:lstStyle/>
                    <a:p>
                      <a:pPr algn="ctr"/>
                      <a:r>
                        <a:rPr sz="1600" b="0">
                          <a:solidFill>
                            <a:srgbClr val="202020"/>
                          </a:solidFill>
                          <a:latin typeface="Times New Roman"/>
                        </a:rPr>
                        <a:t>2980.9580</a:t>
                      </a:r>
                    </a:p>
                  </a:txBody>
                  <a:tcPr marL="36576" marR="36576" marT="9144" marB="9144">
                    <a:solidFill>
                      <a:srgbClr val="FFFFFF"/>
                    </a:solidFill>
                  </a:tcPr>
                </a:tc>
              </a:tr>
              <a:tr h="329184">
                <a:tc>
                  <a:txBody>
                    <a:bodyPr/>
                    <a:lstStyle/>
                    <a:p>
                      <a:pPr algn="ctr"/>
                      <a:r>
                        <a:rPr sz="1600" b="0">
                          <a:solidFill>
                            <a:srgbClr val="202020"/>
                          </a:solidFill>
                          <a:latin typeface="Times New Roman"/>
                        </a:rPr>
                        <a:t>54.5982</a:t>
                      </a:r>
                    </a:p>
                  </a:txBody>
                  <a:tcPr marL="36576" marR="36576" marT="9144" marB="9144">
                    <a:solidFill>
                      <a:srgbClr val="FFFFFF"/>
                    </a:solidFill>
                  </a:tcPr>
                </a:tc>
              </a:tr>
              <a:tr h="329184">
                <a:tc>
                  <a:txBody>
                    <a:bodyPr/>
                    <a:lstStyle/>
                    <a:p>
                      <a:pPr algn="ctr"/>
                      <a:r>
                        <a:rPr sz="1600" b="0">
                          <a:solidFill>
                            <a:srgbClr val="202020"/>
                          </a:solidFill>
                          <a:latin typeface="Times New Roman"/>
                        </a:rPr>
                        <a:t>1.0000</a:t>
                      </a:r>
                    </a:p>
                  </a:txBody>
                  <a:tcPr marL="36576" marR="36576" marT="9144" marB="9144">
                    <a:solidFill>
                      <a:srgbClr val="FFFFFF"/>
                    </a:solidFill>
                  </a:tcPr>
                </a:tc>
              </a:tr>
            </a:tbl>
          </a:graphicData>
        </a:graphic>
      </p:graphicFrame>
      <p:sp>
        <p:nvSpPr>
          <p:cNvPr id="12" name="Rectangle 11"/>
          <p:cNvSpPr/>
          <p:nvPr/>
        </p:nvSpPr>
        <p:spPr>
          <a:xfrm>
            <a:off x="8138160" y="2240280"/>
            <a:ext cx="1737360" cy="1316736"/>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4E79"/>
                </a:solidFill>
                <a:latin typeface="Times New Roman"/>
              </a:rPr>
              <a:t>Step 3:  sum</a:t>
            </a:r>
          </a:p>
          <a:p>
            <a:pPr algn="ctr"/>
            <a:r>
              <a:rPr sz="1700" b="1">
                <a:solidFill>
                  <a:srgbClr val="1F4E79"/>
                </a:solidFill>
                <a:latin typeface="Times New Roman"/>
              </a:rPr>
              <a:t>3036.5561</a:t>
            </a:r>
          </a:p>
        </p:txBody>
      </p:sp>
      <p:graphicFrame>
        <p:nvGraphicFramePr>
          <p:cNvPr id="13" name="Table 12"/>
          <p:cNvGraphicFramePr>
            <a:graphicFrameLocks noGrp="1"/>
          </p:cNvGraphicFramePr>
          <p:nvPr/>
        </p:nvGraphicFramePr>
        <p:xfrm>
          <a:off x="10012680" y="2240280"/>
          <a:ext cx="1783080" cy="1316736"/>
        </p:xfrm>
        <a:graphic>
          <a:graphicData uri="http://schemas.openxmlformats.org/drawingml/2006/table">
            <a:tbl>
              <a:tblPr bandRow="1">
                <a:tableStyleId>{5C22544A-7EE6-4342-B048-85BDC9FD1C3A}</a:tableStyleId>
              </a:tblPr>
              <a:tblGrid>
                <a:gridCol w="1783080"/>
              </a:tblGrid>
              <a:tr h="329184">
                <a:tc>
                  <a:txBody>
                    <a:bodyPr/>
                    <a:lstStyle/>
                    <a:p>
                      <a:pPr algn="ctr"/>
                      <a:r>
                        <a:rPr sz="1600" b="1">
                          <a:solidFill>
                            <a:srgbClr val="FFFFFF"/>
                          </a:solidFill>
                          <a:latin typeface="Times New Roman"/>
                        </a:rPr>
                        <a:t>Step 4:  p</a:t>
                      </a:r>
                    </a:p>
                  </a:txBody>
                  <a:tcPr marL="36576" marR="36576" marT="9144" marB="9144">
                    <a:solidFill>
                      <a:srgbClr val="1F4E79"/>
                    </a:solidFill>
                  </a:tcPr>
                </a:tc>
              </a:tr>
              <a:tr h="329184">
                <a:tc>
                  <a:txBody>
                    <a:bodyPr/>
                    <a:lstStyle/>
                    <a:p>
                      <a:pPr algn="ctr"/>
                      <a:r>
                        <a:rPr sz="1600" b="0">
                          <a:solidFill>
                            <a:srgbClr val="202020"/>
                          </a:solidFill>
                          <a:latin typeface="Times New Roman"/>
                        </a:rPr>
                        <a:t>0.9817</a:t>
                      </a:r>
                    </a:p>
                  </a:txBody>
                  <a:tcPr marL="36576" marR="36576" marT="9144" marB="9144">
                    <a:solidFill>
                      <a:srgbClr val="FFFFFF"/>
                    </a:solidFill>
                  </a:tcPr>
                </a:tc>
              </a:tr>
              <a:tr h="329184">
                <a:tc>
                  <a:txBody>
                    <a:bodyPr/>
                    <a:lstStyle/>
                    <a:p>
                      <a:pPr algn="ctr"/>
                      <a:r>
                        <a:rPr sz="1600" b="0">
                          <a:solidFill>
                            <a:srgbClr val="202020"/>
                          </a:solidFill>
                          <a:latin typeface="Times New Roman"/>
                        </a:rPr>
                        <a:t>0.0180</a:t>
                      </a:r>
                    </a:p>
                  </a:txBody>
                  <a:tcPr marL="36576" marR="36576" marT="9144" marB="9144">
                    <a:solidFill>
                      <a:srgbClr val="FFF3CD"/>
                    </a:solidFill>
                  </a:tcPr>
                </a:tc>
              </a:tr>
              <a:tr h="329184">
                <a:tc>
                  <a:txBody>
                    <a:bodyPr/>
                    <a:lstStyle/>
                    <a:p>
                      <a:pPr algn="ctr"/>
                      <a:r>
                        <a:rPr sz="1600" b="0">
                          <a:solidFill>
                            <a:srgbClr val="202020"/>
                          </a:solidFill>
                          <a:latin typeface="Times New Roman"/>
                        </a:rPr>
                        <a:t>0.0003</a:t>
                      </a:r>
                    </a:p>
                  </a:txBody>
                  <a:tcPr marL="36576" marR="36576" marT="9144" marB="9144">
                    <a:solidFill>
                      <a:srgbClr val="FFF3CD"/>
                    </a:solidFill>
                  </a:tcPr>
                </a:tc>
              </a:tr>
            </a:tbl>
          </a:graphicData>
        </a:graphic>
      </p:graphicFrame>
      <p:sp>
        <p:nvSpPr>
          <p:cNvPr id="14" name="Rectangle 13"/>
          <p:cNvSpPr/>
          <p:nvPr/>
        </p:nvSpPr>
        <p:spPr>
          <a:xfrm>
            <a:off x="731520" y="3931920"/>
            <a:ext cx="10881360" cy="105156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C03030"/>
                </a:solidFill>
                <a:latin typeface="Times New Roman"/>
              </a:rPr>
              <a:t>The probabilities of 3 and 7 are 0.0180 and 0.0003. The information that this 2 resembles a 3 more than a 7</a:t>
            </a:r>
          </a:p>
          <a:p>
            <a:pPr algn="l"/>
            <a:r>
              <a:rPr sz="1700" b="1">
                <a:solidFill>
                  <a:srgbClr val="C03030"/>
                </a:solidFill>
                <a:latin typeface="Times New Roman"/>
              </a:rPr>
              <a:t>is present, but it has very little influence on the cross-entropy cost function.</a:t>
            </a:r>
          </a:p>
        </p:txBody>
      </p:sp>
      <p:sp>
        <p:nvSpPr>
          <p:cNvPr id="15" name="TextBox 14"/>
          <p:cNvSpPr txBox="1"/>
          <p:nvPr/>
        </p:nvSpPr>
        <p:spPr>
          <a:xfrm>
            <a:off x="731520" y="5166360"/>
            <a:ext cx="10881360" cy="914400"/>
          </a:xfrm>
          <a:prstGeom prst="rect">
            <a:avLst/>
          </a:prstGeom>
          <a:noFill/>
        </p:spPr>
        <p:txBody>
          <a:bodyPr wrap="square">
            <a:spAutoFit/>
          </a:bodyPr>
          <a:lstStyle/>
          <a:p>
            <a:r>
              <a:rPr sz="1600" b="0" i="0">
                <a:solidFill>
                  <a:srgbClr val="59636E"/>
                </a:solidFill>
                <a:latin typeface="Times New Roman"/>
              </a:rPr>
              <a:t>Check: exp(8) = 2980.9580, exp(4) = 54.5982, and exp(0) = 1, which sum to 3036.5561.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Graphic spid="8" grpId="0">
        <p:bldAsOne/>
      </p:bldGraphic>
      <p:bldGraphic spid="9" grpId="0">
        <p:bldAsOne/>
      </p:bldGraphic>
      <p:bldGraphic spid="10" grpId="0">
        <p:bldAsOne/>
      </p:bldGraphic>
      <p:bldGraphic spid="11" grpId="0">
        <p:bldAsOne/>
      </p:bldGraphic>
      <p:bldP spid="12" grpId="0" animBg="1"/>
      <p:bldGraphic spid="13" grpId="0">
        <p:bldAsOne/>
      </p:bldGraphic>
      <p:bldP spid="14" grpId="0" animBg="1"/>
      <p:bldP spid="15"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2. Softmax with a temperature: T = 4</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The same logits of the cumbersome model at a higher temperature</a:t>
            </a:r>
          </a:p>
        </p:txBody>
      </p:sp>
      <p:pic>
        <p:nvPicPr>
          <p:cNvPr id="6" name="Picture 5" descr="m_softmax.png"/>
          <p:cNvPicPr>
            <a:picLocks noChangeAspect="1"/>
          </p:cNvPicPr>
          <p:nvPr/>
        </p:nvPicPr>
        <p:blipFill>
          <a:blip r:embed="rId2"/>
          <a:stretch>
            <a:fillRect/>
          </a:stretch>
        </p:blipFill>
        <p:spPr>
          <a:xfrm>
            <a:off x="822960" y="1051560"/>
            <a:ext cx="1834822" cy="868680"/>
          </a:xfrm>
          <a:prstGeom prst="rect">
            <a:avLst/>
          </a:prstGeom>
        </p:spPr>
      </p:pic>
      <p:sp>
        <p:nvSpPr>
          <p:cNvPr id="7" name="TextBox 6"/>
          <p:cNvSpPr txBox="1"/>
          <p:nvPr/>
        </p:nvSpPr>
        <p:spPr>
          <a:xfrm>
            <a:off x="4754880" y="1097280"/>
            <a:ext cx="6949440" cy="914400"/>
          </a:xfrm>
          <a:prstGeom prst="rect">
            <a:avLst/>
          </a:prstGeom>
          <a:noFill/>
        </p:spPr>
        <p:txBody>
          <a:bodyPr wrap="square">
            <a:spAutoFit/>
          </a:bodyPr>
          <a:lstStyle/>
          <a:p>
            <a:r>
              <a:rPr sz="1700" b="0" i="0">
                <a:solidFill>
                  <a:srgbClr val="202020"/>
                </a:solidFill>
                <a:latin typeface="Times New Roman"/>
              </a:rPr>
              <a:t>Using a higher value for T produces a softer probability distribution over classes: Step 1 reduces the differences between the logits by a factor of 4.</a:t>
            </a:r>
          </a:p>
        </p:txBody>
      </p:sp>
      <p:graphicFrame>
        <p:nvGraphicFramePr>
          <p:cNvPr id="8" name="Table 7"/>
          <p:cNvGraphicFramePr>
            <a:graphicFrameLocks noGrp="1"/>
          </p:cNvGraphicFramePr>
          <p:nvPr/>
        </p:nvGraphicFramePr>
        <p:xfrm>
          <a:off x="731520" y="2240280"/>
          <a:ext cx="1188720" cy="1316736"/>
        </p:xfrm>
        <a:graphic>
          <a:graphicData uri="http://schemas.openxmlformats.org/drawingml/2006/table">
            <a:tbl>
              <a:tblPr bandRow="1">
                <a:tableStyleId>{5C22544A-7EE6-4342-B048-85BDC9FD1C3A}</a:tableStyleId>
              </a:tblPr>
              <a:tblGrid>
                <a:gridCol w="118872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9" name="Table 8"/>
          <p:cNvGraphicFramePr>
            <a:graphicFrameLocks noGrp="1"/>
          </p:cNvGraphicFramePr>
          <p:nvPr/>
        </p:nvGraphicFramePr>
        <p:xfrm>
          <a:off x="2057400" y="224028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v</a:t>
                      </a:r>
                    </a:p>
                  </a:txBody>
                  <a:tcPr marL="36576" marR="36576" marT="9144" marB="9144">
                    <a:solidFill>
                      <a:srgbClr val="1F4E79"/>
                    </a:solidFill>
                  </a:tcPr>
                </a:tc>
              </a:tr>
              <a:tr h="329184">
                <a:tc>
                  <a:txBody>
                    <a:bodyPr/>
                    <a:lstStyle/>
                    <a:p>
                      <a:pPr algn="ctr"/>
                      <a:r>
                        <a:rPr sz="1600" b="0">
                          <a:solidFill>
                            <a:srgbClr val="202020"/>
                          </a:solidFill>
                          <a:latin typeface="Times New Roman"/>
                        </a:rPr>
                        <a:t>8</a:t>
                      </a:r>
                    </a:p>
                  </a:txBody>
                  <a:tcPr marL="36576" marR="36576" marT="9144" marB="9144">
                    <a:solidFill>
                      <a:srgbClr val="FFFFFF"/>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r>
              <a:tr h="329184">
                <a:tc>
                  <a:txBody>
                    <a:bodyPr/>
                    <a:lstStyle/>
                    <a:p>
                      <a:pPr algn="ctr"/>
                      <a:r>
                        <a:rPr sz="1600" b="0">
                          <a:solidFill>
                            <a:srgbClr val="202020"/>
                          </a:solidFill>
                          <a:latin typeface="Times New Roman"/>
                        </a:rPr>
                        <a:t>0</a:t>
                      </a:r>
                    </a:p>
                  </a:txBody>
                  <a:tcPr marL="36576" marR="36576" marT="9144" marB="9144">
                    <a:solidFill>
                      <a:srgbClr val="FFFFFF"/>
                    </a:solidFill>
                  </a:tcPr>
                </a:tc>
              </a:tr>
            </a:tbl>
          </a:graphicData>
        </a:graphic>
      </p:graphicFrame>
      <p:graphicFrame>
        <p:nvGraphicFramePr>
          <p:cNvPr id="10" name="Table 9"/>
          <p:cNvGraphicFramePr>
            <a:graphicFrameLocks noGrp="1"/>
          </p:cNvGraphicFramePr>
          <p:nvPr/>
        </p:nvGraphicFramePr>
        <p:xfrm>
          <a:off x="3657600" y="2240280"/>
          <a:ext cx="1965960" cy="1316736"/>
        </p:xfrm>
        <a:graphic>
          <a:graphicData uri="http://schemas.openxmlformats.org/drawingml/2006/table">
            <a:tbl>
              <a:tblPr bandRow="1">
                <a:tableStyleId>{5C22544A-7EE6-4342-B048-85BDC9FD1C3A}</a:tableStyleId>
              </a:tblPr>
              <a:tblGrid>
                <a:gridCol w="1965960"/>
              </a:tblGrid>
              <a:tr h="329184">
                <a:tc>
                  <a:txBody>
                    <a:bodyPr/>
                    <a:lstStyle/>
                    <a:p>
                      <a:pPr algn="ctr"/>
                      <a:r>
                        <a:rPr sz="1600" b="1">
                          <a:solidFill>
                            <a:srgbClr val="FFFFFF"/>
                          </a:solidFill>
                          <a:latin typeface="Times New Roman"/>
                        </a:rPr>
                        <a:t>Step 1:  ÷ T</a:t>
                      </a:r>
                    </a:p>
                  </a:txBody>
                  <a:tcPr marL="36576" marR="36576" marT="9144" marB="9144">
                    <a:solidFill>
                      <a:srgbClr val="1F4E79"/>
                    </a:solidFill>
                  </a:tcPr>
                </a:tc>
              </a:tr>
              <a:tr h="329184">
                <a:tc>
                  <a:txBody>
                    <a:bodyPr/>
                    <a:lstStyle/>
                    <a:p>
                      <a:pPr algn="ctr"/>
                      <a:r>
                        <a:rPr sz="1600" b="0">
                          <a:solidFill>
                            <a:srgbClr val="202020"/>
                          </a:solidFill>
                          <a:latin typeface="Times New Roman"/>
                        </a:rPr>
                        <a:t>2.0000</a:t>
                      </a:r>
                    </a:p>
                  </a:txBody>
                  <a:tcPr marL="36576" marR="36576" marT="9144" marB="9144">
                    <a:solidFill>
                      <a:srgbClr val="FFFFFF"/>
                    </a:solidFill>
                  </a:tcPr>
                </a:tc>
              </a:tr>
              <a:tr h="329184">
                <a:tc>
                  <a:txBody>
                    <a:bodyPr/>
                    <a:lstStyle/>
                    <a:p>
                      <a:pPr algn="ctr"/>
                      <a:r>
                        <a:rPr sz="1600" b="0">
                          <a:solidFill>
                            <a:srgbClr val="202020"/>
                          </a:solidFill>
                          <a:latin typeface="Times New Roman"/>
                        </a:rPr>
                        <a:t>1.0000</a:t>
                      </a:r>
                    </a:p>
                  </a:txBody>
                  <a:tcPr marL="36576" marR="36576" marT="9144" marB="9144">
                    <a:solidFill>
                      <a:srgbClr val="FFFFFF"/>
                    </a:solidFill>
                  </a:tcPr>
                </a:tc>
              </a:tr>
              <a:tr h="329184">
                <a:tc>
                  <a:txBody>
                    <a:bodyPr/>
                    <a:lstStyle/>
                    <a:p>
                      <a:pPr algn="ctr"/>
                      <a:r>
                        <a:rPr sz="1600" b="0">
                          <a:solidFill>
                            <a:srgbClr val="202020"/>
                          </a:solidFill>
                          <a:latin typeface="Times New Roman"/>
                        </a:rPr>
                        <a:t>0.0000</a:t>
                      </a:r>
                    </a:p>
                  </a:txBody>
                  <a:tcPr marL="36576" marR="36576" marT="9144" marB="9144">
                    <a:solidFill>
                      <a:srgbClr val="FFFFFF"/>
                    </a:solidFill>
                  </a:tcPr>
                </a:tc>
              </a:tr>
            </a:tbl>
          </a:graphicData>
        </a:graphic>
      </p:graphicFrame>
      <p:graphicFrame>
        <p:nvGraphicFramePr>
          <p:cNvPr id="11" name="Table 10"/>
          <p:cNvGraphicFramePr>
            <a:graphicFrameLocks noGrp="1"/>
          </p:cNvGraphicFramePr>
          <p:nvPr/>
        </p:nvGraphicFramePr>
        <p:xfrm>
          <a:off x="5760720" y="2240280"/>
          <a:ext cx="2240279" cy="1316736"/>
        </p:xfrm>
        <a:graphic>
          <a:graphicData uri="http://schemas.openxmlformats.org/drawingml/2006/table">
            <a:tbl>
              <a:tblPr bandRow="1">
                <a:tableStyleId>{5C22544A-7EE6-4342-B048-85BDC9FD1C3A}</a:tableStyleId>
              </a:tblPr>
              <a:tblGrid>
                <a:gridCol w="2240279"/>
              </a:tblGrid>
              <a:tr h="329184">
                <a:tc>
                  <a:txBody>
                    <a:bodyPr/>
                    <a:lstStyle/>
                    <a:p>
                      <a:pPr algn="ctr"/>
                      <a:r>
                        <a:rPr sz="1600" b="1">
                          <a:solidFill>
                            <a:srgbClr val="FFFFFF"/>
                          </a:solidFill>
                          <a:latin typeface="Times New Roman"/>
                        </a:rPr>
                        <a:t>Step 2:  exp</a:t>
                      </a:r>
                    </a:p>
                  </a:txBody>
                  <a:tcPr marL="36576" marR="36576" marT="9144" marB="9144">
                    <a:solidFill>
                      <a:srgbClr val="1F4E79"/>
                    </a:solidFill>
                  </a:tcPr>
                </a:tc>
              </a:tr>
              <a:tr h="329184">
                <a:tc>
                  <a:txBody>
                    <a:bodyPr/>
                    <a:lstStyle/>
                    <a:p>
                      <a:pPr algn="ctr"/>
                      <a:r>
                        <a:rPr sz="1600" b="0">
                          <a:solidFill>
                            <a:srgbClr val="202020"/>
                          </a:solidFill>
                          <a:latin typeface="Times New Roman"/>
                        </a:rPr>
                        <a:t>7.3891</a:t>
                      </a:r>
                    </a:p>
                  </a:txBody>
                  <a:tcPr marL="36576" marR="36576" marT="9144" marB="9144">
                    <a:solidFill>
                      <a:srgbClr val="FFFFFF"/>
                    </a:solidFill>
                  </a:tcPr>
                </a:tc>
              </a:tr>
              <a:tr h="329184">
                <a:tc>
                  <a:txBody>
                    <a:bodyPr/>
                    <a:lstStyle/>
                    <a:p>
                      <a:pPr algn="ctr"/>
                      <a:r>
                        <a:rPr sz="1600" b="0">
                          <a:solidFill>
                            <a:srgbClr val="202020"/>
                          </a:solidFill>
                          <a:latin typeface="Times New Roman"/>
                        </a:rPr>
                        <a:t>2.7183</a:t>
                      </a:r>
                    </a:p>
                  </a:txBody>
                  <a:tcPr marL="36576" marR="36576" marT="9144" marB="9144">
                    <a:solidFill>
                      <a:srgbClr val="FFFFFF"/>
                    </a:solidFill>
                  </a:tcPr>
                </a:tc>
              </a:tr>
              <a:tr h="329184">
                <a:tc>
                  <a:txBody>
                    <a:bodyPr/>
                    <a:lstStyle/>
                    <a:p>
                      <a:pPr algn="ctr"/>
                      <a:r>
                        <a:rPr sz="1600" b="0">
                          <a:solidFill>
                            <a:srgbClr val="202020"/>
                          </a:solidFill>
                          <a:latin typeface="Times New Roman"/>
                        </a:rPr>
                        <a:t>1.0000</a:t>
                      </a:r>
                    </a:p>
                  </a:txBody>
                  <a:tcPr marL="36576" marR="36576" marT="9144" marB="9144">
                    <a:solidFill>
                      <a:srgbClr val="FFFFFF"/>
                    </a:solidFill>
                  </a:tcPr>
                </a:tc>
              </a:tr>
            </a:tbl>
          </a:graphicData>
        </a:graphic>
      </p:graphicFrame>
      <p:sp>
        <p:nvSpPr>
          <p:cNvPr id="12" name="Rectangle 11"/>
          <p:cNvSpPr/>
          <p:nvPr/>
        </p:nvSpPr>
        <p:spPr>
          <a:xfrm>
            <a:off x="8138160" y="2240280"/>
            <a:ext cx="1737360" cy="1316736"/>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4E79"/>
                </a:solidFill>
                <a:latin typeface="Times New Roman"/>
              </a:rPr>
              <a:t>Step 3:  sum</a:t>
            </a:r>
          </a:p>
          <a:p>
            <a:pPr algn="ctr"/>
            <a:r>
              <a:rPr sz="1700" b="1">
                <a:solidFill>
                  <a:srgbClr val="1F4E79"/>
                </a:solidFill>
                <a:latin typeface="Times New Roman"/>
              </a:rPr>
              <a:t>11.1073</a:t>
            </a:r>
          </a:p>
        </p:txBody>
      </p:sp>
      <p:graphicFrame>
        <p:nvGraphicFramePr>
          <p:cNvPr id="13" name="Table 12"/>
          <p:cNvGraphicFramePr>
            <a:graphicFrameLocks noGrp="1"/>
          </p:cNvGraphicFramePr>
          <p:nvPr/>
        </p:nvGraphicFramePr>
        <p:xfrm>
          <a:off x="10012680" y="2240280"/>
          <a:ext cx="1783080" cy="1316736"/>
        </p:xfrm>
        <a:graphic>
          <a:graphicData uri="http://schemas.openxmlformats.org/drawingml/2006/table">
            <a:tbl>
              <a:tblPr bandRow="1">
                <a:tableStyleId>{5C22544A-7EE6-4342-B048-85BDC9FD1C3A}</a:tableStyleId>
              </a:tblPr>
              <a:tblGrid>
                <a:gridCol w="1783080"/>
              </a:tblGrid>
              <a:tr h="329184">
                <a:tc>
                  <a:txBody>
                    <a:bodyPr/>
                    <a:lstStyle/>
                    <a:p>
                      <a:pPr algn="ctr"/>
                      <a:r>
                        <a:rPr sz="1600" b="1">
                          <a:solidFill>
                            <a:srgbClr val="FFFFFF"/>
                          </a:solidFill>
                          <a:latin typeface="Times New Roman"/>
                        </a:rPr>
                        <a:t>Step 4:  p</a:t>
                      </a:r>
                    </a:p>
                  </a:txBody>
                  <a:tcPr marL="36576" marR="36576" marT="9144" marB="9144">
                    <a:solidFill>
                      <a:srgbClr val="1F4E79"/>
                    </a:solidFill>
                  </a:tcPr>
                </a:tc>
              </a:tr>
              <a:tr h="329184">
                <a:tc>
                  <a:txBody>
                    <a:bodyPr/>
                    <a:lstStyle/>
                    <a:p>
                      <a:pPr algn="ctr"/>
                      <a:r>
                        <a:rPr sz="1600" b="0">
                          <a:solidFill>
                            <a:srgbClr val="202020"/>
                          </a:solidFill>
                          <a:latin typeface="Times New Roman"/>
                        </a:rPr>
                        <a:t>0.6652</a:t>
                      </a:r>
                    </a:p>
                  </a:txBody>
                  <a:tcPr marL="36576" marR="36576" marT="9144" marB="9144">
                    <a:solidFill>
                      <a:srgbClr val="FFFFFF"/>
                    </a:solidFill>
                  </a:tcPr>
                </a:tc>
              </a:tr>
              <a:tr h="329184">
                <a:tc>
                  <a:txBody>
                    <a:bodyPr/>
                    <a:lstStyle/>
                    <a:p>
                      <a:pPr algn="ctr"/>
                      <a:r>
                        <a:rPr sz="1600" b="0">
                          <a:solidFill>
                            <a:srgbClr val="202020"/>
                          </a:solidFill>
                          <a:latin typeface="Times New Roman"/>
                        </a:rPr>
                        <a:t>0.2447</a:t>
                      </a:r>
                    </a:p>
                  </a:txBody>
                  <a:tcPr marL="36576" marR="36576" marT="9144" marB="9144">
                    <a:solidFill>
                      <a:srgbClr val="FFF3CD"/>
                    </a:solidFill>
                  </a:tcPr>
                </a:tc>
              </a:tr>
              <a:tr h="329184">
                <a:tc>
                  <a:txBody>
                    <a:bodyPr/>
                    <a:lstStyle/>
                    <a:p>
                      <a:pPr algn="ctr"/>
                      <a:r>
                        <a:rPr sz="1600" b="0">
                          <a:solidFill>
                            <a:srgbClr val="202020"/>
                          </a:solidFill>
                          <a:latin typeface="Times New Roman"/>
                        </a:rPr>
                        <a:t>0.0900</a:t>
                      </a:r>
                    </a:p>
                  </a:txBody>
                  <a:tcPr marL="36576" marR="36576" marT="9144" marB="9144">
                    <a:solidFill>
                      <a:srgbClr val="FFF3CD"/>
                    </a:solidFill>
                  </a:tcPr>
                </a:tc>
              </a:tr>
            </a:tbl>
          </a:graphicData>
        </a:graphic>
      </p:graphicFrame>
      <p:sp>
        <p:nvSpPr>
          <p:cNvPr id="14" name="Rectangle 13"/>
          <p:cNvSpPr/>
          <p:nvPr/>
        </p:nvSpPr>
        <p:spPr>
          <a:xfrm>
            <a:off x="731520" y="3931920"/>
            <a:ext cx="10881360" cy="105156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E7A45"/>
                </a:solidFill>
                <a:latin typeface="Times New Roman"/>
              </a:rPr>
              <a:t>The probabilities of 3 and 7 become 0.2447 and 0.0900.</a:t>
            </a:r>
          </a:p>
          <a:p>
            <a:pPr algn="l"/>
            <a:r>
              <a:rPr sz="1700" b="1">
                <a:solidFill>
                  <a:srgbClr val="1E7A45"/>
                </a:solidFill>
                <a:latin typeface="Times New Roman"/>
              </a:rPr>
              <a:t>At this temperature, the relative probabilities of the incorrect classes are large enough to influence learning.</a:t>
            </a:r>
          </a:p>
        </p:txBody>
      </p:sp>
      <p:sp>
        <p:nvSpPr>
          <p:cNvPr id="15" name="TextBox 14"/>
          <p:cNvSpPr txBox="1"/>
          <p:nvPr/>
        </p:nvSpPr>
        <p:spPr>
          <a:xfrm>
            <a:off x="731520" y="5166360"/>
            <a:ext cx="10881360" cy="914400"/>
          </a:xfrm>
          <a:prstGeom prst="rect">
            <a:avLst/>
          </a:prstGeom>
          <a:noFill/>
        </p:spPr>
        <p:txBody>
          <a:bodyPr wrap="square">
            <a:spAutoFit/>
          </a:bodyPr>
          <a:lstStyle/>
          <a:p>
            <a:r>
              <a:rPr sz="1600" b="0" i="0">
                <a:solidFill>
                  <a:srgbClr val="59636E"/>
                </a:solidFill>
                <a:latin typeface="Times New Roman"/>
              </a:rPr>
              <a:t>Check: exp(2) = 7.3891, exp(1) = 2.7183, and exp(0) = 1, which sum to 11.1073.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Graphic spid="8" grpId="0">
        <p:bldAsOne/>
      </p:bldGraphic>
      <p:bldGraphic spid="9" grpId="0">
        <p:bldAsOne/>
      </p:bldGraphic>
      <p:bldGraphic spid="10" grpId="0">
        <p:bldAsOne/>
      </p:bldGraphic>
      <p:bldGraphic spid="11" grpId="0">
        <p:bldAsOne/>
      </p:bldGraphic>
      <p:bldP spid="12" grpId="0" animBg="1"/>
      <p:bldGraphic spid="13" grpId="0">
        <p:bldAsOne/>
      </p:bldGraphic>
      <p:bldP spid="14" grpId="0" animBg="1"/>
      <p:bldP spid="15"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2. Soft targets and hard targets</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The same 2 at two temperatures</a:t>
            </a:r>
          </a:p>
        </p:txBody>
      </p:sp>
      <p:pic>
        <p:nvPicPr>
          <p:cNvPr id="6" name="Picture 5" descr="f_soft.png"/>
          <p:cNvPicPr>
            <a:picLocks noChangeAspect="1"/>
          </p:cNvPicPr>
          <p:nvPr/>
        </p:nvPicPr>
        <p:blipFill>
          <a:blip r:embed="rId2"/>
          <a:stretch>
            <a:fillRect/>
          </a:stretch>
        </p:blipFill>
        <p:spPr>
          <a:xfrm>
            <a:off x="548640" y="1051560"/>
            <a:ext cx="6400800" cy="2578100"/>
          </a:xfrm>
          <a:prstGeom prst="rect">
            <a:avLst/>
          </a:prstGeom>
        </p:spPr>
      </p:pic>
      <p:graphicFrame>
        <p:nvGraphicFramePr>
          <p:cNvPr id="7" name="Table 6"/>
          <p:cNvGraphicFramePr>
            <a:graphicFrameLocks noGrp="1"/>
          </p:cNvGraphicFramePr>
          <p:nvPr/>
        </p:nvGraphicFramePr>
        <p:xfrm>
          <a:off x="7223760" y="1143000"/>
          <a:ext cx="4480558" cy="1316736"/>
        </p:xfrm>
        <a:graphic>
          <a:graphicData uri="http://schemas.openxmlformats.org/drawingml/2006/table">
            <a:tbl>
              <a:tblPr bandRow="1">
                <a:tableStyleId>{5C22544A-7EE6-4342-B048-85BDC9FD1C3A}</a:tableStyleId>
              </a:tblPr>
              <a:tblGrid>
                <a:gridCol w="1650732"/>
                <a:gridCol w="1414913"/>
                <a:gridCol w="1414913"/>
              </a:tblGrid>
              <a:tr h="329184">
                <a:tc>
                  <a:txBody>
                    <a:bodyPr/>
                    <a:lstStyle/>
                    <a:p>
                      <a:pPr algn="ctr"/>
                      <a:r>
                        <a:rPr sz="1600" b="1">
                          <a:solidFill>
                            <a:srgbClr val="FFFFFF"/>
                          </a:solidFill>
                          <a:latin typeface="Times New Roman"/>
                        </a:rPr>
                        <a:t/>
                      </a:r>
                    </a:p>
                  </a:txBody>
                  <a:tcPr marL="36576" marR="36576" marT="9144" marB="9144">
                    <a:solidFill>
                      <a:srgbClr val="1F4E79"/>
                    </a:solidFill>
                  </a:tcPr>
                </a:tc>
                <a:tc>
                  <a:txBody>
                    <a:bodyPr/>
                    <a:lstStyle/>
                    <a:p>
                      <a:pPr algn="ctr"/>
                      <a:r>
                        <a:rPr sz="1600" b="1">
                          <a:solidFill>
                            <a:srgbClr val="FFFFFF"/>
                          </a:solidFill>
                          <a:latin typeface="Times New Roman"/>
                        </a:rPr>
                        <a:t>T = 1</a:t>
                      </a:r>
                    </a:p>
                  </a:txBody>
                  <a:tcPr marL="36576" marR="36576" marT="9144" marB="9144">
                    <a:solidFill>
                      <a:srgbClr val="1F4E79"/>
                    </a:solidFill>
                  </a:tcPr>
                </a:tc>
                <a:tc>
                  <a:txBody>
                    <a:bodyPr/>
                    <a:lstStyle/>
                    <a:p>
                      <a:pPr algn="ctr"/>
                      <a:r>
                        <a:rPr sz="1600" b="1">
                          <a:solidFill>
                            <a:srgbClr val="FFFFFF"/>
                          </a:solidFill>
                          <a:latin typeface="Times New Roman"/>
                        </a:rPr>
                        <a:t>T = 4</a:t>
                      </a:r>
                    </a:p>
                  </a:txBody>
                  <a:tcPr marL="36576" marR="36576" marT="9144" marB="9144">
                    <a:solidFill>
                      <a:srgbClr val="1F4E79"/>
                    </a:solidFill>
                  </a:tcPr>
                </a:tc>
              </a:tr>
              <a:tr h="329184">
                <a:tc>
                  <a:txBody>
                    <a:bodyPr/>
                    <a:lstStyle/>
                    <a:p>
                      <a:pPr algn="ctr"/>
                      <a:r>
                        <a:rPr sz="1600" b="0">
                          <a:solidFill>
                            <a:srgbClr val="202020"/>
                          </a:solidFill>
                          <a:latin typeface="Times New Roman"/>
                        </a:rPr>
                        <a:t>P(3)</a:t>
                      </a:r>
                    </a:p>
                  </a:txBody>
                  <a:tcPr marL="36576" marR="36576" marT="9144" marB="9144">
                    <a:solidFill>
                      <a:srgbClr val="FFFFFF"/>
                    </a:solidFill>
                  </a:tcPr>
                </a:tc>
                <a:tc>
                  <a:txBody>
                    <a:bodyPr/>
                    <a:lstStyle/>
                    <a:p>
                      <a:pPr algn="ctr"/>
                      <a:r>
                        <a:rPr sz="1600" b="0">
                          <a:solidFill>
                            <a:srgbClr val="202020"/>
                          </a:solidFill>
                          <a:latin typeface="Times New Roman"/>
                        </a:rPr>
                        <a:t>0.0180</a:t>
                      </a:r>
                    </a:p>
                  </a:txBody>
                  <a:tcPr marL="36576" marR="36576" marT="9144" marB="9144">
                    <a:solidFill>
                      <a:srgbClr val="FFFFFF"/>
                    </a:solidFill>
                  </a:tcPr>
                </a:tc>
                <a:tc>
                  <a:txBody>
                    <a:bodyPr/>
                    <a:lstStyle/>
                    <a:p>
                      <a:pPr algn="ctr"/>
                      <a:r>
                        <a:rPr sz="1600" b="0">
                          <a:solidFill>
                            <a:srgbClr val="202020"/>
                          </a:solidFill>
                          <a:latin typeface="Times New Roman"/>
                        </a:rPr>
                        <a:t>0.2447</a:t>
                      </a:r>
                    </a:p>
                  </a:txBody>
                  <a:tcPr marL="36576" marR="36576" marT="9144" marB="9144">
                    <a:solidFill>
                      <a:srgbClr val="FFFFFF"/>
                    </a:solidFill>
                  </a:tcPr>
                </a:tc>
              </a:tr>
              <a:tr h="329184">
                <a:tc>
                  <a:txBody>
                    <a:bodyPr/>
                    <a:lstStyle/>
                    <a:p>
                      <a:pPr algn="ctr"/>
                      <a:r>
                        <a:rPr sz="1600" b="0">
                          <a:solidFill>
                            <a:srgbClr val="202020"/>
                          </a:solidFill>
                          <a:latin typeface="Times New Roman"/>
                        </a:rPr>
                        <a:t>P(7)</a:t>
                      </a:r>
                    </a:p>
                  </a:txBody>
                  <a:tcPr marL="36576" marR="36576" marT="9144" marB="9144">
                    <a:solidFill>
                      <a:srgbClr val="FFFFFF"/>
                    </a:solidFill>
                  </a:tcPr>
                </a:tc>
                <a:tc>
                  <a:txBody>
                    <a:bodyPr/>
                    <a:lstStyle/>
                    <a:p>
                      <a:pPr algn="ctr"/>
                      <a:r>
                        <a:rPr sz="1600" b="0">
                          <a:solidFill>
                            <a:srgbClr val="202020"/>
                          </a:solidFill>
                          <a:latin typeface="Times New Roman"/>
                        </a:rPr>
                        <a:t>0.0003</a:t>
                      </a:r>
                    </a:p>
                  </a:txBody>
                  <a:tcPr marL="36576" marR="36576" marT="9144" marB="9144">
                    <a:solidFill>
                      <a:srgbClr val="FFFFFF"/>
                    </a:solidFill>
                  </a:tcPr>
                </a:tc>
                <a:tc>
                  <a:txBody>
                    <a:bodyPr/>
                    <a:lstStyle/>
                    <a:p>
                      <a:pPr algn="ctr"/>
                      <a:r>
                        <a:rPr sz="1600" b="0">
                          <a:solidFill>
                            <a:srgbClr val="202020"/>
                          </a:solidFill>
                          <a:latin typeface="Times New Roman"/>
                        </a:rPr>
                        <a:t>0.0900</a:t>
                      </a:r>
                    </a:p>
                  </a:txBody>
                  <a:tcPr marL="36576" marR="36576" marT="9144" marB="9144">
                    <a:solidFill>
                      <a:srgbClr val="FFFFFF"/>
                    </a:solidFill>
                  </a:tcPr>
                </a:tc>
              </a:tr>
              <a:tr h="329184">
                <a:tc>
                  <a:txBody>
                    <a:bodyPr/>
                    <a:lstStyle/>
                    <a:p>
                      <a:pPr algn="ctr"/>
                      <a:r>
                        <a:rPr sz="1600" b="0">
                          <a:solidFill>
                            <a:srgbClr val="202020"/>
                          </a:solidFill>
                          <a:latin typeface="Times New Roman"/>
                        </a:rPr>
                        <a:t>P(3) / P(7)</a:t>
                      </a:r>
                    </a:p>
                  </a:txBody>
                  <a:tcPr marL="36576" marR="36576" marT="9144" marB="9144">
                    <a:solidFill>
                      <a:srgbClr val="FFFFFF"/>
                    </a:solidFill>
                  </a:tcPr>
                </a:tc>
                <a:tc>
                  <a:txBody>
                    <a:bodyPr/>
                    <a:lstStyle/>
                    <a:p>
                      <a:pPr algn="ctr"/>
                      <a:r>
                        <a:rPr sz="1600" b="0">
                          <a:solidFill>
                            <a:srgbClr val="202020"/>
                          </a:solidFill>
                          <a:latin typeface="Times New Roman"/>
                        </a:rPr>
                        <a:t>54.60</a:t>
                      </a:r>
                    </a:p>
                  </a:txBody>
                  <a:tcPr marL="36576" marR="36576" marT="9144" marB="9144">
                    <a:solidFill>
                      <a:srgbClr val="FFF3CD"/>
                    </a:solidFill>
                  </a:tcPr>
                </a:tc>
                <a:tc>
                  <a:txBody>
                    <a:bodyPr/>
                    <a:lstStyle/>
                    <a:p>
                      <a:pPr algn="ctr"/>
                      <a:r>
                        <a:rPr sz="1600" b="0">
                          <a:solidFill>
                            <a:srgbClr val="202020"/>
                          </a:solidFill>
                          <a:latin typeface="Times New Roman"/>
                        </a:rPr>
                        <a:t>2.72</a:t>
                      </a:r>
                    </a:p>
                  </a:txBody>
                  <a:tcPr marL="36576" marR="36576" marT="9144" marB="9144">
                    <a:solidFill>
                      <a:srgbClr val="FFF3CD"/>
                    </a:solidFill>
                  </a:tcPr>
                </a:tc>
              </a:tr>
            </a:tbl>
          </a:graphicData>
        </a:graphic>
      </p:graphicFrame>
      <p:sp>
        <p:nvSpPr>
          <p:cNvPr id="8" name="TextBox 7"/>
          <p:cNvSpPr txBox="1"/>
          <p:nvPr/>
        </p:nvSpPr>
        <p:spPr>
          <a:xfrm>
            <a:off x="7223760" y="2606040"/>
            <a:ext cx="4480560" cy="1097280"/>
          </a:xfrm>
          <a:prstGeom prst="rect">
            <a:avLst/>
          </a:prstGeom>
          <a:noFill/>
        </p:spPr>
        <p:txBody>
          <a:bodyPr wrap="square">
            <a:spAutoFit/>
          </a:bodyPr>
          <a:lstStyle/>
          <a:p>
            <a:r>
              <a:rPr sz="1600" b="0" i="0">
                <a:solidFill>
                  <a:srgbClr val="59636E"/>
                </a:solidFill>
                <a:latin typeface="Times New Roman"/>
              </a:rPr>
              <a:t>The ratio equals exp((4 − 0)/T):</a:t>
            </a:r>
          </a:p>
          <a:p>
            <a:r>
              <a:rPr sz="1600" b="0" i="0">
                <a:solidFill>
                  <a:srgbClr val="59636E"/>
                </a:solidFill>
                <a:latin typeface="Times New Roman"/>
              </a:rPr>
              <a:t>e⁴ = 54.60 at T = 1 and e¹ = 2.72 at T = 4.</a:t>
            </a:r>
          </a:p>
        </p:txBody>
      </p:sp>
      <p:sp>
        <p:nvSpPr>
          <p:cNvPr id="9" name="Rectangle 8"/>
          <p:cNvSpPr/>
          <p:nvPr/>
        </p:nvSpPr>
        <p:spPr>
          <a:xfrm>
            <a:off x="731520" y="3977639"/>
            <a:ext cx="10881360" cy="73152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E7A45"/>
                </a:solidFill>
                <a:latin typeface="Times New Roman"/>
              </a:rPr>
              <a:t>Soft targets: class probabilities of the cumbersome model at a high temperature, e.g. (0.6652, 0.2447, 0.0900)</a:t>
            </a:r>
          </a:p>
        </p:txBody>
      </p:sp>
      <p:sp>
        <p:nvSpPr>
          <p:cNvPr id="10" name="Rectangle 9"/>
          <p:cNvSpPr/>
          <p:nvPr/>
        </p:nvSpPr>
        <p:spPr>
          <a:xfrm>
            <a:off x="731520" y="4800600"/>
            <a:ext cx="10881360" cy="73152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F4E79"/>
                </a:solidFill>
                <a:latin typeface="Times New Roman"/>
              </a:rPr>
              <a:t>Hard targets: the correct labels, here (1, 0, 0)</a:t>
            </a:r>
          </a:p>
        </p:txBody>
      </p:sp>
      <p:sp>
        <p:nvSpPr>
          <p:cNvPr id="11" name="TextBox 10"/>
          <p:cNvSpPr txBox="1"/>
          <p:nvPr/>
        </p:nvSpPr>
        <p:spPr>
          <a:xfrm>
            <a:off x="731520" y="5669280"/>
            <a:ext cx="10881360" cy="822960"/>
          </a:xfrm>
          <a:prstGeom prst="rect">
            <a:avLst/>
          </a:prstGeom>
          <a:noFill/>
        </p:spPr>
        <p:txBody>
          <a:bodyPr wrap="square">
            <a:spAutoFit/>
          </a:bodyPr>
          <a:lstStyle/>
          <a:p>
            <a:r>
              <a:rPr sz="1500" b="0" i="0">
                <a:solidFill>
                  <a:srgbClr val="202020"/>
                </a:solidFill>
                <a:latin typeface="Times New Roman"/>
              </a:rPr>
              <a:t>When the soft targets have high entropy, they provide much more information per training case than hard targets and much less variance in the gradient between training cases, so the small model can often be trained on much less data and using a much higher learning rate.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P spid="8" grpId="0" animBg="1"/>
      <p:bldP spid="9" grpId="0" animBg="1"/>
      <p:bldP spid="10" grpId="0" animBg="1"/>
      <p:bldP spid="1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3. Distillation</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Section 2 of the paper: a weighted average of two different objective functions</a:t>
            </a:r>
          </a:p>
        </p:txBody>
      </p:sp>
      <p:pic>
        <p:nvPicPr>
          <p:cNvPr id="6" name="Picture 5" descr="m_loss.png"/>
          <p:cNvPicPr>
            <a:picLocks noChangeAspect="1"/>
          </p:cNvPicPr>
          <p:nvPr/>
        </p:nvPicPr>
        <p:blipFill>
          <a:blip r:embed="rId2"/>
          <a:stretch>
            <a:fillRect/>
          </a:stretch>
        </p:blipFill>
        <p:spPr>
          <a:xfrm>
            <a:off x="822960" y="1143000"/>
            <a:ext cx="4966071" cy="566928"/>
          </a:xfrm>
          <a:prstGeom prst="rect">
            <a:avLst/>
          </a:prstGeom>
        </p:spPr>
      </p:pic>
      <p:pic>
        <p:nvPicPr>
          <p:cNvPr id="7" name="Picture 6" descr="m_csoft.png"/>
          <p:cNvPicPr>
            <a:picLocks noChangeAspect="1"/>
          </p:cNvPicPr>
          <p:nvPr/>
        </p:nvPicPr>
        <p:blipFill>
          <a:blip r:embed="rId3"/>
          <a:stretch>
            <a:fillRect/>
          </a:stretch>
        </p:blipFill>
        <p:spPr>
          <a:xfrm>
            <a:off x="822960" y="1965960"/>
            <a:ext cx="2501019" cy="658368"/>
          </a:xfrm>
          <a:prstGeom prst="rect">
            <a:avLst/>
          </a:prstGeom>
        </p:spPr>
      </p:pic>
      <p:sp>
        <p:nvSpPr>
          <p:cNvPr id="8" name="TextBox 7"/>
          <p:cNvSpPr txBox="1"/>
          <p:nvPr/>
        </p:nvSpPr>
        <p:spPr>
          <a:xfrm>
            <a:off x="5120640" y="1965960"/>
            <a:ext cx="6583680" cy="822960"/>
          </a:xfrm>
          <a:prstGeom prst="rect">
            <a:avLst/>
          </a:prstGeom>
          <a:noFill/>
        </p:spPr>
        <p:txBody>
          <a:bodyPr wrap="square">
            <a:spAutoFit/>
          </a:bodyPr>
          <a:lstStyle/>
          <a:p>
            <a:r>
              <a:rPr sz="1600" b="0" i="0">
                <a:solidFill>
                  <a:srgbClr val="202020"/>
                </a:solidFill>
                <a:latin typeface="Times New Roman"/>
              </a:rPr>
              <a:t>The cross entropy with the soft targets, computed using the same high temperature in the softmax of the distilled model as was used for generating the soft targets</a:t>
            </a:r>
          </a:p>
        </p:txBody>
      </p:sp>
      <p:pic>
        <p:nvPicPr>
          <p:cNvPr id="9" name="Picture 8" descr="m_chard.png"/>
          <p:cNvPicPr>
            <a:picLocks noChangeAspect="1"/>
          </p:cNvPicPr>
          <p:nvPr/>
        </p:nvPicPr>
        <p:blipFill>
          <a:blip r:embed="rId4"/>
          <a:stretch>
            <a:fillRect/>
          </a:stretch>
        </p:blipFill>
        <p:spPr>
          <a:xfrm>
            <a:off x="822960" y="2880360"/>
            <a:ext cx="3133023" cy="566928"/>
          </a:xfrm>
          <a:prstGeom prst="rect">
            <a:avLst/>
          </a:prstGeom>
        </p:spPr>
      </p:pic>
      <p:sp>
        <p:nvSpPr>
          <p:cNvPr id="10" name="TextBox 9"/>
          <p:cNvSpPr txBox="1"/>
          <p:nvPr/>
        </p:nvSpPr>
        <p:spPr>
          <a:xfrm>
            <a:off x="5120640" y="2880360"/>
            <a:ext cx="6583680" cy="822960"/>
          </a:xfrm>
          <a:prstGeom prst="rect">
            <a:avLst/>
          </a:prstGeom>
          <a:noFill/>
        </p:spPr>
        <p:txBody>
          <a:bodyPr wrap="square">
            <a:spAutoFit/>
          </a:bodyPr>
          <a:lstStyle/>
          <a:p>
            <a:r>
              <a:rPr sz="1600" b="0" i="0">
                <a:solidFill>
                  <a:srgbClr val="202020"/>
                </a:solidFill>
                <a:latin typeface="Times New Roman"/>
              </a:rPr>
              <a:t>The cross entropy with the correct labels, computed using exactly the same logits in the softmax of the distilled model but at a temperature of 1</a:t>
            </a:r>
          </a:p>
        </p:txBody>
      </p:sp>
      <p:sp>
        <p:nvSpPr>
          <p:cNvPr id="11" name="Rectangle 10"/>
          <p:cNvSpPr/>
          <p:nvPr/>
        </p:nvSpPr>
        <p:spPr>
          <a:xfrm>
            <a:off x="731520" y="3840480"/>
            <a:ext cx="5303520" cy="1188720"/>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0">
                <a:solidFill>
                  <a:srgbClr val="1F4E79"/>
                </a:solidFill>
                <a:latin typeface="Times New Roman"/>
              </a:rPr>
              <a:t>α: we found that the best results were</a:t>
            </a:r>
          </a:p>
          <a:p>
            <a:pPr algn="l"/>
            <a:r>
              <a:rPr sz="1600" b="0">
                <a:solidFill>
                  <a:srgbClr val="1F4E79"/>
                </a:solidFill>
                <a:latin typeface="Times New Roman"/>
              </a:rPr>
              <a:t>generally obtained by using a considerably</a:t>
            </a:r>
          </a:p>
          <a:p>
            <a:pPr algn="l"/>
            <a:r>
              <a:rPr sz="1600" b="0">
                <a:solidFill>
                  <a:srgbClr val="1F4E79"/>
                </a:solidFill>
                <a:latin typeface="Times New Roman"/>
              </a:rPr>
              <a:t>lower weight on the second objective; α = 0.9</a:t>
            </a:r>
          </a:p>
        </p:txBody>
      </p:sp>
      <p:sp>
        <p:nvSpPr>
          <p:cNvPr id="12" name="Rectangle 11"/>
          <p:cNvSpPr/>
          <p:nvPr/>
        </p:nvSpPr>
        <p:spPr>
          <a:xfrm>
            <a:off x="6309360" y="3840480"/>
            <a:ext cx="5303520" cy="118872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0">
                <a:solidFill>
                  <a:srgbClr val="C03030"/>
                </a:solidFill>
                <a:latin typeface="Times New Roman"/>
              </a:rPr>
              <a:t>T²: the magnitudes of the gradients produced by</a:t>
            </a:r>
          </a:p>
          <a:p>
            <a:pPr algn="l"/>
            <a:r>
              <a:rPr sz="1600" b="0">
                <a:solidFill>
                  <a:srgbClr val="C03030"/>
                </a:solidFill>
                <a:latin typeface="Times New Roman"/>
              </a:rPr>
              <a:t>the soft targets scale as 1/T², so we multiply</a:t>
            </a:r>
          </a:p>
          <a:p>
            <a:pPr algn="l"/>
            <a:r>
              <a:rPr sz="1600" b="0">
                <a:solidFill>
                  <a:srgbClr val="C03030"/>
                </a:solidFill>
                <a:latin typeface="Times New Roman"/>
              </a:rPr>
              <a:t>them by T² (checked on slide 13)</a:t>
            </a:r>
          </a:p>
        </p:txBody>
      </p:sp>
      <p:sp>
        <p:nvSpPr>
          <p:cNvPr id="13" name="TextBox 12"/>
          <p:cNvSpPr txBox="1"/>
          <p:nvPr/>
        </p:nvSpPr>
        <p:spPr>
          <a:xfrm>
            <a:off x="731520" y="5257800"/>
            <a:ext cx="10881360" cy="914400"/>
          </a:xfrm>
          <a:prstGeom prst="rect">
            <a:avLst/>
          </a:prstGeom>
          <a:noFill/>
        </p:spPr>
        <p:txBody>
          <a:bodyPr wrap="square">
            <a:spAutoFit/>
          </a:bodyPr>
          <a:lstStyle/>
          <a:p>
            <a:r>
              <a:rPr sz="1900" b="1" i="0">
                <a:solidFill>
                  <a:srgbClr val="1E7A45"/>
                </a:solidFill>
                <a:latin typeface="Times New Roman"/>
              </a:rPr>
              <a:t>After it has been trained, the distilled model uses a temperature of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3. Computing C_soft step by step: T = 4</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The softmax of the distilled logits z = (4, 2, 2), then the cross entropy with the soft targets p</a:t>
            </a:r>
          </a:p>
        </p:txBody>
      </p:sp>
      <p:graphicFrame>
        <p:nvGraphicFramePr>
          <p:cNvPr id="6" name="Table 5"/>
          <p:cNvGraphicFramePr>
            <a:graphicFrameLocks noGrp="1"/>
          </p:cNvGraphicFramePr>
          <p:nvPr/>
        </p:nvGraphicFramePr>
        <p:xfrm>
          <a:off x="731520" y="1143000"/>
          <a:ext cx="1005840" cy="1316736"/>
        </p:xfrm>
        <a:graphic>
          <a:graphicData uri="http://schemas.openxmlformats.org/drawingml/2006/table">
            <a:tbl>
              <a:tblPr bandRow="1">
                <a:tableStyleId>{5C22544A-7EE6-4342-B048-85BDC9FD1C3A}</a:tableStyleId>
              </a:tblPr>
              <a:tblGrid>
                <a:gridCol w="100584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7" name="Table 6"/>
          <p:cNvGraphicFramePr>
            <a:graphicFrameLocks noGrp="1"/>
          </p:cNvGraphicFramePr>
          <p:nvPr/>
        </p:nvGraphicFramePr>
        <p:xfrm>
          <a:off x="1828800" y="1143000"/>
          <a:ext cx="1188720" cy="1316736"/>
        </p:xfrm>
        <a:graphic>
          <a:graphicData uri="http://schemas.openxmlformats.org/drawingml/2006/table">
            <a:tbl>
              <a:tblPr bandRow="1">
                <a:tableStyleId>{5C22544A-7EE6-4342-B048-85BDC9FD1C3A}</a:tableStyleId>
              </a:tblPr>
              <a:tblGrid>
                <a:gridCol w="1188720"/>
              </a:tblGrid>
              <a:tr h="329184">
                <a:tc>
                  <a:txBody>
                    <a:bodyPr/>
                    <a:lstStyle/>
                    <a:p>
                      <a:pPr algn="ctr"/>
                      <a:r>
                        <a:rPr sz="1600" b="1">
                          <a:solidFill>
                            <a:srgbClr val="FFFFFF"/>
                          </a:solidFill>
                          <a:latin typeface="Times New Roman"/>
                        </a:rPr>
                        <a:t>z</a:t>
                      </a:r>
                    </a:p>
                  </a:txBody>
                  <a:tcPr marL="36576" marR="36576" marT="9144" marB="9144">
                    <a:solidFill>
                      <a:srgbClr val="1F4E79"/>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bl>
          </a:graphicData>
        </a:graphic>
      </p:graphicFrame>
      <p:graphicFrame>
        <p:nvGraphicFramePr>
          <p:cNvPr id="8" name="Table 7"/>
          <p:cNvGraphicFramePr>
            <a:graphicFrameLocks noGrp="1"/>
          </p:cNvGraphicFramePr>
          <p:nvPr/>
        </p:nvGraphicFramePr>
        <p:xfrm>
          <a:off x="3108960" y="1143000"/>
          <a:ext cx="1371600" cy="1316736"/>
        </p:xfrm>
        <a:graphic>
          <a:graphicData uri="http://schemas.openxmlformats.org/drawingml/2006/table">
            <a:tbl>
              <a:tblPr bandRow="1">
                <a:tableStyleId>{5C22544A-7EE6-4342-B048-85BDC9FD1C3A}</a:tableStyleId>
              </a:tblPr>
              <a:tblGrid>
                <a:gridCol w="1371600"/>
              </a:tblGrid>
              <a:tr h="329184">
                <a:tc>
                  <a:txBody>
                    <a:bodyPr/>
                    <a:lstStyle/>
                    <a:p>
                      <a:pPr algn="ctr"/>
                      <a:r>
                        <a:rPr sz="1600" b="1">
                          <a:solidFill>
                            <a:srgbClr val="FFFFFF"/>
                          </a:solidFill>
                          <a:latin typeface="Times New Roman"/>
                        </a:rPr>
                        <a:t>z / 4</a:t>
                      </a:r>
                    </a:p>
                  </a:txBody>
                  <a:tcPr marL="36576" marR="36576" marT="9144" marB="9144">
                    <a:solidFill>
                      <a:srgbClr val="1F4E79"/>
                    </a:solidFill>
                  </a:tcPr>
                </a:tc>
              </a:tr>
              <a:tr h="329184">
                <a:tc>
                  <a:txBody>
                    <a:bodyPr/>
                    <a:lstStyle/>
                    <a:p>
                      <a:pPr algn="ctr"/>
                      <a:r>
                        <a:rPr sz="1600" b="0">
                          <a:solidFill>
                            <a:srgbClr val="202020"/>
                          </a:solidFill>
                          <a:latin typeface="Times New Roman"/>
                        </a:rPr>
                        <a:t>1.0000</a:t>
                      </a:r>
                    </a:p>
                  </a:txBody>
                  <a:tcPr marL="36576" marR="36576" marT="9144" marB="9144">
                    <a:solidFill>
                      <a:srgbClr val="FFFFFF"/>
                    </a:solidFill>
                  </a:tcPr>
                </a:tc>
              </a:tr>
              <a:tr h="329184">
                <a:tc>
                  <a:txBody>
                    <a:bodyPr/>
                    <a:lstStyle/>
                    <a:p>
                      <a:pPr algn="ctr"/>
                      <a:r>
                        <a:rPr sz="1600" b="0">
                          <a:solidFill>
                            <a:srgbClr val="202020"/>
                          </a:solidFill>
                          <a:latin typeface="Times New Roman"/>
                        </a:rPr>
                        <a:t>0.5000</a:t>
                      </a:r>
                    </a:p>
                  </a:txBody>
                  <a:tcPr marL="36576" marR="36576" marT="9144" marB="9144">
                    <a:solidFill>
                      <a:srgbClr val="FFFFFF"/>
                    </a:solidFill>
                  </a:tcPr>
                </a:tc>
              </a:tr>
              <a:tr h="329184">
                <a:tc>
                  <a:txBody>
                    <a:bodyPr/>
                    <a:lstStyle/>
                    <a:p>
                      <a:pPr algn="ctr"/>
                      <a:r>
                        <a:rPr sz="1600" b="0">
                          <a:solidFill>
                            <a:srgbClr val="202020"/>
                          </a:solidFill>
                          <a:latin typeface="Times New Roman"/>
                        </a:rPr>
                        <a:t>0.5000</a:t>
                      </a:r>
                    </a:p>
                  </a:txBody>
                  <a:tcPr marL="36576" marR="36576" marT="9144" marB="9144">
                    <a:solidFill>
                      <a:srgbClr val="FFFFFF"/>
                    </a:solidFill>
                  </a:tcPr>
                </a:tc>
              </a:tr>
            </a:tbl>
          </a:graphicData>
        </a:graphic>
      </p:graphicFrame>
      <p:graphicFrame>
        <p:nvGraphicFramePr>
          <p:cNvPr id="9" name="Table 8"/>
          <p:cNvGraphicFramePr>
            <a:graphicFrameLocks noGrp="1"/>
          </p:cNvGraphicFramePr>
          <p:nvPr/>
        </p:nvGraphicFramePr>
        <p:xfrm>
          <a:off x="4572000" y="114300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exp</a:t>
                      </a:r>
                    </a:p>
                  </a:txBody>
                  <a:tcPr marL="36576" marR="36576" marT="9144" marB="9144">
                    <a:solidFill>
                      <a:srgbClr val="1F4E79"/>
                    </a:solidFill>
                  </a:tcPr>
                </a:tc>
              </a:tr>
              <a:tr h="329184">
                <a:tc>
                  <a:txBody>
                    <a:bodyPr/>
                    <a:lstStyle/>
                    <a:p>
                      <a:pPr algn="ctr"/>
                      <a:r>
                        <a:rPr sz="1600" b="0">
                          <a:solidFill>
                            <a:srgbClr val="202020"/>
                          </a:solidFill>
                          <a:latin typeface="Times New Roman"/>
                        </a:rPr>
                        <a:t>2.7183</a:t>
                      </a:r>
                    </a:p>
                  </a:txBody>
                  <a:tcPr marL="36576" marR="36576" marT="9144" marB="9144">
                    <a:solidFill>
                      <a:srgbClr val="FFFFFF"/>
                    </a:solidFill>
                  </a:tcPr>
                </a:tc>
              </a:tr>
              <a:tr h="329184">
                <a:tc>
                  <a:txBody>
                    <a:bodyPr/>
                    <a:lstStyle/>
                    <a:p>
                      <a:pPr algn="ctr"/>
                      <a:r>
                        <a:rPr sz="1600" b="0">
                          <a:solidFill>
                            <a:srgbClr val="202020"/>
                          </a:solidFill>
                          <a:latin typeface="Times New Roman"/>
                        </a:rPr>
                        <a:t>1.6487</a:t>
                      </a:r>
                    </a:p>
                  </a:txBody>
                  <a:tcPr marL="36576" marR="36576" marT="9144" marB="9144">
                    <a:solidFill>
                      <a:srgbClr val="FFFFFF"/>
                    </a:solidFill>
                  </a:tcPr>
                </a:tc>
              </a:tr>
              <a:tr h="329184">
                <a:tc>
                  <a:txBody>
                    <a:bodyPr/>
                    <a:lstStyle/>
                    <a:p>
                      <a:pPr algn="ctr"/>
                      <a:r>
                        <a:rPr sz="1600" b="0">
                          <a:solidFill>
                            <a:srgbClr val="202020"/>
                          </a:solidFill>
                          <a:latin typeface="Times New Roman"/>
                        </a:rPr>
                        <a:t>1.6487</a:t>
                      </a:r>
                    </a:p>
                  </a:txBody>
                  <a:tcPr marL="36576" marR="36576" marT="9144" marB="9144">
                    <a:solidFill>
                      <a:srgbClr val="FFFFFF"/>
                    </a:solidFill>
                  </a:tcPr>
                </a:tc>
              </a:tr>
            </a:tbl>
          </a:graphicData>
        </a:graphic>
      </p:graphicFrame>
      <p:sp>
        <p:nvSpPr>
          <p:cNvPr id="10" name="Rectangle 9"/>
          <p:cNvSpPr/>
          <p:nvPr/>
        </p:nvSpPr>
        <p:spPr>
          <a:xfrm>
            <a:off x="6126480" y="1143000"/>
            <a:ext cx="1554480" cy="1316736"/>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4E79"/>
                </a:solidFill>
                <a:latin typeface="Times New Roman"/>
              </a:rPr>
              <a:t>sum</a:t>
            </a:r>
          </a:p>
          <a:p>
            <a:pPr algn="ctr"/>
            <a:r>
              <a:rPr sz="1700" b="1">
                <a:solidFill>
                  <a:srgbClr val="1F4E79"/>
                </a:solidFill>
                <a:latin typeface="Times New Roman"/>
              </a:rPr>
              <a:t>6.0157</a:t>
            </a:r>
          </a:p>
        </p:txBody>
      </p:sp>
      <p:graphicFrame>
        <p:nvGraphicFramePr>
          <p:cNvPr id="11" name="Table 10"/>
          <p:cNvGraphicFramePr>
            <a:graphicFrameLocks noGrp="1"/>
          </p:cNvGraphicFramePr>
          <p:nvPr/>
        </p:nvGraphicFramePr>
        <p:xfrm>
          <a:off x="7772400" y="114300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q</a:t>
                      </a:r>
                    </a:p>
                  </a:txBody>
                  <a:tcPr marL="36576" marR="36576" marT="9144" marB="9144">
                    <a:solidFill>
                      <a:srgbClr val="1F4E79"/>
                    </a:solidFill>
                  </a:tcPr>
                </a:tc>
              </a:tr>
              <a:tr h="329184">
                <a:tc>
                  <a:txBody>
                    <a:bodyPr/>
                    <a:lstStyle/>
                    <a:p>
                      <a:pPr algn="ctr"/>
                      <a:r>
                        <a:rPr sz="1600" b="0">
                          <a:solidFill>
                            <a:srgbClr val="202020"/>
                          </a:solidFill>
                          <a:latin typeface="Times New Roman"/>
                        </a:rPr>
                        <a:t>0.4519</a:t>
                      </a:r>
                    </a:p>
                  </a:txBody>
                  <a:tcPr marL="36576" marR="36576" marT="9144" marB="9144">
                    <a:solidFill>
                      <a:srgbClr val="FFFFFF"/>
                    </a:solidFill>
                  </a:tcPr>
                </a:tc>
              </a:tr>
              <a:tr h="329184">
                <a:tc>
                  <a:txBody>
                    <a:bodyPr/>
                    <a:lstStyle/>
                    <a:p>
                      <a:pPr algn="ctr"/>
                      <a:r>
                        <a:rPr sz="1600" b="0">
                          <a:solidFill>
                            <a:srgbClr val="202020"/>
                          </a:solidFill>
                          <a:latin typeface="Times New Roman"/>
                        </a:rPr>
                        <a:t>0.2741</a:t>
                      </a:r>
                    </a:p>
                  </a:txBody>
                  <a:tcPr marL="36576" marR="36576" marT="9144" marB="9144">
                    <a:solidFill>
                      <a:srgbClr val="FFFFFF"/>
                    </a:solidFill>
                  </a:tcPr>
                </a:tc>
              </a:tr>
              <a:tr h="329184">
                <a:tc>
                  <a:txBody>
                    <a:bodyPr/>
                    <a:lstStyle/>
                    <a:p>
                      <a:pPr algn="ctr"/>
                      <a:r>
                        <a:rPr sz="1600" b="0">
                          <a:solidFill>
                            <a:srgbClr val="202020"/>
                          </a:solidFill>
                          <a:latin typeface="Times New Roman"/>
                        </a:rPr>
                        <a:t>0.2741</a:t>
                      </a:r>
                    </a:p>
                  </a:txBody>
                  <a:tcPr marL="36576" marR="36576" marT="9144" marB="9144">
                    <a:solidFill>
                      <a:srgbClr val="FFFFFF"/>
                    </a:solidFill>
                  </a:tcPr>
                </a:tc>
              </a:tr>
            </a:tbl>
          </a:graphicData>
        </a:graphic>
      </p:graphicFrame>
      <p:sp>
        <p:nvSpPr>
          <p:cNvPr id="12" name="TextBox 11"/>
          <p:cNvSpPr txBox="1"/>
          <p:nvPr/>
        </p:nvSpPr>
        <p:spPr>
          <a:xfrm>
            <a:off x="9418320" y="1234440"/>
            <a:ext cx="2377440" cy="1188720"/>
          </a:xfrm>
          <a:prstGeom prst="rect">
            <a:avLst/>
          </a:prstGeom>
          <a:noFill/>
        </p:spPr>
        <p:txBody>
          <a:bodyPr wrap="square">
            <a:spAutoFit/>
          </a:bodyPr>
          <a:lstStyle/>
          <a:p>
            <a:r>
              <a:rPr sz="1500" b="0" i="0">
                <a:solidFill>
                  <a:srgbClr val="59636E"/>
                </a:solidFill>
                <a:latin typeface="Times New Roman"/>
              </a:rPr>
              <a:t>At T = 4 the distilled</a:t>
            </a:r>
          </a:p>
          <a:p>
            <a:r>
              <a:rPr sz="1500" b="0" i="0">
                <a:solidFill>
                  <a:srgbClr val="59636E"/>
                </a:solidFill>
                <a:latin typeface="Times New Roman"/>
              </a:rPr>
              <a:t>model gives 3 and 7</a:t>
            </a:r>
          </a:p>
          <a:p>
            <a:r>
              <a:rPr sz="1500" b="0" i="0">
                <a:solidFill>
                  <a:srgbClr val="59636E"/>
                </a:solidFill>
                <a:latin typeface="Times New Roman"/>
              </a:rPr>
              <a:t>the same probability</a:t>
            </a:r>
          </a:p>
        </p:txBody>
      </p:sp>
      <p:graphicFrame>
        <p:nvGraphicFramePr>
          <p:cNvPr id="13" name="Table 12"/>
          <p:cNvGraphicFramePr>
            <a:graphicFrameLocks noGrp="1"/>
          </p:cNvGraphicFramePr>
          <p:nvPr/>
        </p:nvGraphicFramePr>
        <p:xfrm>
          <a:off x="731520" y="2880360"/>
          <a:ext cx="1005840" cy="1316736"/>
        </p:xfrm>
        <a:graphic>
          <a:graphicData uri="http://schemas.openxmlformats.org/drawingml/2006/table">
            <a:tbl>
              <a:tblPr bandRow="1">
                <a:tableStyleId>{5C22544A-7EE6-4342-B048-85BDC9FD1C3A}</a:tableStyleId>
              </a:tblPr>
              <a:tblGrid>
                <a:gridCol w="100584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14" name="Table 13"/>
          <p:cNvGraphicFramePr>
            <a:graphicFrameLocks noGrp="1"/>
          </p:cNvGraphicFramePr>
          <p:nvPr/>
        </p:nvGraphicFramePr>
        <p:xfrm>
          <a:off x="1828800" y="2880360"/>
          <a:ext cx="1645920" cy="1316736"/>
        </p:xfrm>
        <a:graphic>
          <a:graphicData uri="http://schemas.openxmlformats.org/drawingml/2006/table">
            <a:tbl>
              <a:tblPr bandRow="1">
                <a:tableStyleId>{5C22544A-7EE6-4342-B048-85BDC9FD1C3A}</a:tableStyleId>
              </a:tblPr>
              <a:tblGrid>
                <a:gridCol w="1645920"/>
              </a:tblGrid>
              <a:tr h="329184">
                <a:tc>
                  <a:txBody>
                    <a:bodyPr/>
                    <a:lstStyle/>
                    <a:p>
                      <a:pPr algn="ctr"/>
                      <a:r>
                        <a:rPr sz="1600" b="1">
                          <a:solidFill>
                            <a:srgbClr val="FFFFFF"/>
                          </a:solidFill>
                          <a:latin typeface="Times New Roman"/>
                        </a:rPr>
                        <a:t>p</a:t>
                      </a:r>
                    </a:p>
                  </a:txBody>
                  <a:tcPr marL="36576" marR="36576" marT="9144" marB="9144">
                    <a:solidFill>
                      <a:srgbClr val="1F4E79"/>
                    </a:solidFill>
                  </a:tcPr>
                </a:tc>
              </a:tr>
              <a:tr h="329184">
                <a:tc>
                  <a:txBody>
                    <a:bodyPr/>
                    <a:lstStyle/>
                    <a:p>
                      <a:pPr algn="ctr"/>
                      <a:r>
                        <a:rPr sz="1600" b="0">
                          <a:solidFill>
                            <a:srgbClr val="202020"/>
                          </a:solidFill>
                          <a:latin typeface="Times New Roman"/>
                        </a:rPr>
                        <a:t>0.6652</a:t>
                      </a:r>
                    </a:p>
                  </a:txBody>
                  <a:tcPr marL="36576" marR="36576" marT="9144" marB="9144">
                    <a:solidFill>
                      <a:srgbClr val="FFFFFF"/>
                    </a:solidFill>
                  </a:tcPr>
                </a:tc>
              </a:tr>
              <a:tr h="329184">
                <a:tc>
                  <a:txBody>
                    <a:bodyPr/>
                    <a:lstStyle/>
                    <a:p>
                      <a:pPr algn="ctr"/>
                      <a:r>
                        <a:rPr sz="1600" b="0">
                          <a:solidFill>
                            <a:srgbClr val="202020"/>
                          </a:solidFill>
                          <a:latin typeface="Times New Roman"/>
                        </a:rPr>
                        <a:t>0.2447</a:t>
                      </a:r>
                    </a:p>
                  </a:txBody>
                  <a:tcPr marL="36576" marR="36576" marT="9144" marB="9144">
                    <a:solidFill>
                      <a:srgbClr val="FFFFFF"/>
                    </a:solidFill>
                  </a:tcPr>
                </a:tc>
              </a:tr>
              <a:tr h="329184">
                <a:tc>
                  <a:txBody>
                    <a:bodyPr/>
                    <a:lstStyle/>
                    <a:p>
                      <a:pPr algn="ctr"/>
                      <a:r>
                        <a:rPr sz="1600" b="0">
                          <a:solidFill>
                            <a:srgbClr val="202020"/>
                          </a:solidFill>
                          <a:latin typeface="Times New Roman"/>
                        </a:rPr>
                        <a:t>0.0900</a:t>
                      </a:r>
                    </a:p>
                  </a:txBody>
                  <a:tcPr marL="36576" marR="36576" marT="9144" marB="9144">
                    <a:solidFill>
                      <a:srgbClr val="FFFFFF"/>
                    </a:solidFill>
                  </a:tcPr>
                </a:tc>
              </a:tr>
            </a:tbl>
          </a:graphicData>
        </a:graphic>
      </p:graphicFrame>
      <p:graphicFrame>
        <p:nvGraphicFramePr>
          <p:cNvPr id="15" name="Table 14"/>
          <p:cNvGraphicFramePr>
            <a:graphicFrameLocks noGrp="1"/>
          </p:cNvGraphicFramePr>
          <p:nvPr/>
        </p:nvGraphicFramePr>
        <p:xfrm>
          <a:off x="3566160" y="2880360"/>
          <a:ext cx="1645920" cy="1316736"/>
        </p:xfrm>
        <a:graphic>
          <a:graphicData uri="http://schemas.openxmlformats.org/drawingml/2006/table">
            <a:tbl>
              <a:tblPr bandRow="1">
                <a:tableStyleId>{5C22544A-7EE6-4342-B048-85BDC9FD1C3A}</a:tableStyleId>
              </a:tblPr>
              <a:tblGrid>
                <a:gridCol w="1645920"/>
              </a:tblGrid>
              <a:tr h="329184">
                <a:tc>
                  <a:txBody>
                    <a:bodyPr/>
                    <a:lstStyle/>
                    <a:p>
                      <a:pPr algn="ctr"/>
                      <a:r>
                        <a:rPr sz="1600" b="1">
                          <a:solidFill>
                            <a:srgbClr val="FFFFFF"/>
                          </a:solidFill>
                          <a:latin typeface="Times New Roman"/>
                        </a:rPr>
                        <a:t>log q</a:t>
                      </a:r>
                    </a:p>
                  </a:txBody>
                  <a:tcPr marL="36576" marR="36576" marT="9144" marB="9144">
                    <a:solidFill>
                      <a:srgbClr val="1F4E79"/>
                    </a:solidFill>
                  </a:tcPr>
                </a:tc>
              </a:tr>
              <a:tr h="329184">
                <a:tc>
                  <a:txBody>
                    <a:bodyPr/>
                    <a:lstStyle/>
                    <a:p>
                      <a:pPr algn="ctr"/>
                      <a:r>
                        <a:rPr sz="1600" b="0">
                          <a:solidFill>
                            <a:srgbClr val="202020"/>
                          </a:solidFill>
                          <a:latin typeface="Times New Roman"/>
                        </a:rPr>
                        <a:t>-0.7944</a:t>
                      </a:r>
                    </a:p>
                  </a:txBody>
                  <a:tcPr marL="36576" marR="36576" marT="9144" marB="9144">
                    <a:solidFill>
                      <a:srgbClr val="FFFFFF"/>
                    </a:solidFill>
                  </a:tcPr>
                </a:tc>
              </a:tr>
              <a:tr h="329184">
                <a:tc>
                  <a:txBody>
                    <a:bodyPr/>
                    <a:lstStyle/>
                    <a:p>
                      <a:pPr algn="ctr"/>
                      <a:r>
                        <a:rPr sz="1600" b="0">
                          <a:solidFill>
                            <a:srgbClr val="202020"/>
                          </a:solidFill>
                          <a:latin typeface="Times New Roman"/>
                        </a:rPr>
                        <a:t>-1.2944</a:t>
                      </a:r>
                    </a:p>
                  </a:txBody>
                  <a:tcPr marL="36576" marR="36576" marT="9144" marB="9144">
                    <a:solidFill>
                      <a:srgbClr val="FFFFFF"/>
                    </a:solidFill>
                  </a:tcPr>
                </a:tc>
              </a:tr>
              <a:tr h="329184">
                <a:tc>
                  <a:txBody>
                    <a:bodyPr/>
                    <a:lstStyle/>
                    <a:p>
                      <a:pPr algn="ctr"/>
                      <a:r>
                        <a:rPr sz="1600" b="0">
                          <a:solidFill>
                            <a:srgbClr val="202020"/>
                          </a:solidFill>
                          <a:latin typeface="Times New Roman"/>
                        </a:rPr>
                        <a:t>-1.2944</a:t>
                      </a:r>
                    </a:p>
                  </a:txBody>
                  <a:tcPr marL="36576" marR="36576" marT="9144" marB="9144">
                    <a:solidFill>
                      <a:srgbClr val="FFFFFF"/>
                    </a:solidFill>
                  </a:tcPr>
                </a:tc>
              </a:tr>
            </a:tbl>
          </a:graphicData>
        </a:graphic>
      </p:graphicFrame>
      <p:graphicFrame>
        <p:nvGraphicFramePr>
          <p:cNvPr id="16" name="Table 15"/>
          <p:cNvGraphicFramePr>
            <a:graphicFrameLocks noGrp="1"/>
          </p:cNvGraphicFramePr>
          <p:nvPr/>
        </p:nvGraphicFramePr>
        <p:xfrm>
          <a:off x="5303520" y="2880360"/>
          <a:ext cx="1828800" cy="1316736"/>
        </p:xfrm>
        <a:graphic>
          <a:graphicData uri="http://schemas.openxmlformats.org/drawingml/2006/table">
            <a:tbl>
              <a:tblPr bandRow="1">
                <a:tableStyleId>{5C22544A-7EE6-4342-B048-85BDC9FD1C3A}</a:tableStyleId>
              </a:tblPr>
              <a:tblGrid>
                <a:gridCol w="1828800"/>
              </a:tblGrid>
              <a:tr h="329184">
                <a:tc>
                  <a:txBody>
                    <a:bodyPr/>
                    <a:lstStyle/>
                    <a:p>
                      <a:pPr algn="ctr"/>
                      <a:r>
                        <a:rPr sz="1600" b="1">
                          <a:solidFill>
                            <a:srgbClr val="FFFFFF"/>
                          </a:solidFill>
                          <a:latin typeface="Times New Roman"/>
                        </a:rPr>
                        <a:t>p × log q</a:t>
                      </a:r>
                    </a:p>
                  </a:txBody>
                  <a:tcPr marL="36576" marR="36576" marT="9144" marB="9144">
                    <a:solidFill>
                      <a:srgbClr val="1F4E79"/>
                    </a:solidFill>
                  </a:tcPr>
                </a:tc>
              </a:tr>
              <a:tr h="329184">
                <a:tc>
                  <a:txBody>
                    <a:bodyPr/>
                    <a:lstStyle/>
                    <a:p>
                      <a:pPr algn="ctr"/>
                      <a:r>
                        <a:rPr sz="1600" b="0">
                          <a:solidFill>
                            <a:srgbClr val="202020"/>
                          </a:solidFill>
                          <a:latin typeface="Times New Roman"/>
                        </a:rPr>
                        <a:t>-0.5285</a:t>
                      </a:r>
                    </a:p>
                  </a:txBody>
                  <a:tcPr marL="36576" marR="36576" marT="9144" marB="9144">
                    <a:solidFill>
                      <a:srgbClr val="FFFFFF"/>
                    </a:solidFill>
                  </a:tcPr>
                </a:tc>
              </a:tr>
              <a:tr h="329184">
                <a:tc>
                  <a:txBody>
                    <a:bodyPr/>
                    <a:lstStyle/>
                    <a:p>
                      <a:pPr algn="ctr"/>
                      <a:r>
                        <a:rPr sz="1600" b="0">
                          <a:solidFill>
                            <a:srgbClr val="202020"/>
                          </a:solidFill>
                          <a:latin typeface="Times New Roman"/>
                        </a:rPr>
                        <a:t>-0.3168</a:t>
                      </a:r>
                    </a:p>
                  </a:txBody>
                  <a:tcPr marL="36576" marR="36576" marT="9144" marB="9144">
                    <a:solidFill>
                      <a:srgbClr val="FFFFFF"/>
                    </a:solidFill>
                  </a:tcPr>
                </a:tc>
              </a:tr>
              <a:tr h="329184">
                <a:tc>
                  <a:txBody>
                    <a:bodyPr/>
                    <a:lstStyle/>
                    <a:p>
                      <a:pPr algn="ctr"/>
                      <a:r>
                        <a:rPr sz="1600" b="0">
                          <a:solidFill>
                            <a:srgbClr val="202020"/>
                          </a:solidFill>
                          <a:latin typeface="Times New Roman"/>
                        </a:rPr>
                        <a:t>-0.1165</a:t>
                      </a:r>
                    </a:p>
                  </a:txBody>
                  <a:tcPr marL="36576" marR="36576" marT="9144" marB="9144">
                    <a:solidFill>
                      <a:srgbClr val="FFFFFF"/>
                    </a:solidFill>
                  </a:tcPr>
                </a:tc>
              </a:tr>
            </a:tbl>
          </a:graphicData>
        </a:graphic>
      </p:graphicFrame>
      <p:sp>
        <p:nvSpPr>
          <p:cNvPr id="17" name="Rectangle 16"/>
          <p:cNvSpPr/>
          <p:nvPr/>
        </p:nvSpPr>
        <p:spPr>
          <a:xfrm>
            <a:off x="7223760" y="2880360"/>
            <a:ext cx="4389120" cy="1316736"/>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E7A45"/>
                </a:solidFill>
                <a:latin typeface="Times New Roman"/>
              </a:rPr>
              <a:t>Sum of the three rows = -0.9618</a:t>
            </a:r>
          </a:p>
          <a:p>
            <a:pPr algn="ctr"/>
            <a:r>
              <a:rPr sz="1900" b="1">
                <a:solidFill>
                  <a:srgbClr val="1E7A45"/>
                </a:solidFill>
                <a:latin typeface="Times New Roman"/>
              </a:rPr>
              <a:t>C_soft = −(sum) = 0.9618</a:t>
            </a:r>
          </a:p>
        </p:txBody>
      </p:sp>
      <p:sp>
        <p:nvSpPr>
          <p:cNvPr id="18" name="TextBox 17"/>
          <p:cNvSpPr txBox="1"/>
          <p:nvPr/>
        </p:nvSpPr>
        <p:spPr>
          <a:xfrm>
            <a:off x="731520" y="4434840"/>
            <a:ext cx="10881360" cy="1463040"/>
          </a:xfrm>
          <a:prstGeom prst="rect">
            <a:avLst/>
          </a:prstGeom>
          <a:noFill/>
        </p:spPr>
        <p:txBody>
          <a:bodyPr wrap="square">
            <a:spAutoFit/>
          </a:bodyPr>
          <a:lstStyle/>
          <a:p>
            <a:r>
              <a:rPr sz="1600" b="0" i="0">
                <a:solidFill>
                  <a:srgbClr val="202020"/>
                </a:solidFill>
                <a:latin typeface="Times New Roman"/>
              </a:rPr>
              <a:t>Here log denotes the natural logarithm. Entries are rounded to four decimal places; the sum is computed from unrounded values.</a:t>
            </a:r>
          </a:p>
          <a:p>
            <a:r>
              <a:rPr sz="1600" b="0" i="0">
                <a:solidFill>
                  <a:srgbClr val="202020"/>
                </a:solidFill>
                <a:latin typeface="Times New Roman"/>
              </a:rPr>
              <a:t>C_soft is smallest when q equals p and grows as they differ.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Graphic spid="8" grpId="0">
        <p:bldAsOne/>
      </p:bldGraphic>
      <p:bldGraphic spid="9" grpId="0">
        <p:bldAsOne/>
      </p:bldGraphic>
      <p:bldP spid="10" grpId="0" animBg="1"/>
      <p:bldGraphic spid="11" grpId="0">
        <p:bldAsOne/>
      </p:bldGraphic>
      <p:bldP spid="12" grpId="0" animBg="1"/>
      <p:bldGraphic spid="13" grpId="0">
        <p:bldAsOne/>
      </p:bldGraphic>
      <p:bldGraphic spid="14" grpId="0">
        <p:bldAsOne/>
      </p:bldGraphic>
      <p:bldGraphic spid="15" grpId="0">
        <p:bldAsOne/>
      </p:bldGraphic>
      <p:bldGraphic spid="16" grpId="0">
        <p:bldAsOne/>
      </p:bldGraphic>
      <p:bldP spid="17" grpId="0" animBg="1"/>
      <p:bldP spid="1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3. Computing C_hard and the total objective L</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C_hard is computed at a temperature of 1; α = 0.9 and T = 4</a:t>
            </a:r>
          </a:p>
        </p:txBody>
      </p:sp>
      <p:graphicFrame>
        <p:nvGraphicFramePr>
          <p:cNvPr id="6" name="Table 5"/>
          <p:cNvGraphicFramePr>
            <a:graphicFrameLocks noGrp="1"/>
          </p:cNvGraphicFramePr>
          <p:nvPr/>
        </p:nvGraphicFramePr>
        <p:xfrm>
          <a:off x="731520" y="1143000"/>
          <a:ext cx="1005840" cy="1316736"/>
        </p:xfrm>
        <a:graphic>
          <a:graphicData uri="http://schemas.openxmlformats.org/drawingml/2006/table">
            <a:tbl>
              <a:tblPr bandRow="1">
                <a:tableStyleId>{5C22544A-7EE6-4342-B048-85BDC9FD1C3A}</a:tableStyleId>
              </a:tblPr>
              <a:tblGrid>
                <a:gridCol w="100584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7" name="Table 6"/>
          <p:cNvGraphicFramePr>
            <a:graphicFrameLocks noGrp="1"/>
          </p:cNvGraphicFramePr>
          <p:nvPr/>
        </p:nvGraphicFramePr>
        <p:xfrm>
          <a:off x="1828800" y="1143000"/>
          <a:ext cx="1188720" cy="1316736"/>
        </p:xfrm>
        <a:graphic>
          <a:graphicData uri="http://schemas.openxmlformats.org/drawingml/2006/table">
            <a:tbl>
              <a:tblPr bandRow="1">
                <a:tableStyleId>{5C22544A-7EE6-4342-B048-85BDC9FD1C3A}</a:tableStyleId>
              </a:tblPr>
              <a:tblGrid>
                <a:gridCol w="1188720"/>
              </a:tblGrid>
              <a:tr h="329184">
                <a:tc>
                  <a:txBody>
                    <a:bodyPr/>
                    <a:lstStyle/>
                    <a:p>
                      <a:pPr algn="ctr"/>
                      <a:r>
                        <a:rPr sz="1600" b="1">
                          <a:solidFill>
                            <a:srgbClr val="FFFFFF"/>
                          </a:solidFill>
                          <a:latin typeface="Times New Roman"/>
                        </a:rPr>
                        <a:t>z</a:t>
                      </a:r>
                    </a:p>
                  </a:txBody>
                  <a:tcPr marL="36576" marR="36576" marT="9144" marB="9144">
                    <a:solidFill>
                      <a:srgbClr val="1F4E79"/>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bl>
          </a:graphicData>
        </a:graphic>
      </p:graphicFrame>
      <p:graphicFrame>
        <p:nvGraphicFramePr>
          <p:cNvPr id="8" name="Table 7"/>
          <p:cNvGraphicFramePr>
            <a:graphicFrameLocks noGrp="1"/>
          </p:cNvGraphicFramePr>
          <p:nvPr/>
        </p:nvGraphicFramePr>
        <p:xfrm>
          <a:off x="3108960" y="1143000"/>
          <a:ext cx="1554480" cy="1316736"/>
        </p:xfrm>
        <a:graphic>
          <a:graphicData uri="http://schemas.openxmlformats.org/drawingml/2006/table">
            <a:tbl>
              <a:tblPr bandRow="1">
                <a:tableStyleId>{5C22544A-7EE6-4342-B048-85BDC9FD1C3A}</a:tableStyleId>
              </a:tblPr>
              <a:tblGrid>
                <a:gridCol w="1554480"/>
              </a:tblGrid>
              <a:tr h="329184">
                <a:tc>
                  <a:txBody>
                    <a:bodyPr/>
                    <a:lstStyle/>
                    <a:p>
                      <a:pPr algn="ctr"/>
                      <a:r>
                        <a:rPr sz="1600" b="1">
                          <a:solidFill>
                            <a:srgbClr val="FFFFFF"/>
                          </a:solidFill>
                          <a:latin typeface="Times New Roman"/>
                        </a:rPr>
                        <a:t>exp(z)</a:t>
                      </a:r>
                    </a:p>
                  </a:txBody>
                  <a:tcPr marL="36576" marR="36576" marT="9144" marB="9144">
                    <a:solidFill>
                      <a:srgbClr val="1F4E79"/>
                    </a:solidFill>
                  </a:tcPr>
                </a:tc>
              </a:tr>
              <a:tr h="329184">
                <a:tc>
                  <a:txBody>
                    <a:bodyPr/>
                    <a:lstStyle/>
                    <a:p>
                      <a:pPr algn="ctr"/>
                      <a:r>
                        <a:rPr sz="1600" b="0">
                          <a:solidFill>
                            <a:srgbClr val="202020"/>
                          </a:solidFill>
                          <a:latin typeface="Times New Roman"/>
                        </a:rPr>
                        <a:t>54.5982</a:t>
                      </a:r>
                    </a:p>
                  </a:txBody>
                  <a:tcPr marL="36576" marR="36576" marT="9144" marB="9144">
                    <a:solidFill>
                      <a:srgbClr val="FFFFFF"/>
                    </a:solidFill>
                  </a:tcPr>
                </a:tc>
              </a:tr>
              <a:tr h="329184">
                <a:tc>
                  <a:txBody>
                    <a:bodyPr/>
                    <a:lstStyle/>
                    <a:p>
                      <a:pPr algn="ctr"/>
                      <a:r>
                        <a:rPr sz="1600" b="0">
                          <a:solidFill>
                            <a:srgbClr val="202020"/>
                          </a:solidFill>
                          <a:latin typeface="Times New Roman"/>
                        </a:rPr>
                        <a:t>7.3891</a:t>
                      </a:r>
                    </a:p>
                  </a:txBody>
                  <a:tcPr marL="36576" marR="36576" marT="9144" marB="9144">
                    <a:solidFill>
                      <a:srgbClr val="FFFFFF"/>
                    </a:solidFill>
                  </a:tcPr>
                </a:tc>
              </a:tr>
              <a:tr h="329184">
                <a:tc>
                  <a:txBody>
                    <a:bodyPr/>
                    <a:lstStyle/>
                    <a:p>
                      <a:pPr algn="ctr"/>
                      <a:r>
                        <a:rPr sz="1600" b="0">
                          <a:solidFill>
                            <a:srgbClr val="202020"/>
                          </a:solidFill>
                          <a:latin typeface="Times New Roman"/>
                        </a:rPr>
                        <a:t>7.3891</a:t>
                      </a:r>
                    </a:p>
                  </a:txBody>
                  <a:tcPr marL="36576" marR="36576" marT="9144" marB="9144">
                    <a:solidFill>
                      <a:srgbClr val="FFFFFF"/>
                    </a:solidFill>
                  </a:tcPr>
                </a:tc>
              </a:tr>
            </a:tbl>
          </a:graphicData>
        </a:graphic>
      </p:graphicFrame>
      <p:sp>
        <p:nvSpPr>
          <p:cNvPr id="9" name="Rectangle 8"/>
          <p:cNvSpPr/>
          <p:nvPr/>
        </p:nvSpPr>
        <p:spPr>
          <a:xfrm>
            <a:off x="4754880" y="1143000"/>
            <a:ext cx="1554480" cy="1316736"/>
          </a:xfrm>
          <a:prstGeom prst="rect">
            <a:avLst/>
          </a:prstGeom>
          <a:solidFill>
            <a:srgbClr val="DAE6F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4E79"/>
                </a:solidFill>
                <a:latin typeface="Times New Roman"/>
              </a:rPr>
              <a:t>sum</a:t>
            </a:r>
          </a:p>
          <a:p>
            <a:pPr algn="ctr"/>
            <a:r>
              <a:rPr sz="1700" b="1">
                <a:solidFill>
                  <a:srgbClr val="1F4E79"/>
                </a:solidFill>
                <a:latin typeface="Times New Roman"/>
              </a:rPr>
              <a:t>69.3763</a:t>
            </a:r>
          </a:p>
        </p:txBody>
      </p:sp>
      <p:graphicFrame>
        <p:nvGraphicFramePr>
          <p:cNvPr id="10" name="Table 9"/>
          <p:cNvGraphicFramePr>
            <a:graphicFrameLocks noGrp="1"/>
          </p:cNvGraphicFramePr>
          <p:nvPr/>
        </p:nvGraphicFramePr>
        <p:xfrm>
          <a:off x="6400800" y="1143000"/>
          <a:ext cx="1737360" cy="1316736"/>
        </p:xfrm>
        <a:graphic>
          <a:graphicData uri="http://schemas.openxmlformats.org/drawingml/2006/table">
            <a:tbl>
              <a:tblPr bandRow="1">
                <a:tableStyleId>{5C22544A-7EE6-4342-B048-85BDC9FD1C3A}</a:tableStyleId>
              </a:tblPr>
              <a:tblGrid>
                <a:gridCol w="1737360"/>
              </a:tblGrid>
              <a:tr h="329184">
                <a:tc>
                  <a:txBody>
                    <a:bodyPr/>
                    <a:lstStyle/>
                    <a:p>
                      <a:pPr algn="ctr"/>
                      <a:r>
                        <a:rPr sz="1600" b="1">
                          <a:solidFill>
                            <a:srgbClr val="FFFFFF"/>
                          </a:solidFill>
                          <a:latin typeface="Times New Roman"/>
                        </a:rPr>
                        <a:t>q at T = 1</a:t>
                      </a:r>
                    </a:p>
                  </a:txBody>
                  <a:tcPr marL="36576" marR="36576" marT="9144" marB="9144">
                    <a:solidFill>
                      <a:srgbClr val="1F4E79"/>
                    </a:solidFill>
                  </a:tcPr>
                </a:tc>
              </a:tr>
              <a:tr h="329184">
                <a:tc>
                  <a:txBody>
                    <a:bodyPr/>
                    <a:lstStyle/>
                    <a:p>
                      <a:pPr algn="ctr"/>
                      <a:r>
                        <a:rPr sz="1600" b="0">
                          <a:solidFill>
                            <a:srgbClr val="202020"/>
                          </a:solidFill>
                          <a:latin typeface="Times New Roman"/>
                        </a:rPr>
                        <a:t>0.7870</a:t>
                      </a:r>
                    </a:p>
                  </a:txBody>
                  <a:tcPr marL="36576" marR="36576" marT="9144" marB="9144">
                    <a:solidFill>
                      <a:srgbClr val="FFF3CD"/>
                    </a:solidFill>
                  </a:tcPr>
                </a:tc>
              </a:tr>
              <a:tr h="329184">
                <a:tc>
                  <a:txBody>
                    <a:bodyPr/>
                    <a:lstStyle/>
                    <a:p>
                      <a:pPr algn="ctr"/>
                      <a:r>
                        <a:rPr sz="1600" b="0">
                          <a:solidFill>
                            <a:srgbClr val="202020"/>
                          </a:solidFill>
                          <a:latin typeface="Times New Roman"/>
                        </a:rPr>
                        <a:t>0.1065</a:t>
                      </a:r>
                    </a:p>
                  </a:txBody>
                  <a:tcPr marL="36576" marR="36576" marT="9144" marB="9144">
                    <a:solidFill>
                      <a:srgbClr val="FFFFFF"/>
                    </a:solidFill>
                  </a:tcPr>
                </a:tc>
              </a:tr>
              <a:tr h="329184">
                <a:tc>
                  <a:txBody>
                    <a:bodyPr/>
                    <a:lstStyle/>
                    <a:p>
                      <a:pPr algn="ctr"/>
                      <a:r>
                        <a:rPr sz="1600" b="0">
                          <a:solidFill>
                            <a:srgbClr val="202020"/>
                          </a:solidFill>
                          <a:latin typeface="Times New Roman"/>
                        </a:rPr>
                        <a:t>0.1065</a:t>
                      </a:r>
                    </a:p>
                  </a:txBody>
                  <a:tcPr marL="36576" marR="36576" marT="9144" marB="9144">
                    <a:solidFill>
                      <a:srgbClr val="FFFFFF"/>
                    </a:solidFill>
                  </a:tcPr>
                </a:tc>
              </a:tr>
            </a:tbl>
          </a:graphicData>
        </a:graphic>
      </p:graphicFrame>
      <p:sp>
        <p:nvSpPr>
          <p:cNvPr id="11" name="Rectangle 10"/>
          <p:cNvSpPr/>
          <p:nvPr/>
        </p:nvSpPr>
        <p:spPr>
          <a:xfrm>
            <a:off x="8321040" y="1143000"/>
            <a:ext cx="3291840" cy="1316736"/>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E7A45"/>
                </a:solidFill>
                <a:latin typeface="Times New Roman"/>
              </a:rPr>
              <a:t>The correct label is 2</a:t>
            </a:r>
          </a:p>
          <a:p>
            <a:pPr algn="ctr"/>
            <a:r>
              <a:rPr sz="1700" b="1">
                <a:solidFill>
                  <a:srgbClr val="1E7A45"/>
                </a:solidFill>
                <a:latin typeface="Times New Roman"/>
              </a:rPr>
              <a:t>C_hard = −log 0.7870</a:t>
            </a:r>
          </a:p>
          <a:p>
            <a:pPr algn="ctr"/>
            <a:r>
              <a:rPr sz="1700" b="1">
                <a:solidFill>
                  <a:srgbClr val="1E7A45"/>
                </a:solidFill>
                <a:latin typeface="Times New Roman"/>
              </a:rPr>
              <a:t>= 0.2395</a:t>
            </a:r>
          </a:p>
        </p:txBody>
      </p:sp>
      <p:graphicFrame>
        <p:nvGraphicFramePr>
          <p:cNvPr id="12" name="Table 11"/>
          <p:cNvGraphicFramePr>
            <a:graphicFrameLocks noGrp="1"/>
          </p:cNvGraphicFramePr>
          <p:nvPr/>
        </p:nvGraphicFramePr>
        <p:xfrm>
          <a:off x="731520" y="2926080"/>
          <a:ext cx="10881358" cy="1316736"/>
        </p:xfrm>
        <a:graphic>
          <a:graphicData uri="http://schemas.openxmlformats.org/drawingml/2006/table">
            <a:tbl>
              <a:tblPr bandRow="1">
                <a:tableStyleId>{5C22544A-7EE6-4342-B048-85BDC9FD1C3A}</a:tableStyleId>
              </a:tblPr>
              <a:tblGrid>
                <a:gridCol w="2808092"/>
                <a:gridCol w="5265174"/>
                <a:gridCol w="2808092"/>
              </a:tblGrid>
              <a:tr h="329184">
                <a:tc>
                  <a:txBody>
                    <a:bodyPr/>
                    <a:lstStyle/>
                    <a:p>
                      <a:pPr algn="ctr"/>
                      <a:r>
                        <a:rPr sz="1700" b="1">
                          <a:solidFill>
                            <a:srgbClr val="FFFFFF"/>
                          </a:solidFill>
                          <a:latin typeface="Times New Roman"/>
                        </a:rPr>
                        <a:t>Term</a:t>
                      </a:r>
                    </a:p>
                  </a:txBody>
                  <a:tcPr marL="36576" marR="36576" marT="9144" marB="9144">
                    <a:solidFill>
                      <a:srgbClr val="1F4E79"/>
                    </a:solidFill>
                  </a:tcPr>
                </a:tc>
                <a:tc>
                  <a:txBody>
                    <a:bodyPr/>
                    <a:lstStyle/>
                    <a:p>
                      <a:pPr algn="ctr"/>
                      <a:r>
                        <a:rPr sz="1700" b="1">
                          <a:solidFill>
                            <a:srgbClr val="FFFFFF"/>
                          </a:solidFill>
                          <a:latin typeface="Times New Roman"/>
                        </a:rPr>
                        <a:t>Expression</a:t>
                      </a:r>
                    </a:p>
                  </a:txBody>
                  <a:tcPr marL="36576" marR="36576" marT="9144" marB="9144">
                    <a:solidFill>
                      <a:srgbClr val="1F4E79"/>
                    </a:solidFill>
                  </a:tcPr>
                </a:tc>
                <a:tc>
                  <a:txBody>
                    <a:bodyPr/>
                    <a:lstStyle/>
                    <a:p>
                      <a:pPr algn="ctr"/>
                      <a:r>
                        <a:rPr sz="1700" b="1">
                          <a:solidFill>
                            <a:srgbClr val="FFFFFF"/>
                          </a:solidFill>
                          <a:latin typeface="Times New Roman"/>
                        </a:rPr>
                        <a:t>Value</a:t>
                      </a:r>
                    </a:p>
                  </a:txBody>
                  <a:tcPr marL="36576" marR="36576" marT="9144" marB="9144">
                    <a:solidFill>
                      <a:srgbClr val="1F4E79"/>
                    </a:solidFill>
                  </a:tcPr>
                </a:tc>
              </a:tr>
              <a:tr h="329184">
                <a:tc>
                  <a:txBody>
                    <a:bodyPr/>
                    <a:lstStyle/>
                    <a:p>
                      <a:pPr algn="ctr"/>
                      <a:r>
                        <a:rPr sz="1700" b="0">
                          <a:solidFill>
                            <a:srgbClr val="202020"/>
                          </a:solidFill>
                          <a:latin typeface="Times New Roman"/>
                        </a:rPr>
                        <a:t>Soft targets</a:t>
                      </a:r>
                    </a:p>
                  </a:txBody>
                  <a:tcPr marL="36576" marR="36576" marT="9144" marB="9144">
                    <a:solidFill>
                      <a:srgbClr val="FFFFFF"/>
                    </a:solidFill>
                  </a:tcPr>
                </a:tc>
                <a:tc>
                  <a:txBody>
                    <a:bodyPr/>
                    <a:lstStyle/>
                    <a:p>
                      <a:pPr algn="ctr"/>
                      <a:r>
                        <a:rPr sz="1700" b="0">
                          <a:solidFill>
                            <a:srgbClr val="202020"/>
                          </a:solidFill>
                          <a:latin typeface="Times New Roman"/>
                        </a:rPr>
                        <a:t>0.9 × 4² × 0.9618</a:t>
                      </a:r>
                    </a:p>
                  </a:txBody>
                  <a:tcPr marL="36576" marR="36576" marT="9144" marB="9144">
                    <a:solidFill>
                      <a:srgbClr val="FFFFFF"/>
                    </a:solidFill>
                  </a:tcPr>
                </a:tc>
                <a:tc>
                  <a:txBody>
                    <a:bodyPr/>
                    <a:lstStyle/>
                    <a:p>
                      <a:pPr algn="ctr"/>
                      <a:r>
                        <a:rPr sz="1700" b="0">
                          <a:solidFill>
                            <a:srgbClr val="202020"/>
                          </a:solidFill>
                          <a:latin typeface="Times New Roman"/>
                        </a:rPr>
                        <a:t>13.8493</a:t>
                      </a:r>
                    </a:p>
                  </a:txBody>
                  <a:tcPr marL="36576" marR="36576" marT="9144" marB="9144">
                    <a:solidFill>
                      <a:srgbClr val="FFFFFF"/>
                    </a:solidFill>
                  </a:tcPr>
                </a:tc>
              </a:tr>
              <a:tr h="329184">
                <a:tc>
                  <a:txBody>
                    <a:bodyPr/>
                    <a:lstStyle/>
                    <a:p>
                      <a:pPr algn="ctr"/>
                      <a:r>
                        <a:rPr sz="1700" b="0">
                          <a:solidFill>
                            <a:srgbClr val="202020"/>
                          </a:solidFill>
                          <a:latin typeface="Times New Roman"/>
                        </a:rPr>
                        <a:t>Hard targets</a:t>
                      </a:r>
                    </a:p>
                  </a:txBody>
                  <a:tcPr marL="36576" marR="36576" marT="9144" marB="9144">
                    <a:solidFill>
                      <a:srgbClr val="FFFFFF"/>
                    </a:solidFill>
                  </a:tcPr>
                </a:tc>
                <a:tc>
                  <a:txBody>
                    <a:bodyPr/>
                    <a:lstStyle/>
                    <a:p>
                      <a:pPr algn="ctr"/>
                      <a:r>
                        <a:rPr sz="1700" b="0">
                          <a:solidFill>
                            <a:srgbClr val="202020"/>
                          </a:solidFill>
                          <a:latin typeface="Times New Roman"/>
                        </a:rPr>
                        <a:t>0.1 × 0.2395</a:t>
                      </a:r>
                    </a:p>
                  </a:txBody>
                  <a:tcPr marL="36576" marR="36576" marT="9144" marB="9144">
                    <a:solidFill>
                      <a:srgbClr val="FFFFFF"/>
                    </a:solidFill>
                  </a:tcPr>
                </a:tc>
                <a:tc>
                  <a:txBody>
                    <a:bodyPr/>
                    <a:lstStyle/>
                    <a:p>
                      <a:pPr algn="ctr"/>
                      <a:r>
                        <a:rPr sz="1700" b="0">
                          <a:solidFill>
                            <a:srgbClr val="202020"/>
                          </a:solidFill>
                          <a:latin typeface="Times New Roman"/>
                        </a:rPr>
                        <a:t>0.0240</a:t>
                      </a:r>
                    </a:p>
                  </a:txBody>
                  <a:tcPr marL="36576" marR="36576" marT="9144" marB="9144">
                    <a:solidFill>
                      <a:srgbClr val="FFFFFF"/>
                    </a:solidFill>
                  </a:tcPr>
                </a:tc>
              </a:tr>
              <a:tr h="329184">
                <a:tc>
                  <a:txBody>
                    <a:bodyPr/>
                    <a:lstStyle/>
                    <a:p>
                      <a:pPr algn="ctr"/>
                      <a:r>
                        <a:rPr sz="1700" b="0">
                          <a:solidFill>
                            <a:srgbClr val="202020"/>
                          </a:solidFill>
                          <a:latin typeface="Times New Roman"/>
                        </a:rPr>
                        <a:t>Total L</a:t>
                      </a:r>
                    </a:p>
                  </a:txBody>
                  <a:tcPr marL="36576" marR="36576" marT="9144" marB="9144">
                    <a:solidFill>
                      <a:srgbClr val="FFFFFF"/>
                    </a:solidFill>
                  </a:tcPr>
                </a:tc>
                <a:tc>
                  <a:txBody>
                    <a:bodyPr/>
                    <a:lstStyle/>
                    <a:p>
                      <a:pPr algn="ctr"/>
                      <a:r>
                        <a:rPr sz="1700" b="0">
                          <a:solidFill>
                            <a:srgbClr val="202020"/>
                          </a:solidFill>
                          <a:latin typeface="Times New Roman"/>
                        </a:rPr>
                        <a:t>sum of the two terms</a:t>
                      </a:r>
                    </a:p>
                  </a:txBody>
                  <a:tcPr marL="36576" marR="36576" marT="9144" marB="9144">
                    <a:solidFill>
                      <a:srgbClr val="FFFFFF"/>
                    </a:solidFill>
                  </a:tcPr>
                </a:tc>
                <a:tc>
                  <a:txBody>
                    <a:bodyPr/>
                    <a:lstStyle/>
                    <a:p>
                      <a:pPr algn="ctr"/>
                      <a:r>
                        <a:rPr sz="1700" b="0">
                          <a:solidFill>
                            <a:srgbClr val="202020"/>
                          </a:solidFill>
                          <a:latin typeface="Times New Roman"/>
                        </a:rPr>
                        <a:t>13.8732</a:t>
                      </a:r>
                    </a:p>
                  </a:txBody>
                  <a:tcPr marL="36576" marR="36576" marT="9144" marB="9144">
                    <a:solidFill>
                      <a:srgbClr val="FFF3CD"/>
                    </a:solidFill>
                  </a:tcPr>
                </a:tc>
              </a:tr>
            </a:tbl>
          </a:graphicData>
        </a:graphic>
      </p:graphicFrame>
      <p:sp>
        <p:nvSpPr>
          <p:cNvPr id="13" name="TextBox 12"/>
          <p:cNvSpPr txBox="1"/>
          <p:nvPr/>
        </p:nvSpPr>
        <p:spPr>
          <a:xfrm>
            <a:off x="731520" y="4434840"/>
            <a:ext cx="10881360" cy="1280160"/>
          </a:xfrm>
          <a:prstGeom prst="rect">
            <a:avLst/>
          </a:prstGeom>
          <a:noFill/>
        </p:spPr>
        <p:txBody>
          <a:bodyPr wrap="square">
            <a:spAutoFit/>
          </a:bodyPr>
          <a:lstStyle/>
          <a:p>
            <a:r>
              <a:rPr sz="1600" b="0" i="0">
                <a:solidFill>
                  <a:srgbClr val="59636E"/>
                </a:solidFill>
                <a:latin typeface="Times New Roman"/>
              </a:rPr>
              <a:t>Because it is multiplied by T² = 16, the soft-target term is much larger than the hard-target term; the contribution of each term to the gradient is shown on the next slide.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Graphic spid="8" grpId="0">
        <p:bldAsOne/>
      </p:bldGraphic>
      <p:bldP spid="9" grpId="0" animBg="1"/>
      <p:bldGraphic spid="10" grpId="0">
        <p:bldAsOne/>
      </p:bldGraphic>
      <p:bldP spid="11" grpId="0" animBg="1"/>
      <p:bldGraphic spid="12" grpId="0">
        <p:bldAsOne/>
      </p:bldGraphic>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3. The gradient, step by step</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Eq. 2: the cross-entropy gradient with respect to each logit of the distilled model</a:t>
            </a:r>
          </a:p>
        </p:txBody>
      </p:sp>
      <p:pic>
        <p:nvPicPr>
          <p:cNvPr id="6" name="Picture 5" descr="m_grad.png"/>
          <p:cNvPicPr>
            <a:picLocks noChangeAspect="1"/>
          </p:cNvPicPr>
          <p:nvPr/>
        </p:nvPicPr>
        <p:blipFill>
          <a:blip r:embed="rId2"/>
          <a:stretch>
            <a:fillRect/>
          </a:stretch>
        </p:blipFill>
        <p:spPr>
          <a:xfrm>
            <a:off x="822960" y="1005840"/>
            <a:ext cx="3366135" cy="868680"/>
          </a:xfrm>
          <a:prstGeom prst="rect">
            <a:avLst/>
          </a:prstGeom>
        </p:spPr>
      </p:pic>
      <p:sp>
        <p:nvSpPr>
          <p:cNvPr id="7" name="TextBox 6"/>
          <p:cNvSpPr txBox="1"/>
          <p:nvPr/>
        </p:nvSpPr>
        <p:spPr>
          <a:xfrm>
            <a:off x="5120640" y="1143000"/>
            <a:ext cx="6583680" cy="731520"/>
          </a:xfrm>
          <a:prstGeom prst="rect">
            <a:avLst/>
          </a:prstGeom>
          <a:noFill/>
        </p:spPr>
        <p:txBody>
          <a:bodyPr wrap="square">
            <a:spAutoFit/>
          </a:bodyPr>
          <a:lstStyle/>
          <a:p>
            <a:r>
              <a:rPr sz="1700" b="0" i="0">
                <a:solidFill>
                  <a:srgbClr val="202020"/>
                </a:solidFill>
                <a:latin typeface="Times New Roman"/>
              </a:rPr>
              <a:t>The gradient of the hard-target term is that of the ordinary cross entropy, q(T=1) − y.</a:t>
            </a:r>
          </a:p>
        </p:txBody>
      </p:sp>
      <p:graphicFrame>
        <p:nvGraphicFramePr>
          <p:cNvPr id="8" name="Table 7"/>
          <p:cNvGraphicFramePr>
            <a:graphicFrameLocks noGrp="1"/>
          </p:cNvGraphicFramePr>
          <p:nvPr/>
        </p:nvGraphicFramePr>
        <p:xfrm>
          <a:off x="731520" y="2148840"/>
          <a:ext cx="822960" cy="1316736"/>
        </p:xfrm>
        <a:graphic>
          <a:graphicData uri="http://schemas.openxmlformats.org/drawingml/2006/table">
            <a:tbl>
              <a:tblPr bandRow="1">
                <a:tableStyleId>{5C22544A-7EE6-4342-B048-85BDC9FD1C3A}</a:tableStyleId>
              </a:tblPr>
              <a:tblGrid>
                <a:gridCol w="822960"/>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r>
            </a:tbl>
          </a:graphicData>
        </a:graphic>
      </p:graphicFrame>
      <p:graphicFrame>
        <p:nvGraphicFramePr>
          <p:cNvPr id="9" name="Table 8"/>
          <p:cNvGraphicFramePr>
            <a:graphicFrameLocks noGrp="1"/>
          </p:cNvGraphicFramePr>
          <p:nvPr/>
        </p:nvGraphicFramePr>
        <p:xfrm>
          <a:off x="1645920" y="2148840"/>
          <a:ext cx="1280160" cy="1316736"/>
        </p:xfrm>
        <a:graphic>
          <a:graphicData uri="http://schemas.openxmlformats.org/drawingml/2006/table">
            <a:tbl>
              <a:tblPr bandRow="1">
                <a:tableStyleId>{5C22544A-7EE6-4342-B048-85BDC9FD1C3A}</a:tableStyleId>
              </a:tblPr>
              <a:tblGrid>
                <a:gridCol w="1280160"/>
              </a:tblGrid>
              <a:tr h="329184">
                <a:tc>
                  <a:txBody>
                    <a:bodyPr/>
                    <a:lstStyle/>
                    <a:p>
                      <a:pPr algn="ctr"/>
                      <a:r>
                        <a:rPr sz="1600" b="1">
                          <a:solidFill>
                            <a:srgbClr val="FFFFFF"/>
                          </a:solidFill>
                          <a:latin typeface="Times New Roman"/>
                        </a:rPr>
                        <a:t>q − p</a:t>
                      </a:r>
                    </a:p>
                  </a:txBody>
                  <a:tcPr marL="36576" marR="36576" marT="9144" marB="9144">
                    <a:solidFill>
                      <a:srgbClr val="1F4E79"/>
                    </a:solidFill>
                  </a:tcPr>
                </a:tc>
              </a:tr>
              <a:tr h="329184">
                <a:tc>
                  <a:txBody>
                    <a:bodyPr/>
                    <a:lstStyle/>
                    <a:p>
                      <a:pPr algn="ctr"/>
                      <a:r>
                        <a:rPr sz="1600" b="0">
                          <a:solidFill>
                            <a:srgbClr val="202020"/>
                          </a:solidFill>
                          <a:latin typeface="Times New Roman"/>
                        </a:rPr>
                        <a:t>-0.2134</a:t>
                      </a:r>
                    </a:p>
                  </a:txBody>
                  <a:tcPr marL="36576" marR="36576" marT="9144" marB="9144">
                    <a:solidFill>
                      <a:srgbClr val="FFFFFF"/>
                    </a:solidFill>
                  </a:tcPr>
                </a:tc>
              </a:tr>
              <a:tr h="329184">
                <a:tc>
                  <a:txBody>
                    <a:bodyPr/>
                    <a:lstStyle/>
                    <a:p>
                      <a:pPr algn="ctr"/>
                      <a:r>
                        <a:rPr sz="1600" b="0">
                          <a:solidFill>
                            <a:srgbClr val="202020"/>
                          </a:solidFill>
                          <a:latin typeface="Times New Roman"/>
                        </a:rPr>
                        <a:t>0.0293</a:t>
                      </a:r>
                    </a:p>
                  </a:txBody>
                  <a:tcPr marL="36576" marR="36576" marT="9144" marB="9144">
                    <a:solidFill>
                      <a:srgbClr val="FFFFFF"/>
                    </a:solidFill>
                  </a:tcPr>
                </a:tc>
              </a:tr>
              <a:tr h="329184">
                <a:tc>
                  <a:txBody>
                    <a:bodyPr/>
                    <a:lstStyle/>
                    <a:p>
                      <a:pPr algn="ctr"/>
                      <a:r>
                        <a:rPr sz="1600" b="0">
                          <a:solidFill>
                            <a:srgbClr val="202020"/>
                          </a:solidFill>
                          <a:latin typeface="Times New Roman"/>
                        </a:rPr>
                        <a:t>0.1840</a:t>
                      </a:r>
                    </a:p>
                  </a:txBody>
                  <a:tcPr marL="36576" marR="36576" marT="9144" marB="9144">
                    <a:solidFill>
                      <a:srgbClr val="FFFFFF"/>
                    </a:solidFill>
                  </a:tcPr>
                </a:tc>
              </a:tr>
            </a:tbl>
          </a:graphicData>
        </a:graphic>
      </p:graphicFrame>
      <p:graphicFrame>
        <p:nvGraphicFramePr>
          <p:cNvPr id="10" name="Table 9"/>
          <p:cNvGraphicFramePr>
            <a:graphicFrameLocks noGrp="1"/>
          </p:cNvGraphicFramePr>
          <p:nvPr/>
        </p:nvGraphicFramePr>
        <p:xfrm>
          <a:off x="3017520" y="214884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 T (Eq. 2)</a:t>
                      </a:r>
                    </a:p>
                  </a:txBody>
                  <a:tcPr marL="36576" marR="36576" marT="9144" marB="9144">
                    <a:solidFill>
                      <a:srgbClr val="1F4E79"/>
                    </a:solidFill>
                  </a:tcPr>
                </a:tc>
              </a:tr>
              <a:tr h="329184">
                <a:tc>
                  <a:txBody>
                    <a:bodyPr/>
                    <a:lstStyle/>
                    <a:p>
                      <a:pPr algn="ctr"/>
                      <a:r>
                        <a:rPr sz="1600" b="0">
                          <a:solidFill>
                            <a:srgbClr val="202020"/>
                          </a:solidFill>
                          <a:latin typeface="Times New Roman"/>
                        </a:rPr>
                        <a:t>-0.0533</a:t>
                      </a:r>
                    </a:p>
                  </a:txBody>
                  <a:tcPr marL="36576" marR="36576" marT="9144" marB="9144">
                    <a:solidFill>
                      <a:srgbClr val="FFFFFF"/>
                    </a:solidFill>
                  </a:tcPr>
                </a:tc>
              </a:tr>
              <a:tr h="329184">
                <a:tc>
                  <a:txBody>
                    <a:bodyPr/>
                    <a:lstStyle/>
                    <a:p>
                      <a:pPr algn="ctr"/>
                      <a:r>
                        <a:rPr sz="1600" b="0">
                          <a:solidFill>
                            <a:srgbClr val="202020"/>
                          </a:solidFill>
                          <a:latin typeface="Times New Roman"/>
                        </a:rPr>
                        <a:t>0.0073</a:t>
                      </a:r>
                    </a:p>
                  </a:txBody>
                  <a:tcPr marL="36576" marR="36576" marT="9144" marB="9144">
                    <a:solidFill>
                      <a:srgbClr val="FFFFFF"/>
                    </a:solidFill>
                  </a:tcPr>
                </a:tc>
              </a:tr>
              <a:tr h="329184">
                <a:tc>
                  <a:txBody>
                    <a:bodyPr/>
                    <a:lstStyle/>
                    <a:p>
                      <a:pPr algn="ctr"/>
                      <a:r>
                        <a:rPr sz="1600" b="0">
                          <a:solidFill>
                            <a:srgbClr val="202020"/>
                          </a:solidFill>
                          <a:latin typeface="Times New Roman"/>
                        </a:rPr>
                        <a:t>0.0460</a:t>
                      </a:r>
                    </a:p>
                  </a:txBody>
                  <a:tcPr marL="36576" marR="36576" marT="9144" marB="9144">
                    <a:solidFill>
                      <a:srgbClr val="FFFFFF"/>
                    </a:solidFill>
                  </a:tcPr>
                </a:tc>
              </a:tr>
            </a:tbl>
          </a:graphicData>
        </a:graphic>
      </p:graphicFrame>
      <p:graphicFrame>
        <p:nvGraphicFramePr>
          <p:cNvPr id="11" name="Table 10"/>
          <p:cNvGraphicFramePr>
            <a:graphicFrameLocks noGrp="1"/>
          </p:cNvGraphicFramePr>
          <p:nvPr/>
        </p:nvGraphicFramePr>
        <p:xfrm>
          <a:off x="4572000" y="2148840"/>
          <a:ext cx="1554480" cy="1316736"/>
        </p:xfrm>
        <a:graphic>
          <a:graphicData uri="http://schemas.openxmlformats.org/drawingml/2006/table">
            <a:tbl>
              <a:tblPr bandRow="1">
                <a:tableStyleId>{5C22544A-7EE6-4342-B048-85BDC9FD1C3A}</a:tableStyleId>
              </a:tblPr>
              <a:tblGrid>
                <a:gridCol w="1554480"/>
              </a:tblGrid>
              <a:tr h="329184">
                <a:tc>
                  <a:txBody>
                    <a:bodyPr/>
                    <a:lstStyle/>
                    <a:p>
                      <a:pPr algn="ctr"/>
                      <a:r>
                        <a:rPr sz="1600" b="1">
                          <a:solidFill>
                            <a:srgbClr val="FFFFFF"/>
                          </a:solidFill>
                          <a:latin typeface="Times New Roman"/>
                        </a:rPr>
                        <a:t>× α T² = 14.4</a:t>
                      </a:r>
                    </a:p>
                  </a:txBody>
                  <a:tcPr marL="36576" marR="36576" marT="9144" marB="9144">
                    <a:solidFill>
                      <a:srgbClr val="1F4E79"/>
                    </a:solidFill>
                  </a:tcPr>
                </a:tc>
              </a:tr>
              <a:tr h="329184">
                <a:tc>
                  <a:txBody>
                    <a:bodyPr/>
                    <a:lstStyle/>
                    <a:p>
                      <a:pPr algn="ctr"/>
                      <a:r>
                        <a:rPr sz="1600" b="0">
                          <a:solidFill>
                            <a:srgbClr val="202020"/>
                          </a:solidFill>
                          <a:latin typeface="Times New Roman"/>
                        </a:rPr>
                        <a:t>-0.7682</a:t>
                      </a:r>
                    </a:p>
                  </a:txBody>
                  <a:tcPr marL="36576" marR="36576" marT="9144" marB="9144">
                    <a:solidFill>
                      <a:srgbClr val="FFFFFF"/>
                    </a:solidFill>
                  </a:tcPr>
                </a:tc>
              </a:tr>
              <a:tr h="329184">
                <a:tc>
                  <a:txBody>
                    <a:bodyPr/>
                    <a:lstStyle/>
                    <a:p>
                      <a:pPr algn="ctr"/>
                      <a:r>
                        <a:rPr sz="1600" b="0">
                          <a:solidFill>
                            <a:srgbClr val="202020"/>
                          </a:solidFill>
                          <a:latin typeface="Times New Roman"/>
                        </a:rPr>
                        <a:t>0.1056</a:t>
                      </a:r>
                    </a:p>
                  </a:txBody>
                  <a:tcPr marL="36576" marR="36576" marT="9144" marB="9144">
                    <a:solidFill>
                      <a:srgbClr val="FFFFFF"/>
                    </a:solidFill>
                  </a:tcPr>
                </a:tc>
              </a:tr>
              <a:tr h="329184">
                <a:tc>
                  <a:txBody>
                    <a:bodyPr/>
                    <a:lstStyle/>
                    <a:p>
                      <a:pPr algn="ctr"/>
                      <a:r>
                        <a:rPr sz="1600" b="0">
                          <a:solidFill>
                            <a:srgbClr val="202020"/>
                          </a:solidFill>
                          <a:latin typeface="Times New Roman"/>
                        </a:rPr>
                        <a:t>0.6625</a:t>
                      </a:r>
                    </a:p>
                  </a:txBody>
                  <a:tcPr marL="36576" marR="36576" marT="9144" marB="9144">
                    <a:solidFill>
                      <a:srgbClr val="FFFFFF"/>
                    </a:solidFill>
                  </a:tcPr>
                </a:tc>
              </a:tr>
            </a:tbl>
          </a:graphicData>
        </a:graphic>
      </p:graphicFrame>
      <p:graphicFrame>
        <p:nvGraphicFramePr>
          <p:cNvPr id="12" name="Table 11"/>
          <p:cNvGraphicFramePr>
            <a:graphicFrameLocks noGrp="1"/>
          </p:cNvGraphicFramePr>
          <p:nvPr/>
        </p:nvGraphicFramePr>
        <p:xfrm>
          <a:off x="6217920" y="2148840"/>
          <a:ext cx="1463040" cy="1316736"/>
        </p:xfrm>
        <a:graphic>
          <a:graphicData uri="http://schemas.openxmlformats.org/drawingml/2006/table">
            <a:tbl>
              <a:tblPr bandRow="1">
                <a:tableStyleId>{5C22544A-7EE6-4342-B048-85BDC9FD1C3A}</a:tableStyleId>
              </a:tblPr>
              <a:tblGrid>
                <a:gridCol w="1463040"/>
              </a:tblGrid>
              <a:tr h="329184">
                <a:tc>
                  <a:txBody>
                    <a:bodyPr/>
                    <a:lstStyle/>
                    <a:p>
                      <a:pPr algn="ctr"/>
                      <a:r>
                        <a:rPr sz="1600" b="1">
                          <a:solidFill>
                            <a:srgbClr val="FFFFFF"/>
                          </a:solidFill>
                          <a:latin typeface="Times New Roman"/>
                        </a:rPr>
                        <a:t>q(T=1) − y</a:t>
                      </a:r>
                    </a:p>
                  </a:txBody>
                  <a:tcPr marL="36576" marR="36576" marT="9144" marB="9144">
                    <a:solidFill>
                      <a:srgbClr val="1F4E79"/>
                    </a:solidFill>
                  </a:tcPr>
                </a:tc>
              </a:tr>
              <a:tr h="329184">
                <a:tc>
                  <a:txBody>
                    <a:bodyPr/>
                    <a:lstStyle/>
                    <a:p>
                      <a:pPr algn="ctr"/>
                      <a:r>
                        <a:rPr sz="1600" b="0">
                          <a:solidFill>
                            <a:srgbClr val="202020"/>
                          </a:solidFill>
                          <a:latin typeface="Times New Roman"/>
                        </a:rPr>
                        <a:t>-0.2130</a:t>
                      </a:r>
                    </a:p>
                  </a:txBody>
                  <a:tcPr marL="36576" marR="36576" marT="9144" marB="9144">
                    <a:solidFill>
                      <a:srgbClr val="FFFFFF"/>
                    </a:solidFill>
                  </a:tcPr>
                </a:tc>
              </a:tr>
              <a:tr h="329184">
                <a:tc>
                  <a:txBody>
                    <a:bodyPr/>
                    <a:lstStyle/>
                    <a:p>
                      <a:pPr algn="ctr"/>
                      <a:r>
                        <a:rPr sz="1600" b="0">
                          <a:solidFill>
                            <a:srgbClr val="202020"/>
                          </a:solidFill>
                          <a:latin typeface="Times New Roman"/>
                        </a:rPr>
                        <a:t>0.1065</a:t>
                      </a:r>
                    </a:p>
                  </a:txBody>
                  <a:tcPr marL="36576" marR="36576" marT="9144" marB="9144">
                    <a:solidFill>
                      <a:srgbClr val="FFFFFF"/>
                    </a:solidFill>
                  </a:tcPr>
                </a:tc>
              </a:tr>
              <a:tr h="329184">
                <a:tc>
                  <a:txBody>
                    <a:bodyPr/>
                    <a:lstStyle/>
                    <a:p>
                      <a:pPr algn="ctr"/>
                      <a:r>
                        <a:rPr sz="1600" b="0">
                          <a:solidFill>
                            <a:srgbClr val="202020"/>
                          </a:solidFill>
                          <a:latin typeface="Times New Roman"/>
                        </a:rPr>
                        <a:t>0.1065</a:t>
                      </a:r>
                    </a:p>
                  </a:txBody>
                  <a:tcPr marL="36576" marR="36576" marT="9144" marB="9144">
                    <a:solidFill>
                      <a:srgbClr val="FFFFFF"/>
                    </a:solidFill>
                  </a:tcPr>
                </a:tc>
              </a:tr>
            </a:tbl>
          </a:graphicData>
        </a:graphic>
      </p:graphicFrame>
      <p:graphicFrame>
        <p:nvGraphicFramePr>
          <p:cNvPr id="13" name="Table 12"/>
          <p:cNvGraphicFramePr>
            <a:graphicFrameLocks noGrp="1"/>
          </p:cNvGraphicFramePr>
          <p:nvPr/>
        </p:nvGraphicFramePr>
        <p:xfrm>
          <a:off x="7772400" y="2148840"/>
          <a:ext cx="1554480" cy="1316736"/>
        </p:xfrm>
        <a:graphic>
          <a:graphicData uri="http://schemas.openxmlformats.org/drawingml/2006/table">
            <a:tbl>
              <a:tblPr bandRow="1">
                <a:tableStyleId>{5C22544A-7EE6-4342-B048-85BDC9FD1C3A}</a:tableStyleId>
              </a:tblPr>
              <a:tblGrid>
                <a:gridCol w="1554480"/>
              </a:tblGrid>
              <a:tr h="329184">
                <a:tc>
                  <a:txBody>
                    <a:bodyPr/>
                    <a:lstStyle/>
                    <a:p>
                      <a:pPr algn="ctr"/>
                      <a:r>
                        <a:rPr sz="1600" b="1">
                          <a:solidFill>
                            <a:srgbClr val="FFFFFF"/>
                          </a:solidFill>
                          <a:latin typeface="Times New Roman"/>
                        </a:rPr>
                        <a:t>× (1 − α) = 0.1</a:t>
                      </a:r>
                    </a:p>
                  </a:txBody>
                  <a:tcPr marL="36576" marR="36576" marT="9144" marB="9144">
                    <a:solidFill>
                      <a:srgbClr val="1F4E79"/>
                    </a:solidFill>
                  </a:tcPr>
                </a:tc>
              </a:tr>
              <a:tr h="329184">
                <a:tc>
                  <a:txBody>
                    <a:bodyPr/>
                    <a:lstStyle/>
                    <a:p>
                      <a:pPr algn="ctr"/>
                      <a:r>
                        <a:rPr sz="1600" b="0">
                          <a:solidFill>
                            <a:srgbClr val="202020"/>
                          </a:solidFill>
                          <a:latin typeface="Times New Roman"/>
                        </a:rPr>
                        <a:t>-0.0213</a:t>
                      </a:r>
                    </a:p>
                  </a:txBody>
                  <a:tcPr marL="36576" marR="36576" marT="9144" marB="9144">
                    <a:solidFill>
                      <a:srgbClr val="FFFFFF"/>
                    </a:solidFill>
                  </a:tcPr>
                </a:tc>
              </a:tr>
              <a:tr h="329184">
                <a:tc>
                  <a:txBody>
                    <a:bodyPr/>
                    <a:lstStyle/>
                    <a:p>
                      <a:pPr algn="ctr"/>
                      <a:r>
                        <a:rPr sz="1600" b="0">
                          <a:solidFill>
                            <a:srgbClr val="202020"/>
                          </a:solidFill>
                          <a:latin typeface="Times New Roman"/>
                        </a:rPr>
                        <a:t>0.0107</a:t>
                      </a:r>
                    </a:p>
                  </a:txBody>
                  <a:tcPr marL="36576" marR="36576" marT="9144" marB="9144">
                    <a:solidFill>
                      <a:srgbClr val="FFFFFF"/>
                    </a:solidFill>
                  </a:tcPr>
                </a:tc>
              </a:tr>
              <a:tr h="329184">
                <a:tc>
                  <a:txBody>
                    <a:bodyPr/>
                    <a:lstStyle/>
                    <a:p>
                      <a:pPr algn="ctr"/>
                      <a:r>
                        <a:rPr sz="1600" b="0">
                          <a:solidFill>
                            <a:srgbClr val="202020"/>
                          </a:solidFill>
                          <a:latin typeface="Times New Roman"/>
                        </a:rPr>
                        <a:t>0.0107</a:t>
                      </a:r>
                    </a:p>
                  </a:txBody>
                  <a:tcPr marL="36576" marR="36576" marT="9144" marB="9144">
                    <a:solidFill>
                      <a:srgbClr val="FFFFFF"/>
                    </a:solidFill>
                  </a:tcPr>
                </a:tc>
              </a:tr>
            </a:tbl>
          </a:graphicData>
        </a:graphic>
      </p:graphicFrame>
      <p:graphicFrame>
        <p:nvGraphicFramePr>
          <p:cNvPr id="14" name="Table 13"/>
          <p:cNvGraphicFramePr>
            <a:graphicFrameLocks noGrp="1"/>
          </p:cNvGraphicFramePr>
          <p:nvPr/>
        </p:nvGraphicFramePr>
        <p:xfrm>
          <a:off x="9418320" y="2148840"/>
          <a:ext cx="2011680" cy="1316736"/>
        </p:xfrm>
        <a:graphic>
          <a:graphicData uri="http://schemas.openxmlformats.org/drawingml/2006/table">
            <a:tbl>
              <a:tblPr bandRow="1">
                <a:tableStyleId>{5C22544A-7EE6-4342-B048-85BDC9FD1C3A}</a:tableStyleId>
              </a:tblPr>
              <a:tblGrid>
                <a:gridCol w="2011680"/>
              </a:tblGrid>
              <a:tr h="329184">
                <a:tc>
                  <a:txBody>
                    <a:bodyPr/>
                    <a:lstStyle/>
                    <a:p>
                      <a:pPr algn="ctr"/>
                      <a:r>
                        <a:rPr sz="1600" b="1">
                          <a:solidFill>
                            <a:srgbClr val="FFFFFF"/>
                          </a:solidFill>
                          <a:latin typeface="Times New Roman"/>
                        </a:rPr>
                        <a:t>Total gradient</a:t>
                      </a:r>
                    </a:p>
                  </a:txBody>
                  <a:tcPr marL="36576" marR="36576" marT="9144" marB="9144">
                    <a:solidFill>
                      <a:srgbClr val="1F4E79"/>
                    </a:solidFill>
                  </a:tcPr>
                </a:tc>
              </a:tr>
              <a:tr h="329184">
                <a:tc>
                  <a:txBody>
                    <a:bodyPr/>
                    <a:lstStyle/>
                    <a:p>
                      <a:pPr algn="ctr"/>
                      <a:r>
                        <a:rPr sz="1600" b="0">
                          <a:solidFill>
                            <a:srgbClr val="202020"/>
                          </a:solidFill>
                          <a:latin typeface="Times New Roman"/>
                        </a:rPr>
                        <a:t>-0.7895</a:t>
                      </a:r>
                    </a:p>
                  </a:txBody>
                  <a:tcPr marL="36576" marR="36576" marT="9144" marB="9144">
                    <a:solidFill>
                      <a:srgbClr val="FFF3CD"/>
                    </a:solidFill>
                  </a:tcPr>
                </a:tc>
              </a:tr>
              <a:tr h="329184">
                <a:tc>
                  <a:txBody>
                    <a:bodyPr/>
                    <a:lstStyle/>
                    <a:p>
                      <a:pPr algn="ctr"/>
                      <a:r>
                        <a:rPr sz="1600" b="0">
                          <a:solidFill>
                            <a:srgbClr val="202020"/>
                          </a:solidFill>
                          <a:latin typeface="Times New Roman"/>
                        </a:rPr>
                        <a:t>0.1163</a:t>
                      </a:r>
                    </a:p>
                  </a:txBody>
                  <a:tcPr marL="36576" marR="36576" marT="9144" marB="9144">
                    <a:solidFill>
                      <a:srgbClr val="FFF3CD"/>
                    </a:solidFill>
                  </a:tcPr>
                </a:tc>
              </a:tr>
              <a:tr h="329184">
                <a:tc>
                  <a:txBody>
                    <a:bodyPr/>
                    <a:lstStyle/>
                    <a:p>
                      <a:pPr algn="ctr"/>
                      <a:r>
                        <a:rPr sz="1600" b="0">
                          <a:solidFill>
                            <a:srgbClr val="202020"/>
                          </a:solidFill>
                          <a:latin typeface="Times New Roman"/>
                        </a:rPr>
                        <a:t>0.6732</a:t>
                      </a:r>
                    </a:p>
                  </a:txBody>
                  <a:tcPr marL="36576" marR="36576" marT="9144" marB="9144">
                    <a:solidFill>
                      <a:srgbClr val="FFF3CD"/>
                    </a:solidFill>
                  </a:tcPr>
                </a:tc>
              </a:tr>
            </a:tbl>
          </a:graphicData>
        </a:graphic>
      </p:graphicFrame>
      <p:sp>
        <p:nvSpPr>
          <p:cNvPr id="15" name="Rectangle 14"/>
          <p:cNvSpPr/>
          <p:nvPr/>
        </p:nvSpPr>
        <p:spPr>
          <a:xfrm>
            <a:off x="731520" y="3749039"/>
            <a:ext cx="10881360" cy="91440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E7A45"/>
                </a:solidFill>
                <a:latin typeface="Times New Roman"/>
              </a:rPr>
              <a:t>Gradient descent moves the logit of 2 up, the logit of 7 down the most, and the logit of 3 down only slightly,</a:t>
            </a:r>
          </a:p>
          <a:p>
            <a:pPr algn="l"/>
            <a:r>
              <a:rPr sz="1700" b="1">
                <a:solidFill>
                  <a:srgbClr val="1E7A45"/>
                </a:solidFill>
                <a:latin typeface="Times New Roman"/>
              </a:rPr>
              <a:t>so the distilled model moves toward the view of the cumbersome model: 2 first, 3 second, 7 last.</a:t>
            </a:r>
          </a:p>
        </p:txBody>
      </p:sp>
      <p:sp>
        <p:nvSpPr>
          <p:cNvPr id="16" name="TextBox 15"/>
          <p:cNvSpPr txBox="1"/>
          <p:nvPr/>
        </p:nvSpPr>
        <p:spPr>
          <a:xfrm>
            <a:off x="731520" y="4892040"/>
            <a:ext cx="10881360" cy="1097280"/>
          </a:xfrm>
          <a:prstGeom prst="rect">
            <a:avLst/>
          </a:prstGeom>
          <a:noFill/>
        </p:spPr>
        <p:txBody>
          <a:bodyPr wrap="square">
            <a:spAutoFit/>
          </a:bodyPr>
          <a:lstStyle/>
          <a:p>
            <a:r>
              <a:rPr sz="1600" b="0" i="0">
                <a:solidFill>
                  <a:srgbClr val="59636E"/>
                </a:solidFill>
                <a:latin typeface="Times New Roman"/>
              </a:rPr>
              <a:t>Section 3 of the notebook recomputes these values with automatic differentiation (TensorFlow GradientTape)</a:t>
            </a:r>
          </a:p>
          <a:p>
            <a:r>
              <a:rPr sz="1600" b="0" i="0">
                <a:solidFill>
                  <a:srgbClr val="59636E"/>
                </a:solidFill>
                <a:latin typeface="Times New Roman"/>
              </a:rPr>
              <a:t>and obtains the same objective, 13.8732, and the same gradient.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Graphic spid="8" grpId="0">
        <p:bldAsOne/>
      </p:bldGraphic>
      <p:bldGraphic spid="9" grpId="0">
        <p:bldAsOne/>
      </p:bldGraphic>
      <p:bldGraphic spid="10" grpId="0">
        <p:bldAsOne/>
      </p:bldGraphic>
      <p:bldGraphic spid="11" grpId="0">
        <p:bldAsOne/>
      </p:bldGraphic>
      <p:bldGraphic spid="12" grpId="0">
        <p:bldAsOne/>
      </p:bldGraphic>
      <p:bldGraphic spid="13" grpId="0">
        <p:bldAsOne/>
      </p:bldGraphic>
      <p:bldGraphic spid="14" grpId="0">
        <p:bldAsOne/>
      </p:bldGraphic>
      <p:bldP spid="15" grpId="0" animBg="1"/>
      <p:bldP spid="1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3. Why multiply by T², and matching logits</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Eqs. 2 to 4 of the paper</a:t>
            </a:r>
          </a:p>
        </p:txBody>
      </p:sp>
      <p:graphicFrame>
        <p:nvGraphicFramePr>
          <p:cNvPr id="6" name="Table 5"/>
          <p:cNvGraphicFramePr>
            <a:graphicFrameLocks noGrp="1"/>
          </p:cNvGraphicFramePr>
          <p:nvPr/>
        </p:nvGraphicFramePr>
        <p:xfrm>
          <a:off x="731520" y="1143000"/>
          <a:ext cx="5486398" cy="1316736"/>
        </p:xfrm>
        <a:graphic>
          <a:graphicData uri="http://schemas.openxmlformats.org/drawingml/2006/table">
            <a:tbl>
              <a:tblPr bandRow="1">
                <a:tableStyleId>{5C22544A-7EE6-4342-B048-85BDC9FD1C3A}</a:tableStyleId>
              </a:tblPr>
              <a:tblGrid>
                <a:gridCol w="822959"/>
                <a:gridCol w="2743200"/>
                <a:gridCol w="1920239"/>
              </a:tblGrid>
              <a:tr h="329184">
                <a:tc>
                  <a:txBody>
                    <a:bodyPr/>
                    <a:lstStyle/>
                    <a:p>
                      <a:pPr algn="ctr"/>
                      <a:r>
                        <a:rPr sz="1600" b="1">
                          <a:solidFill>
                            <a:srgbClr val="FFFFFF"/>
                          </a:solidFill>
                          <a:latin typeface="Times New Roman"/>
                        </a:rPr>
                        <a:t>T</a:t>
                      </a:r>
                    </a:p>
                  </a:txBody>
                  <a:tcPr marL="36576" marR="36576" marT="9144" marB="9144">
                    <a:solidFill>
                      <a:srgbClr val="1F4E79"/>
                    </a:solidFill>
                  </a:tcPr>
                </a:tc>
                <a:tc>
                  <a:txBody>
                    <a:bodyPr/>
                    <a:lstStyle/>
                    <a:p>
                      <a:pPr algn="ctr"/>
                      <a:r>
                        <a:rPr sz="1600" b="1">
                          <a:solidFill>
                            <a:srgbClr val="FFFFFF"/>
                          </a:solidFill>
                          <a:latin typeface="Times New Roman"/>
                        </a:rPr>
                        <a:t>largest |gradient|, Eq. 2</a:t>
                      </a:r>
                    </a:p>
                  </a:txBody>
                  <a:tcPr marL="36576" marR="36576" marT="9144" marB="9144">
                    <a:solidFill>
                      <a:srgbClr val="1F4E79"/>
                    </a:solidFill>
                  </a:tcPr>
                </a:tc>
                <a:tc>
                  <a:txBody>
                    <a:bodyPr/>
                    <a:lstStyle/>
                    <a:p>
                      <a:pPr algn="ctr"/>
                      <a:r>
                        <a:rPr sz="1600" b="1">
                          <a:solidFill>
                            <a:srgbClr val="FFFFFF"/>
                          </a:solidFill>
                          <a:latin typeface="Times New Roman"/>
                        </a:rPr>
                        <a:t>multiplied by T²</a:t>
                      </a:r>
                    </a:p>
                  </a:txBody>
                  <a:tcPr marL="36576" marR="36576" marT="9144" marB="9144">
                    <a:solidFill>
                      <a:srgbClr val="1F4E79"/>
                    </a:solidFill>
                  </a:tcPr>
                </a:tc>
              </a:tr>
              <a:tr h="329184">
                <a:tc>
                  <a:txBody>
                    <a:bodyPr/>
                    <a:lstStyle/>
                    <a:p>
                      <a:pPr algn="ctr"/>
                      <a:r>
                        <a:rPr sz="1600" b="0">
                          <a:solidFill>
                            <a:srgbClr val="202020"/>
                          </a:solidFill>
                          <a:latin typeface="Times New Roman"/>
                        </a:rPr>
                        <a:t>1</a:t>
                      </a:r>
                    </a:p>
                  </a:txBody>
                  <a:tcPr marL="36576" marR="36576" marT="9144" marB="9144">
                    <a:solidFill>
                      <a:srgbClr val="FFFFFF"/>
                    </a:solidFill>
                  </a:tcPr>
                </a:tc>
                <a:tc>
                  <a:txBody>
                    <a:bodyPr/>
                    <a:lstStyle/>
                    <a:p>
                      <a:pPr algn="ctr"/>
                      <a:r>
                        <a:rPr sz="1600" b="0">
                          <a:solidFill>
                            <a:srgbClr val="202020"/>
                          </a:solidFill>
                          <a:latin typeface="Times New Roman"/>
                        </a:rPr>
                        <a:t>0.194704</a:t>
                      </a:r>
                    </a:p>
                  </a:txBody>
                  <a:tcPr marL="36576" marR="36576" marT="9144" marB="9144">
                    <a:solidFill>
                      <a:srgbClr val="FFFFFF"/>
                    </a:solidFill>
                  </a:tcPr>
                </a:tc>
                <a:tc>
                  <a:txBody>
                    <a:bodyPr/>
                    <a:lstStyle/>
                    <a:p>
                      <a:pPr algn="ctr"/>
                      <a:r>
                        <a:rPr sz="1600" b="0">
                          <a:solidFill>
                            <a:srgbClr val="202020"/>
                          </a:solidFill>
                          <a:latin typeface="Times New Roman"/>
                        </a:rPr>
                        <a:t>0.1947</a:t>
                      </a:r>
                    </a:p>
                  </a:txBody>
                  <a:tcPr marL="36576" marR="36576" marT="9144" marB="9144">
                    <a:solidFill>
                      <a:srgbClr val="FFFFFF"/>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c>
                  <a:txBody>
                    <a:bodyPr/>
                    <a:lstStyle/>
                    <a:p>
                      <a:pPr algn="ctr"/>
                      <a:r>
                        <a:rPr sz="1600" b="0">
                          <a:solidFill>
                            <a:srgbClr val="202020"/>
                          </a:solidFill>
                          <a:latin typeface="Times New Roman"/>
                        </a:rPr>
                        <a:t>0.053345</a:t>
                      </a:r>
                    </a:p>
                  </a:txBody>
                  <a:tcPr marL="36576" marR="36576" marT="9144" marB="9144">
                    <a:solidFill>
                      <a:srgbClr val="FFFFFF"/>
                    </a:solidFill>
                  </a:tcPr>
                </a:tc>
                <a:tc>
                  <a:txBody>
                    <a:bodyPr/>
                    <a:lstStyle/>
                    <a:p>
                      <a:pPr algn="ctr"/>
                      <a:r>
                        <a:rPr sz="1600" b="0">
                          <a:solidFill>
                            <a:srgbClr val="202020"/>
                          </a:solidFill>
                          <a:latin typeface="Times New Roman"/>
                        </a:rPr>
                        <a:t>0.8535</a:t>
                      </a:r>
                    </a:p>
                  </a:txBody>
                  <a:tcPr marL="36576" marR="36576" marT="9144" marB="9144">
                    <a:solidFill>
                      <a:srgbClr val="FFF3CD"/>
                    </a:solidFill>
                  </a:tcPr>
                </a:tc>
              </a:tr>
              <a:tr h="329184">
                <a:tc>
                  <a:txBody>
                    <a:bodyPr/>
                    <a:lstStyle/>
                    <a:p>
                      <a:pPr algn="ctr"/>
                      <a:r>
                        <a:rPr sz="1600" b="0">
                          <a:solidFill>
                            <a:srgbClr val="202020"/>
                          </a:solidFill>
                          <a:latin typeface="Times New Roman"/>
                        </a:rPr>
                        <a:t>20</a:t>
                      </a:r>
                    </a:p>
                  </a:txBody>
                  <a:tcPr marL="36576" marR="36576" marT="9144" marB="9144">
                    <a:solidFill>
                      <a:srgbClr val="FFFFFF"/>
                    </a:solidFill>
                  </a:tcPr>
                </a:tc>
                <a:tc>
                  <a:txBody>
                    <a:bodyPr/>
                    <a:lstStyle/>
                    <a:p>
                      <a:pPr algn="ctr"/>
                      <a:r>
                        <a:rPr sz="1600" b="0">
                          <a:solidFill>
                            <a:srgbClr val="202020"/>
                          </a:solidFill>
                          <a:latin typeface="Times New Roman"/>
                        </a:rPr>
                        <a:t>0.002637</a:t>
                      </a:r>
                    </a:p>
                  </a:txBody>
                  <a:tcPr marL="36576" marR="36576" marT="9144" marB="9144">
                    <a:solidFill>
                      <a:srgbClr val="FFFFFF"/>
                    </a:solidFill>
                  </a:tcPr>
                </a:tc>
                <a:tc>
                  <a:txBody>
                    <a:bodyPr/>
                    <a:lstStyle/>
                    <a:p>
                      <a:pPr algn="ctr"/>
                      <a:r>
                        <a:rPr sz="1600" b="0">
                          <a:solidFill>
                            <a:srgbClr val="202020"/>
                          </a:solidFill>
                          <a:latin typeface="Times New Roman"/>
                        </a:rPr>
                        <a:t>1.0547</a:t>
                      </a:r>
                    </a:p>
                  </a:txBody>
                  <a:tcPr marL="36576" marR="36576" marT="9144" marB="9144">
                    <a:solidFill>
                      <a:srgbClr val="FFF3CD"/>
                    </a:solidFill>
                  </a:tcPr>
                </a:tc>
              </a:tr>
            </a:tbl>
          </a:graphicData>
        </a:graphic>
      </p:graphicFrame>
      <p:sp>
        <p:nvSpPr>
          <p:cNvPr id="7" name="TextBox 6"/>
          <p:cNvSpPr txBox="1"/>
          <p:nvPr/>
        </p:nvSpPr>
        <p:spPr>
          <a:xfrm>
            <a:off x="731520" y="2606040"/>
            <a:ext cx="5486400" cy="1645920"/>
          </a:xfrm>
          <a:prstGeom prst="rect">
            <a:avLst/>
          </a:prstGeom>
          <a:noFill/>
        </p:spPr>
        <p:txBody>
          <a:bodyPr wrap="square">
            <a:spAutoFit/>
          </a:bodyPr>
          <a:lstStyle/>
          <a:p>
            <a:r>
              <a:rPr sz="1600" b="0" i="0">
                <a:solidFill>
                  <a:srgbClr val="202020"/>
                </a:solidFill>
                <a:latin typeface="Times New Roman"/>
              </a:rPr>
              <a:t>From T = 4 to T = 20 the gradient shrinks by a factor</a:t>
            </a:r>
          </a:p>
          <a:p>
            <a:r>
              <a:rPr sz="1600" b="0" i="0">
                <a:solidFill>
                  <a:srgbClr val="202020"/>
                </a:solidFill>
                <a:latin typeface="Times New Roman"/>
              </a:rPr>
              <a:t>of about 20, close to (20/4)² = 25; multiplied by T²,</a:t>
            </a:r>
          </a:p>
          <a:p>
            <a:r>
              <a:rPr sz="1600" b="0" i="0">
                <a:solidFill>
                  <a:srgbClr val="202020"/>
                </a:solidFill>
                <a:latin typeface="Times New Roman"/>
              </a:rPr>
              <a:t>the values 0.85 and 1.05 are of similar size. The 1/T²</a:t>
            </a:r>
          </a:p>
          <a:p>
            <a:r>
              <a:rPr sz="1600" b="0" i="0">
                <a:solidFill>
                  <a:srgbClr val="202020"/>
                </a:solidFill>
                <a:latin typeface="Times New Roman"/>
              </a:rPr>
              <a:t>scaling holds in the high-temperature limit; T = 1 is</a:t>
            </a:r>
          </a:p>
          <a:p>
            <a:r>
              <a:rPr sz="1600" b="0" i="0">
                <a:solidFill>
                  <a:srgbClr val="202020"/>
                </a:solidFill>
                <a:latin typeface="Times New Roman"/>
              </a:rPr>
              <a:t>outside it.</a:t>
            </a:r>
          </a:p>
        </p:txBody>
      </p:sp>
      <p:pic>
        <p:nvPicPr>
          <p:cNvPr id="8" name="Picture 7" descr="m_logit.png"/>
          <p:cNvPicPr>
            <a:picLocks noChangeAspect="1"/>
          </p:cNvPicPr>
          <p:nvPr/>
        </p:nvPicPr>
        <p:blipFill>
          <a:blip r:embed="rId2"/>
          <a:stretch>
            <a:fillRect/>
          </a:stretch>
        </p:blipFill>
        <p:spPr>
          <a:xfrm>
            <a:off x="6675120" y="1097280"/>
            <a:ext cx="3845186" cy="868680"/>
          </a:xfrm>
          <a:prstGeom prst="rect">
            <a:avLst/>
          </a:prstGeom>
        </p:spPr>
      </p:pic>
      <p:sp>
        <p:nvSpPr>
          <p:cNvPr id="9" name="TextBox 8"/>
          <p:cNvSpPr txBox="1"/>
          <p:nvPr/>
        </p:nvSpPr>
        <p:spPr>
          <a:xfrm>
            <a:off x="6675120" y="2057400"/>
            <a:ext cx="5029200" cy="1188720"/>
          </a:xfrm>
          <a:prstGeom prst="rect">
            <a:avLst/>
          </a:prstGeom>
          <a:noFill/>
        </p:spPr>
        <p:txBody>
          <a:bodyPr wrap="square">
            <a:spAutoFit/>
          </a:bodyPr>
          <a:lstStyle/>
          <a:p>
            <a:r>
              <a:rPr sz="1600" b="0" i="0">
                <a:solidFill>
                  <a:srgbClr val="202020"/>
                </a:solidFill>
                <a:latin typeface="Times New Roman"/>
              </a:rPr>
              <a:t>If T is high compared with the logits and the logits</a:t>
            </a:r>
          </a:p>
          <a:p>
            <a:r>
              <a:rPr sz="1600" b="0" i="0">
                <a:solidFill>
                  <a:srgbClr val="202020"/>
                </a:solidFill>
                <a:latin typeface="Times New Roman"/>
              </a:rPr>
              <a:t>are zero-meaned (N classes), distillation minimizes</a:t>
            </a:r>
          </a:p>
        </p:txBody>
      </p:sp>
      <p:pic>
        <p:nvPicPr>
          <p:cNvPr id="10" name="Picture 9" descr="m_square.png"/>
          <p:cNvPicPr>
            <a:picLocks noChangeAspect="1"/>
          </p:cNvPicPr>
          <p:nvPr/>
        </p:nvPicPr>
        <p:blipFill>
          <a:blip r:embed="rId3"/>
          <a:stretch>
            <a:fillRect/>
          </a:stretch>
        </p:blipFill>
        <p:spPr>
          <a:xfrm>
            <a:off x="8778240" y="2606040"/>
            <a:ext cx="1670634" cy="548640"/>
          </a:xfrm>
          <a:prstGeom prst="rect">
            <a:avLst/>
          </a:prstGeom>
        </p:spPr>
      </p:pic>
      <p:graphicFrame>
        <p:nvGraphicFramePr>
          <p:cNvPr id="11" name="Table 10"/>
          <p:cNvGraphicFramePr>
            <a:graphicFrameLocks noGrp="1"/>
          </p:cNvGraphicFramePr>
          <p:nvPr/>
        </p:nvGraphicFramePr>
        <p:xfrm>
          <a:off x="6675120" y="3291840"/>
          <a:ext cx="4937760" cy="1316736"/>
        </p:xfrm>
        <a:graphic>
          <a:graphicData uri="http://schemas.openxmlformats.org/drawingml/2006/table">
            <a:tbl>
              <a:tblPr bandRow="1">
                <a:tableStyleId>{5C22544A-7EE6-4342-B048-85BDC9FD1C3A}</a:tableStyleId>
              </a:tblPr>
              <a:tblGrid>
                <a:gridCol w="987552"/>
                <a:gridCol w="1975104"/>
                <a:gridCol w="1975104"/>
              </a:tblGrid>
              <a:tr h="329184">
                <a:tc>
                  <a:txBody>
                    <a:bodyPr/>
                    <a:lstStyle/>
                    <a:p>
                      <a:pPr algn="ctr"/>
                      <a:r>
                        <a:rPr sz="1600" b="1">
                          <a:solidFill>
                            <a:srgbClr val="FFFFFF"/>
                          </a:solidFill>
                          <a:latin typeface="Times New Roman"/>
                        </a:rPr>
                        <a:t>Class</a:t>
                      </a:r>
                    </a:p>
                  </a:txBody>
                  <a:tcPr marL="36576" marR="36576" marT="9144" marB="9144">
                    <a:solidFill>
                      <a:srgbClr val="1F4E79"/>
                    </a:solidFill>
                  </a:tcPr>
                </a:tc>
                <a:tc>
                  <a:txBody>
                    <a:bodyPr/>
                    <a:lstStyle/>
                    <a:p>
                      <a:pPr algn="ctr"/>
                      <a:r>
                        <a:rPr sz="1600" b="1">
                          <a:solidFill>
                            <a:srgbClr val="FFFFFF"/>
                          </a:solidFill>
                          <a:latin typeface="Times New Roman"/>
                        </a:rPr>
                        <a:t>Eq. 2, exact</a:t>
                      </a:r>
                    </a:p>
                  </a:txBody>
                  <a:tcPr marL="36576" marR="36576" marT="9144" marB="9144">
                    <a:solidFill>
                      <a:srgbClr val="1F4E79"/>
                    </a:solidFill>
                  </a:tcPr>
                </a:tc>
                <a:tc>
                  <a:txBody>
                    <a:bodyPr/>
                    <a:lstStyle/>
                    <a:p>
                      <a:pPr algn="ctr"/>
                      <a:r>
                        <a:rPr sz="1600" b="1">
                          <a:solidFill>
                            <a:srgbClr val="FFFFFF"/>
                          </a:solidFill>
                          <a:latin typeface="Times New Roman"/>
                        </a:rPr>
                        <a:t>Eq. 4, approx.</a:t>
                      </a:r>
                    </a:p>
                  </a:txBody>
                  <a:tcPr marL="36576" marR="36576" marT="9144" marB="9144">
                    <a:solidFill>
                      <a:srgbClr val="1F4E79"/>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c>
                  <a:txBody>
                    <a:bodyPr/>
                    <a:lstStyle/>
                    <a:p>
                      <a:pPr algn="ctr"/>
                      <a:r>
                        <a:rPr sz="1600" b="0">
                          <a:solidFill>
                            <a:srgbClr val="202020"/>
                          </a:solidFill>
                          <a:latin typeface="Times New Roman"/>
                        </a:rPr>
                        <a:t>-0.00229</a:t>
                      </a:r>
                    </a:p>
                  </a:txBody>
                  <a:tcPr marL="36576" marR="36576" marT="9144" marB="9144">
                    <a:solidFill>
                      <a:srgbClr val="FFFFFF"/>
                    </a:solidFill>
                  </a:tcPr>
                </a:tc>
                <a:tc>
                  <a:txBody>
                    <a:bodyPr/>
                    <a:lstStyle/>
                    <a:p>
                      <a:pPr algn="ctr"/>
                      <a:r>
                        <a:rPr sz="1600" b="0">
                          <a:solidFill>
                            <a:srgbClr val="202020"/>
                          </a:solidFill>
                          <a:latin typeface="Times New Roman"/>
                        </a:rPr>
                        <a:t>-0.00222</a:t>
                      </a:r>
                    </a:p>
                  </a:txBody>
                  <a:tcPr marL="36576" marR="36576" marT="9144" marB="9144">
                    <a:solidFill>
                      <a:srgbClr val="FFFFFF"/>
                    </a:solidFill>
                  </a:tcPr>
                </a:tc>
              </a:tr>
              <a:tr h="329184">
                <a:tc>
                  <a:txBody>
                    <a:bodyPr/>
                    <a:lstStyle/>
                    <a:p>
                      <a:pPr algn="ctr"/>
                      <a:r>
                        <a:rPr sz="1600" b="0">
                          <a:solidFill>
                            <a:srgbClr val="202020"/>
                          </a:solidFill>
                          <a:latin typeface="Times New Roman"/>
                        </a:rPr>
                        <a:t>3</a:t>
                      </a:r>
                    </a:p>
                  </a:txBody>
                  <a:tcPr marL="36576" marR="36576" marT="9144" marB="9144">
                    <a:solidFill>
                      <a:srgbClr val="FFFFFF"/>
                    </a:solidFill>
                  </a:tcPr>
                </a:tc>
                <a:tc>
                  <a:txBody>
                    <a:bodyPr/>
                    <a:lstStyle/>
                    <a:p>
                      <a:pPr algn="ctr"/>
                      <a:r>
                        <a:rPr sz="1600" b="0">
                          <a:solidFill>
                            <a:srgbClr val="202020"/>
                          </a:solidFill>
                          <a:latin typeface="Times New Roman"/>
                        </a:rPr>
                        <a:t>-0.00034</a:t>
                      </a:r>
                    </a:p>
                  </a:txBody>
                  <a:tcPr marL="36576" marR="36576" marT="9144" marB="9144">
                    <a:solidFill>
                      <a:srgbClr val="FFFFFF"/>
                    </a:solidFill>
                  </a:tcPr>
                </a:tc>
                <a:tc>
                  <a:txBody>
                    <a:bodyPr/>
                    <a:lstStyle/>
                    <a:p>
                      <a:pPr algn="ctr"/>
                      <a:r>
                        <a:rPr sz="1600" b="0">
                          <a:solidFill>
                            <a:srgbClr val="202020"/>
                          </a:solidFill>
                          <a:latin typeface="Times New Roman"/>
                        </a:rPr>
                        <a:t>-0.00056</a:t>
                      </a:r>
                    </a:p>
                  </a:txBody>
                  <a:tcPr marL="36576" marR="36576" marT="9144" marB="9144">
                    <a:solidFill>
                      <a:srgbClr val="FFFFFF"/>
                    </a:solidFill>
                  </a:tcPr>
                </a:tc>
              </a:tr>
              <a:tr h="329184">
                <a:tc>
                  <a:txBody>
                    <a:bodyPr/>
                    <a:lstStyle/>
                    <a:p>
                      <a:pPr algn="ctr"/>
                      <a:r>
                        <a:rPr sz="1600" b="0">
                          <a:solidFill>
                            <a:srgbClr val="202020"/>
                          </a:solidFill>
                          <a:latin typeface="Times New Roman"/>
                        </a:rPr>
                        <a:t>7</a:t>
                      </a:r>
                    </a:p>
                  </a:txBody>
                  <a:tcPr marL="36576" marR="36576" marT="9144" marB="9144">
                    <a:solidFill>
                      <a:srgbClr val="FFFFFF"/>
                    </a:solidFill>
                  </a:tcPr>
                </a:tc>
                <a:tc>
                  <a:txBody>
                    <a:bodyPr/>
                    <a:lstStyle/>
                    <a:p>
                      <a:pPr algn="ctr"/>
                      <a:r>
                        <a:rPr sz="1600" b="0">
                          <a:solidFill>
                            <a:srgbClr val="202020"/>
                          </a:solidFill>
                          <a:latin typeface="Times New Roman"/>
                        </a:rPr>
                        <a:t>0.00264</a:t>
                      </a:r>
                    </a:p>
                  </a:txBody>
                  <a:tcPr marL="36576" marR="36576" marT="9144" marB="9144">
                    <a:solidFill>
                      <a:srgbClr val="FFFFFF"/>
                    </a:solidFill>
                  </a:tcPr>
                </a:tc>
                <a:tc>
                  <a:txBody>
                    <a:bodyPr/>
                    <a:lstStyle/>
                    <a:p>
                      <a:pPr algn="ctr"/>
                      <a:r>
                        <a:rPr sz="1600" b="0">
                          <a:solidFill>
                            <a:srgbClr val="202020"/>
                          </a:solidFill>
                          <a:latin typeface="Times New Roman"/>
                        </a:rPr>
                        <a:t>0.00278</a:t>
                      </a:r>
                    </a:p>
                  </a:txBody>
                  <a:tcPr marL="36576" marR="36576" marT="9144" marB="9144">
                    <a:solidFill>
                      <a:srgbClr val="FFFFFF"/>
                    </a:solidFill>
                  </a:tcPr>
                </a:tc>
              </a:tr>
            </a:tbl>
          </a:graphicData>
        </a:graphic>
      </p:graphicFrame>
      <p:sp>
        <p:nvSpPr>
          <p:cNvPr id="12" name="TextBox 11"/>
          <p:cNvSpPr txBox="1"/>
          <p:nvPr/>
        </p:nvSpPr>
        <p:spPr>
          <a:xfrm>
            <a:off x="6675120" y="4709160"/>
            <a:ext cx="5029200" cy="640080"/>
          </a:xfrm>
          <a:prstGeom prst="rect">
            <a:avLst/>
          </a:prstGeom>
          <a:noFill/>
        </p:spPr>
        <p:txBody>
          <a:bodyPr wrap="square">
            <a:spAutoFit/>
          </a:bodyPr>
          <a:lstStyle/>
          <a:p>
            <a:r>
              <a:rPr sz="1400" b="0" i="0">
                <a:solidFill>
                  <a:srgbClr val="59636E"/>
                </a:solidFill>
                <a:latin typeface="Times New Roman"/>
              </a:rPr>
              <a:t>T = 20; zero-meaned z = (1.33, −0.67, −0.67), v = (4, 0, −4)</a:t>
            </a:r>
          </a:p>
        </p:txBody>
      </p:sp>
      <p:sp>
        <p:nvSpPr>
          <p:cNvPr id="13" name="Rectangle 12"/>
          <p:cNvSpPr/>
          <p:nvPr/>
        </p:nvSpPr>
        <p:spPr>
          <a:xfrm>
            <a:off x="731520" y="5394960"/>
            <a:ext cx="10881360" cy="91440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1E7A45"/>
                </a:solidFill>
                <a:latin typeface="Times New Roman"/>
              </a:rPr>
              <a:t>Matching logits is a special case of distillation. At lower temperatures, distillation pays much less attention</a:t>
            </a:r>
          </a:p>
          <a:p>
            <a:pPr algn="l"/>
            <a:r>
              <a:rPr sz="1600" b="1">
                <a:solidFill>
                  <a:srgbClr val="1E7A45"/>
                </a:solidFill>
                <a:latin typeface="Times New Roman"/>
              </a:rPr>
              <a:t>to matching logits that are much more negative than the average.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0" grpId="0" animBg="1"/>
      <p:bldGraphic spid="11" grpId="0">
        <p:bldAsOne/>
      </p:bldGraphic>
      <p:bldP spid="12" grpId="0" animBg="1"/>
      <p:bldP spid="1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Preliminary experiments on MNIST</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From this slide on, all results come from the notebook knowledge_distillation_en.ipynb</a:t>
            </a:r>
          </a:p>
        </p:txBody>
      </p:sp>
      <p:pic>
        <p:nvPicPr>
          <p:cNvPr id="6" name="Picture 5" descr="f_digits.png"/>
          <p:cNvPicPr>
            <a:picLocks noChangeAspect="1"/>
          </p:cNvPicPr>
          <p:nvPr/>
        </p:nvPicPr>
        <p:blipFill>
          <a:blip r:embed="rId2"/>
          <a:stretch>
            <a:fillRect/>
          </a:stretch>
        </p:blipFill>
        <p:spPr>
          <a:xfrm>
            <a:off x="731520" y="1097280"/>
            <a:ext cx="10698480" cy="1514015"/>
          </a:xfrm>
          <a:prstGeom prst="rect">
            <a:avLst/>
          </a:prstGeom>
        </p:spPr>
      </p:pic>
      <p:graphicFrame>
        <p:nvGraphicFramePr>
          <p:cNvPr id="7" name="Table 6"/>
          <p:cNvGraphicFramePr>
            <a:graphicFrameLocks noGrp="1"/>
          </p:cNvGraphicFramePr>
          <p:nvPr/>
        </p:nvGraphicFramePr>
        <p:xfrm>
          <a:off x="731520" y="2606040"/>
          <a:ext cx="10881360" cy="1975104"/>
        </p:xfrm>
        <a:graphic>
          <a:graphicData uri="http://schemas.openxmlformats.org/drawingml/2006/table">
            <a:tbl>
              <a:tblPr bandRow="1">
                <a:tableStyleId>{5C22544A-7EE6-4342-B048-85BDC9FD1C3A}</a:tableStyleId>
              </a:tblPr>
              <a:tblGrid>
                <a:gridCol w="2240280"/>
                <a:gridCol w="4160520"/>
                <a:gridCol w="4480560"/>
              </a:tblGrid>
              <a:tr h="329184">
                <a:tc>
                  <a:txBody>
                    <a:bodyPr/>
                    <a:lstStyle/>
                    <a:p>
                      <a:pPr algn="ctr"/>
                      <a:r>
                        <a:rPr sz="1600" b="1">
                          <a:solidFill>
                            <a:srgbClr val="FFFFFF"/>
                          </a:solidFill>
                          <a:latin typeface="Times New Roman"/>
                        </a:rPr>
                        <a:t/>
                      </a:r>
                    </a:p>
                  </a:txBody>
                  <a:tcPr marL="36576" marR="36576" marT="9144" marB="9144">
                    <a:solidFill>
                      <a:srgbClr val="1F4E79"/>
                    </a:solidFill>
                  </a:tcPr>
                </a:tc>
                <a:tc>
                  <a:txBody>
                    <a:bodyPr/>
                    <a:lstStyle/>
                    <a:p>
                      <a:pPr algn="ctr"/>
                      <a:r>
                        <a:rPr sz="1600" b="1">
                          <a:solidFill>
                            <a:srgbClr val="FFFFFF"/>
                          </a:solidFill>
                          <a:latin typeface="Times New Roman"/>
                        </a:rPr>
                        <a:t>Section 3 of the paper</a:t>
                      </a:r>
                    </a:p>
                  </a:txBody>
                  <a:tcPr marL="36576" marR="36576" marT="9144" marB="9144">
                    <a:solidFill>
                      <a:srgbClr val="1F4E79"/>
                    </a:solidFill>
                  </a:tcPr>
                </a:tc>
                <a:tc>
                  <a:txBody>
                    <a:bodyPr/>
                    <a:lstStyle/>
                    <a:p>
                      <a:pPr algn="ctr"/>
                      <a:r>
                        <a:rPr sz="1600" b="1">
                          <a:solidFill>
                            <a:srgbClr val="FFFFFF"/>
                          </a:solidFill>
                          <a:latin typeface="Times New Roman"/>
                        </a:rPr>
                        <a:t>Notebook of this module</a:t>
                      </a:r>
                    </a:p>
                  </a:txBody>
                  <a:tcPr marL="36576" marR="36576" marT="9144" marB="9144">
                    <a:solidFill>
                      <a:srgbClr val="1F4E79"/>
                    </a:solidFill>
                  </a:tcPr>
                </a:tc>
              </a:tr>
              <a:tr h="329184">
                <a:tc>
                  <a:txBody>
                    <a:bodyPr/>
                    <a:lstStyle/>
                    <a:p>
                      <a:pPr algn="ctr"/>
                      <a:r>
                        <a:rPr sz="1600" b="0">
                          <a:solidFill>
                            <a:srgbClr val="202020"/>
                          </a:solidFill>
                          <a:latin typeface="Times New Roman"/>
                        </a:rPr>
                        <a:t>Training cases</a:t>
                      </a:r>
                    </a:p>
                  </a:txBody>
                  <a:tcPr marL="36576" marR="36576" marT="9144" marB="9144">
                    <a:solidFill>
                      <a:srgbClr val="FFFFFF"/>
                    </a:solidFill>
                  </a:tcPr>
                </a:tc>
                <a:tc>
                  <a:txBody>
                    <a:bodyPr/>
                    <a:lstStyle/>
                    <a:p>
                      <a:pPr algn="ctr"/>
                      <a:r>
                        <a:rPr sz="1600" b="0">
                          <a:solidFill>
                            <a:srgbClr val="202020"/>
                          </a:solidFill>
                          <a:latin typeface="Times New Roman"/>
                        </a:rPr>
                        <a:t>60,000</a:t>
                      </a:r>
                    </a:p>
                  </a:txBody>
                  <a:tcPr marL="36576" marR="36576" marT="9144" marB="9144">
                    <a:solidFill>
                      <a:srgbClr val="FFFFFF"/>
                    </a:solidFill>
                  </a:tcPr>
                </a:tc>
                <a:tc>
                  <a:txBody>
                    <a:bodyPr/>
                    <a:lstStyle/>
                    <a:p>
                      <a:pPr algn="ctr"/>
                      <a:r>
                        <a:rPr sz="1600" b="0">
                          <a:solidFill>
                            <a:srgbClr val="202020"/>
                          </a:solidFill>
                          <a:latin typeface="Times New Roman"/>
                        </a:rPr>
                        <a:t>10,000 (1000 of each digit)</a:t>
                      </a:r>
                    </a:p>
                  </a:txBody>
                  <a:tcPr marL="36576" marR="36576" marT="9144" marB="9144">
                    <a:solidFill>
                      <a:srgbClr val="FFFFFF"/>
                    </a:solidFill>
                  </a:tcPr>
                </a:tc>
              </a:tr>
              <a:tr h="329184">
                <a:tc>
                  <a:txBody>
                    <a:bodyPr/>
                    <a:lstStyle/>
                    <a:p>
                      <a:pPr algn="ctr"/>
                      <a:r>
                        <a:rPr sz="1600" b="0">
                          <a:solidFill>
                            <a:srgbClr val="202020"/>
                          </a:solidFill>
                          <a:latin typeface="Times New Roman"/>
                        </a:rPr>
                        <a:t>Test cases</a:t>
                      </a:r>
                    </a:p>
                  </a:txBody>
                  <a:tcPr marL="36576" marR="36576" marT="9144" marB="9144">
                    <a:solidFill>
                      <a:srgbClr val="FFFFFF"/>
                    </a:solidFill>
                  </a:tcPr>
                </a:tc>
                <a:tc>
                  <a:txBody>
                    <a:bodyPr/>
                    <a:lstStyle/>
                    <a:p>
                      <a:pPr algn="ctr"/>
                      <a:r>
                        <a:rPr sz="1600" b="0">
                          <a:solidFill>
                            <a:srgbClr val="202020"/>
                          </a:solidFill>
                          <a:latin typeface="Times New Roman"/>
                        </a:rPr>
                        <a:t>10,000</a:t>
                      </a:r>
                    </a:p>
                  </a:txBody>
                  <a:tcPr marL="36576" marR="36576" marT="9144" marB="9144">
                    <a:solidFill>
                      <a:srgbClr val="FFFFFF"/>
                    </a:solidFill>
                  </a:tcPr>
                </a:tc>
                <a:tc>
                  <a:txBody>
                    <a:bodyPr/>
                    <a:lstStyle/>
                    <a:p>
                      <a:pPr algn="ctr"/>
                      <a:r>
                        <a:rPr sz="1600" b="0">
                          <a:solidFill>
                            <a:srgbClr val="202020"/>
                          </a:solidFill>
                          <a:latin typeface="Times New Roman"/>
                        </a:rPr>
                        <a:t>10,000 (the same test set)</a:t>
                      </a:r>
                    </a:p>
                  </a:txBody>
                  <a:tcPr marL="36576" marR="36576" marT="9144" marB="9144">
                    <a:solidFill>
                      <a:srgbClr val="FFFFFF"/>
                    </a:solidFill>
                  </a:tcPr>
                </a:tc>
              </a:tr>
              <a:tr h="329184">
                <a:tc>
                  <a:txBody>
                    <a:bodyPr/>
                    <a:lstStyle/>
                    <a:p>
                      <a:pPr algn="ctr"/>
                      <a:r>
                        <a:rPr sz="1600" b="0">
                          <a:solidFill>
                            <a:srgbClr val="202020"/>
                          </a:solidFill>
                          <a:latin typeface="Times New Roman"/>
                        </a:rPr>
                        <a:t>Cumbersome model</a:t>
                      </a:r>
                    </a:p>
                  </a:txBody>
                  <a:tcPr marL="36576" marR="36576" marT="9144" marB="9144">
                    <a:solidFill>
                      <a:srgbClr val="FFFFFF"/>
                    </a:solidFill>
                  </a:tcPr>
                </a:tc>
                <a:tc>
                  <a:txBody>
                    <a:bodyPr/>
                    <a:lstStyle/>
                    <a:p>
                      <a:pPr algn="ctr"/>
                      <a:r>
                        <a:rPr sz="1600" b="0">
                          <a:solidFill>
                            <a:srgbClr val="202020"/>
                          </a:solidFill>
                          <a:latin typeface="Times New Roman"/>
                        </a:rPr>
                        <a:t>1200-1200, dropout, jitter of 2 pixels</a:t>
                      </a:r>
                    </a:p>
                  </a:txBody>
                  <a:tcPr marL="36576" marR="36576" marT="9144" marB="9144">
                    <a:solidFill>
                      <a:srgbClr val="FFFFFF"/>
                    </a:solidFill>
                  </a:tcPr>
                </a:tc>
                <a:tc>
                  <a:txBody>
                    <a:bodyPr/>
                    <a:lstStyle/>
                    <a:p>
                      <a:pPr algn="ctr"/>
                      <a:r>
                        <a:rPr sz="1600" b="0">
                          <a:solidFill>
                            <a:srgbClr val="202020"/>
                          </a:solidFill>
                          <a:latin typeface="Times New Roman"/>
                        </a:rPr>
                        <a:t>1200-1200, dropout, jitter of 2 pixels</a:t>
                      </a:r>
                    </a:p>
                  </a:txBody>
                  <a:tcPr marL="36576" marR="36576" marT="9144" marB="9144">
                    <a:solidFill>
                      <a:srgbClr val="FFFFFF"/>
                    </a:solidFill>
                  </a:tcPr>
                </a:tc>
              </a:tr>
              <a:tr h="329184">
                <a:tc>
                  <a:txBody>
                    <a:bodyPr/>
                    <a:lstStyle/>
                    <a:p>
                      <a:pPr algn="ctr"/>
                      <a:r>
                        <a:rPr sz="1600" b="0">
                          <a:solidFill>
                            <a:srgbClr val="202020"/>
                          </a:solidFill>
                          <a:latin typeface="Times New Roman"/>
                        </a:rPr>
                        <a:t>Small net</a:t>
                      </a:r>
                    </a:p>
                  </a:txBody>
                  <a:tcPr marL="36576" marR="36576" marT="9144" marB="9144">
                    <a:solidFill>
                      <a:srgbClr val="FFFFFF"/>
                    </a:solidFill>
                  </a:tcPr>
                </a:tc>
                <a:tc>
                  <a:txBody>
                    <a:bodyPr/>
                    <a:lstStyle/>
                    <a:p>
                      <a:pPr algn="ctr"/>
                      <a:r>
                        <a:rPr sz="1600" b="0">
                          <a:solidFill>
                            <a:srgbClr val="202020"/>
                          </a:solidFill>
                          <a:latin typeface="Times New Roman"/>
                        </a:rPr>
                        <a:t>800-800, no regularization; also 30-30</a:t>
                      </a:r>
                    </a:p>
                  </a:txBody>
                  <a:tcPr marL="36576" marR="36576" marT="9144" marB="9144">
                    <a:solidFill>
                      <a:srgbClr val="FFFFFF"/>
                    </a:solidFill>
                  </a:tcPr>
                </a:tc>
                <a:tc>
                  <a:txBody>
                    <a:bodyPr/>
                    <a:lstStyle/>
                    <a:p>
                      <a:pPr algn="ctr"/>
                      <a:r>
                        <a:rPr sz="1600" b="0">
                          <a:solidFill>
                            <a:srgbClr val="202020"/>
                          </a:solidFill>
                          <a:latin typeface="Times New Roman"/>
                        </a:rPr>
                        <a:t>100-100, no regularization; also 30-30</a:t>
                      </a:r>
                    </a:p>
                  </a:txBody>
                  <a:tcPr marL="36576" marR="36576" marT="9144" marB="9144">
                    <a:solidFill>
                      <a:srgbClr val="FFFFFF"/>
                    </a:solidFill>
                  </a:tcPr>
                </a:tc>
              </a:tr>
              <a:tr h="329184">
                <a:tc>
                  <a:txBody>
                    <a:bodyPr/>
                    <a:lstStyle/>
                    <a:p>
                      <a:pPr algn="ctr"/>
                      <a:r>
                        <a:rPr sz="1600" b="0">
                          <a:solidFill>
                            <a:srgbClr val="202020"/>
                          </a:solidFill>
                          <a:latin typeface="Times New Roman"/>
                        </a:rPr>
                        <a:t>Temperature</a:t>
                      </a:r>
                    </a:p>
                  </a:txBody>
                  <a:tcPr marL="36576" marR="36576" marT="9144" marB="9144">
                    <a:solidFill>
                      <a:srgbClr val="FFFFFF"/>
                    </a:solidFill>
                  </a:tcPr>
                </a:tc>
                <a:tc>
                  <a:txBody>
                    <a:bodyPr/>
                    <a:lstStyle/>
                    <a:p>
                      <a:pPr algn="ctr"/>
                      <a:r>
                        <a:rPr sz="1600" b="0">
                          <a:solidFill>
                            <a:srgbClr val="202020"/>
                          </a:solidFill>
                          <a:latin typeface="Times New Roman"/>
                        </a:rPr>
                        <a:t>20 (and others)</a:t>
                      </a:r>
                    </a:p>
                  </a:txBody>
                  <a:tcPr marL="36576" marR="36576" marT="9144" marB="9144">
                    <a:solidFill>
                      <a:srgbClr val="FFFFFF"/>
                    </a:solidFill>
                  </a:tcPr>
                </a:tc>
                <a:tc>
                  <a:txBody>
                    <a:bodyPr/>
                    <a:lstStyle/>
                    <a:p>
                      <a:pPr algn="ctr"/>
                      <a:r>
                        <a:rPr sz="1600" b="0">
                          <a:solidFill>
                            <a:srgbClr val="202020"/>
                          </a:solidFill>
                          <a:latin typeface="Times New Roman"/>
                        </a:rPr>
                        <a:t>1, 2, 4, 8, 20; α = 0.9</a:t>
                      </a:r>
                    </a:p>
                  </a:txBody>
                  <a:tcPr marL="36576" marR="36576" marT="9144" marB="9144">
                    <a:solidFill>
                      <a:srgbClr val="FFFFFF"/>
                    </a:solidFill>
                  </a:tcPr>
                </a:tc>
              </a:tr>
            </a:tbl>
          </a:graphicData>
        </a:graphic>
      </p:graphicFrame>
      <p:sp>
        <p:nvSpPr>
          <p:cNvPr id="8" name="TextBox 7"/>
          <p:cNvSpPr txBox="1"/>
          <p:nvPr/>
        </p:nvSpPr>
        <p:spPr>
          <a:xfrm>
            <a:off x="731520" y="4754880"/>
            <a:ext cx="10881360" cy="1280160"/>
          </a:xfrm>
          <a:prstGeom prst="rect">
            <a:avLst/>
          </a:prstGeom>
          <a:noFill/>
        </p:spPr>
        <p:txBody>
          <a:bodyPr wrap="square">
            <a:spAutoFit/>
          </a:bodyPr>
          <a:lstStyle/>
          <a:p>
            <a:r>
              <a:rPr sz="1600" b="0" i="0">
                <a:solidFill>
                  <a:srgbClr val="202020"/>
                </a:solidFill>
                <a:latin typeface="Times New Roman"/>
              </a:rPr>
              <a:t>1200-1200 denotes two hidden layers of 1200 rectified linear hidden units.</a:t>
            </a:r>
          </a:p>
          <a:p>
            <a:r>
              <a:rPr sz="1600" b="0" i="0">
                <a:solidFill>
                  <a:srgbClr val="202020"/>
                </a:solidFill>
                <a:latin typeface="Times New Roman"/>
              </a:rPr>
              <a:t>The training set and the nets are smaller than in the paper, so the numbers of test errors differ; what matters is whether the three effects are reproduced.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Graphic spid="7" grpId="0">
        <p:bldAsOne/>
      </p:bldGraphic>
      <p:bldP spid="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4. Distillation gives fewer test errors</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Number of errors on the 10,000 test cases</a:t>
            </a:r>
          </a:p>
        </p:txBody>
      </p:sp>
      <p:graphicFrame>
        <p:nvGraphicFramePr>
          <p:cNvPr id="6" name="Table 5"/>
          <p:cNvGraphicFramePr>
            <a:graphicFrameLocks noGrp="1"/>
          </p:cNvGraphicFramePr>
          <p:nvPr/>
        </p:nvGraphicFramePr>
        <p:xfrm>
          <a:off x="731520" y="1143000"/>
          <a:ext cx="5669279" cy="1316736"/>
        </p:xfrm>
        <a:graphic>
          <a:graphicData uri="http://schemas.openxmlformats.org/drawingml/2006/table">
            <a:tbl>
              <a:tblPr bandRow="1">
                <a:tableStyleId>{5C22544A-7EE6-4342-B048-85BDC9FD1C3A}</a:tableStyleId>
              </a:tblPr>
              <a:tblGrid>
                <a:gridCol w="2632165"/>
                <a:gridCol w="1518557"/>
                <a:gridCol w="1518557"/>
              </a:tblGrid>
              <a:tr h="329184">
                <a:tc>
                  <a:txBody>
                    <a:bodyPr/>
                    <a:lstStyle/>
                    <a:p>
                      <a:pPr algn="ctr"/>
                      <a:r>
                        <a:rPr sz="1600" b="1">
                          <a:solidFill>
                            <a:srgbClr val="FFFFFF"/>
                          </a:solidFill>
                          <a:latin typeface="Times New Roman"/>
                        </a:rPr>
                        <a:t>Model</a:t>
                      </a:r>
                    </a:p>
                  </a:txBody>
                  <a:tcPr marL="36576" marR="36576" marT="9144" marB="9144">
                    <a:solidFill>
                      <a:srgbClr val="1F4E79"/>
                    </a:solidFill>
                  </a:tcPr>
                </a:tc>
                <a:tc>
                  <a:txBody>
                    <a:bodyPr/>
                    <a:lstStyle/>
                    <a:p>
                      <a:pPr algn="ctr"/>
                      <a:r>
                        <a:rPr sz="1600" b="1">
                          <a:solidFill>
                            <a:srgbClr val="FFFFFF"/>
                          </a:solidFill>
                          <a:latin typeface="Times New Roman"/>
                        </a:rPr>
                        <a:t>Paper</a:t>
                      </a:r>
                    </a:p>
                  </a:txBody>
                  <a:tcPr marL="36576" marR="36576" marT="9144" marB="9144">
                    <a:solidFill>
                      <a:srgbClr val="1F4E79"/>
                    </a:solidFill>
                  </a:tcPr>
                </a:tc>
                <a:tc>
                  <a:txBody>
                    <a:bodyPr/>
                    <a:lstStyle/>
                    <a:p>
                      <a:pPr algn="ctr"/>
                      <a:r>
                        <a:rPr sz="1600" b="1">
                          <a:solidFill>
                            <a:srgbClr val="FFFFFF"/>
                          </a:solidFill>
                          <a:latin typeface="Times New Roman"/>
                        </a:rPr>
                        <a:t>This module</a:t>
                      </a:r>
                    </a:p>
                  </a:txBody>
                  <a:tcPr marL="36576" marR="36576" marT="9144" marB="9144">
                    <a:solidFill>
                      <a:srgbClr val="1F4E79"/>
                    </a:solidFill>
                  </a:tcPr>
                </a:tc>
              </a:tr>
              <a:tr h="329184">
                <a:tc>
                  <a:txBody>
                    <a:bodyPr/>
                    <a:lstStyle/>
                    <a:p>
                      <a:pPr algn="ctr"/>
                      <a:r>
                        <a:rPr sz="1600" b="0">
                          <a:solidFill>
                            <a:srgbClr val="202020"/>
                          </a:solidFill>
                          <a:latin typeface="Times New Roman"/>
                        </a:rPr>
                        <a:t>Cumbersome model</a:t>
                      </a:r>
                    </a:p>
                  </a:txBody>
                  <a:tcPr marL="36576" marR="36576" marT="9144" marB="9144">
                    <a:solidFill>
                      <a:srgbClr val="FFFFFF"/>
                    </a:solidFill>
                  </a:tcPr>
                </a:tc>
                <a:tc>
                  <a:txBody>
                    <a:bodyPr/>
                    <a:lstStyle/>
                    <a:p>
                      <a:pPr algn="ctr"/>
                      <a:r>
                        <a:rPr sz="1600" b="0">
                          <a:solidFill>
                            <a:srgbClr val="202020"/>
                          </a:solidFill>
                          <a:latin typeface="Times New Roman"/>
                        </a:rPr>
                        <a:t>67</a:t>
                      </a:r>
                    </a:p>
                  </a:txBody>
                  <a:tcPr marL="36576" marR="36576" marT="9144" marB="9144">
                    <a:solidFill>
                      <a:srgbClr val="FFFFFF"/>
                    </a:solidFill>
                  </a:tcPr>
                </a:tc>
                <a:tc>
                  <a:txBody>
                    <a:bodyPr/>
                    <a:lstStyle/>
                    <a:p>
                      <a:pPr algn="ctr"/>
                      <a:r>
                        <a:rPr sz="1600" b="0">
                          <a:solidFill>
                            <a:srgbClr val="202020"/>
                          </a:solidFill>
                          <a:latin typeface="Times New Roman"/>
                        </a:rPr>
                        <a:t>203</a:t>
                      </a:r>
                    </a:p>
                  </a:txBody>
                  <a:tcPr marL="36576" marR="36576" marT="9144" marB="9144">
                    <a:solidFill>
                      <a:srgbClr val="FFFFFF"/>
                    </a:solidFill>
                  </a:tcPr>
                </a:tc>
              </a:tr>
              <a:tr h="329184">
                <a:tc>
                  <a:txBody>
                    <a:bodyPr/>
                    <a:lstStyle/>
                    <a:p>
                      <a:pPr algn="ctr"/>
                      <a:r>
                        <a:rPr sz="1600" b="0">
                          <a:solidFill>
                            <a:srgbClr val="202020"/>
                          </a:solidFill>
                          <a:latin typeface="Times New Roman"/>
                        </a:rPr>
                        <a:t>Small net, hard targets only</a:t>
                      </a:r>
                    </a:p>
                  </a:txBody>
                  <a:tcPr marL="36576" marR="36576" marT="9144" marB="9144">
                    <a:solidFill>
                      <a:srgbClr val="FFFFFF"/>
                    </a:solidFill>
                  </a:tcPr>
                </a:tc>
                <a:tc>
                  <a:txBody>
                    <a:bodyPr/>
                    <a:lstStyle/>
                    <a:p>
                      <a:pPr algn="ctr"/>
                      <a:r>
                        <a:rPr sz="1600" b="0">
                          <a:solidFill>
                            <a:srgbClr val="202020"/>
                          </a:solidFill>
                          <a:latin typeface="Times New Roman"/>
                        </a:rPr>
                        <a:t>146</a:t>
                      </a:r>
                    </a:p>
                  </a:txBody>
                  <a:tcPr marL="36576" marR="36576" marT="9144" marB="9144">
                    <a:solidFill>
                      <a:srgbClr val="FFFFFF"/>
                    </a:solidFill>
                  </a:tcPr>
                </a:tc>
                <a:tc>
                  <a:txBody>
                    <a:bodyPr/>
                    <a:lstStyle/>
                    <a:p>
                      <a:pPr algn="ctr"/>
                      <a:r>
                        <a:rPr sz="1600" b="0">
                          <a:solidFill>
                            <a:srgbClr val="202020"/>
                          </a:solidFill>
                          <a:latin typeface="Times New Roman"/>
                        </a:rPr>
                        <a:t>420</a:t>
                      </a:r>
                    </a:p>
                  </a:txBody>
                  <a:tcPr marL="36576" marR="36576" marT="9144" marB="9144">
                    <a:solidFill>
                      <a:srgbClr val="FFFFFF"/>
                    </a:solidFill>
                  </a:tcPr>
                </a:tc>
              </a:tr>
              <a:tr h="329184">
                <a:tc>
                  <a:txBody>
                    <a:bodyPr/>
                    <a:lstStyle/>
                    <a:p>
                      <a:pPr algn="ctr"/>
                      <a:r>
                        <a:rPr sz="1600" b="0">
                          <a:solidFill>
                            <a:srgbClr val="202020"/>
                          </a:solidFill>
                          <a:latin typeface="Times New Roman"/>
                        </a:rPr>
                        <a:t>Small net, distilled</a:t>
                      </a:r>
                    </a:p>
                  </a:txBody>
                  <a:tcPr marL="36576" marR="36576" marT="9144" marB="9144">
                    <a:solidFill>
                      <a:srgbClr val="FFFFFF"/>
                    </a:solidFill>
                  </a:tcPr>
                </a:tc>
                <a:tc>
                  <a:txBody>
                    <a:bodyPr/>
                    <a:lstStyle/>
                    <a:p>
                      <a:pPr algn="ctr"/>
                      <a:r>
                        <a:rPr sz="1600" b="0">
                          <a:solidFill>
                            <a:srgbClr val="202020"/>
                          </a:solidFill>
                          <a:latin typeface="Times New Roman"/>
                        </a:rPr>
                        <a:t>74 (T = 20)</a:t>
                      </a:r>
                    </a:p>
                  </a:txBody>
                  <a:tcPr marL="36576" marR="36576" marT="9144" marB="9144">
                    <a:solidFill>
                      <a:srgbClr val="FFF3CD"/>
                    </a:solidFill>
                  </a:tcPr>
                </a:tc>
                <a:tc>
                  <a:txBody>
                    <a:bodyPr/>
                    <a:lstStyle/>
                    <a:p>
                      <a:pPr algn="ctr"/>
                      <a:r>
                        <a:rPr sz="1600" b="0">
                          <a:solidFill>
                            <a:srgbClr val="202020"/>
                          </a:solidFill>
                          <a:latin typeface="Times New Roman"/>
                        </a:rPr>
                        <a:t>318 (T = 20)</a:t>
                      </a:r>
                    </a:p>
                  </a:txBody>
                  <a:tcPr marL="36576" marR="36576" marT="9144" marB="9144">
                    <a:solidFill>
                      <a:srgbClr val="FFF3CD"/>
                    </a:solidFill>
                  </a:tcPr>
                </a:tc>
              </a:tr>
            </a:tbl>
          </a:graphicData>
        </a:graphic>
      </p:graphicFrame>
      <p:pic>
        <p:nvPicPr>
          <p:cNvPr id="7" name="Picture 6" descr="f_temp.png"/>
          <p:cNvPicPr>
            <a:picLocks noChangeAspect="1"/>
          </p:cNvPicPr>
          <p:nvPr/>
        </p:nvPicPr>
        <p:blipFill>
          <a:blip r:embed="rId2"/>
          <a:stretch>
            <a:fillRect/>
          </a:stretch>
        </p:blipFill>
        <p:spPr>
          <a:xfrm>
            <a:off x="6583680" y="1097280"/>
            <a:ext cx="5120640" cy="2720340"/>
          </a:xfrm>
          <a:prstGeom prst="rect">
            <a:avLst/>
          </a:prstGeom>
        </p:spPr>
      </p:pic>
      <p:sp>
        <p:nvSpPr>
          <p:cNvPr id="8" name="Rectangle 7"/>
          <p:cNvSpPr/>
          <p:nvPr/>
        </p:nvSpPr>
        <p:spPr>
          <a:xfrm>
            <a:off x="731520" y="2697480"/>
            <a:ext cx="5669280" cy="114300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1E7A45"/>
                </a:solidFill>
                <a:latin typeface="Times New Roman"/>
              </a:rPr>
              <a:t>This module: distillation reduces the gap between the</a:t>
            </a:r>
          </a:p>
          <a:p>
            <a:pPr algn="l"/>
            <a:r>
              <a:rPr sz="1600" b="1">
                <a:solidFill>
                  <a:srgbClr val="1E7A45"/>
                </a:solidFill>
                <a:latin typeface="Times New Roman"/>
              </a:rPr>
              <a:t>small net and the cumbersome model from 217 to 115 errors</a:t>
            </a:r>
          </a:p>
        </p:txBody>
      </p:sp>
      <p:sp>
        <p:nvSpPr>
          <p:cNvPr id="9" name="TextBox 8"/>
          <p:cNvSpPr txBox="1"/>
          <p:nvPr/>
        </p:nvSpPr>
        <p:spPr>
          <a:xfrm>
            <a:off x="731520" y="4069080"/>
            <a:ext cx="5669280" cy="2103120"/>
          </a:xfrm>
          <a:prstGeom prst="rect">
            <a:avLst/>
          </a:prstGeom>
          <a:noFill/>
        </p:spPr>
        <p:txBody>
          <a:bodyPr wrap="square">
            <a:spAutoFit/>
          </a:bodyPr>
          <a:lstStyle/>
          <a:p>
            <a:r>
              <a:rPr sz="1600" b="0" i="0">
                <a:solidFill>
                  <a:srgbClr val="202020"/>
                </a:solidFill>
                <a:latin typeface="Times New Roman"/>
              </a:rPr>
              <a:t>In the paper, soft targets transfer a great deal of knowledge</a:t>
            </a:r>
          </a:p>
          <a:p>
            <a:r>
              <a:rPr sz="1600" b="0" i="0">
                <a:solidFill>
                  <a:srgbClr val="202020"/>
                </a:solidFill>
                <a:latin typeface="Times New Roman"/>
              </a:rPr>
              <a:t>to the distilled model, including the knowledge about how</a:t>
            </a:r>
          </a:p>
          <a:p>
            <a:r>
              <a:rPr sz="1600" b="0" i="0">
                <a:solidFill>
                  <a:srgbClr val="202020"/>
                </a:solidFill>
                <a:latin typeface="Times New Roman"/>
              </a:rPr>
              <a:t>to generalize that is learned from translated training data,</a:t>
            </a:r>
          </a:p>
          <a:p>
            <a:r>
              <a:rPr sz="1600" b="0" i="0">
                <a:solidFill>
                  <a:srgbClr val="202020"/>
                </a:solidFill>
                <a:latin typeface="Times New Roman"/>
              </a:rPr>
              <a:t>even though the transfer set does not contain any translations.</a:t>
            </a:r>
          </a:p>
        </p:txBody>
      </p:sp>
      <p:sp>
        <p:nvSpPr>
          <p:cNvPr id="10" name="TextBox 9"/>
          <p:cNvSpPr txBox="1"/>
          <p:nvPr/>
        </p:nvSpPr>
        <p:spPr>
          <a:xfrm>
            <a:off x="6583680" y="3931920"/>
            <a:ext cx="5120640" cy="1097280"/>
          </a:xfrm>
          <a:prstGeom prst="rect">
            <a:avLst/>
          </a:prstGeom>
          <a:noFill/>
        </p:spPr>
        <p:txBody>
          <a:bodyPr wrap="square">
            <a:spAutoFit/>
          </a:bodyPr>
          <a:lstStyle/>
          <a:p>
            <a:r>
              <a:rPr sz="1500" b="0" i="0">
                <a:solidFill>
                  <a:srgbClr val="59636E"/>
                </a:solidFill>
                <a:latin typeface="Times New Roman"/>
              </a:rPr>
              <a:t>Blue: small net 100-100. At every temperature, distillation gives fewer test errors than training on hard targets only (dashed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4. Intermediate temperatures for a very small net</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The small net is reduced to 30-30</a:t>
            </a:r>
          </a:p>
        </p:txBody>
      </p:sp>
      <p:graphicFrame>
        <p:nvGraphicFramePr>
          <p:cNvPr id="6" name="Table 5"/>
          <p:cNvGraphicFramePr>
            <a:graphicFrameLocks noGrp="1"/>
          </p:cNvGraphicFramePr>
          <p:nvPr/>
        </p:nvGraphicFramePr>
        <p:xfrm>
          <a:off x="731520" y="1143000"/>
          <a:ext cx="5669278" cy="2304288"/>
        </p:xfrm>
        <a:graphic>
          <a:graphicData uri="http://schemas.openxmlformats.org/drawingml/2006/table">
            <a:tbl>
              <a:tblPr bandRow="1">
                <a:tableStyleId>{5C22544A-7EE6-4342-B048-85BDC9FD1C3A}</a:tableStyleId>
              </a:tblPr>
              <a:tblGrid>
                <a:gridCol w="2040940"/>
                <a:gridCol w="1814169"/>
                <a:gridCol w="1814169"/>
              </a:tblGrid>
              <a:tr h="329184">
                <a:tc>
                  <a:txBody>
                    <a:bodyPr/>
                    <a:lstStyle/>
                    <a:p>
                      <a:pPr algn="ctr"/>
                      <a:r>
                        <a:rPr sz="1600" b="1">
                          <a:solidFill>
                            <a:srgbClr val="FFFFFF"/>
                          </a:solidFill>
                          <a:latin typeface="Times New Roman"/>
                        </a:rPr>
                        <a:t>T</a:t>
                      </a:r>
                    </a:p>
                  </a:txBody>
                  <a:tcPr marL="36576" marR="36576" marT="9144" marB="9144">
                    <a:solidFill>
                      <a:srgbClr val="1F4E79"/>
                    </a:solidFill>
                  </a:tcPr>
                </a:tc>
                <a:tc>
                  <a:txBody>
                    <a:bodyPr/>
                    <a:lstStyle/>
                    <a:p>
                      <a:pPr algn="ctr"/>
                      <a:r>
                        <a:rPr sz="1600" b="1">
                          <a:solidFill>
                            <a:srgbClr val="FFFFFF"/>
                          </a:solidFill>
                          <a:latin typeface="Times New Roman"/>
                        </a:rPr>
                        <a:t>Small net 100-100</a:t>
                      </a:r>
                    </a:p>
                  </a:txBody>
                  <a:tcPr marL="36576" marR="36576" marT="9144" marB="9144">
                    <a:solidFill>
                      <a:srgbClr val="1F4E79"/>
                    </a:solidFill>
                  </a:tcPr>
                </a:tc>
                <a:tc>
                  <a:txBody>
                    <a:bodyPr/>
                    <a:lstStyle/>
                    <a:p>
                      <a:pPr algn="ctr"/>
                      <a:r>
                        <a:rPr sz="1600" b="1">
                          <a:solidFill>
                            <a:srgbClr val="FFFFFF"/>
                          </a:solidFill>
                          <a:latin typeface="Times New Roman"/>
                        </a:rPr>
                        <a:t>Small net 30-30</a:t>
                      </a:r>
                    </a:p>
                  </a:txBody>
                  <a:tcPr marL="36576" marR="36576" marT="9144" marB="9144">
                    <a:solidFill>
                      <a:srgbClr val="1F4E79"/>
                    </a:solidFill>
                  </a:tcPr>
                </a:tc>
              </a:tr>
              <a:tr h="329184">
                <a:tc>
                  <a:txBody>
                    <a:bodyPr/>
                    <a:lstStyle/>
                    <a:p>
                      <a:pPr algn="ctr"/>
                      <a:r>
                        <a:rPr sz="1600" b="0">
                          <a:solidFill>
                            <a:srgbClr val="202020"/>
                          </a:solidFill>
                          <a:latin typeface="Times New Roman"/>
                        </a:rPr>
                        <a:t>hard targets only</a:t>
                      </a:r>
                    </a:p>
                  </a:txBody>
                  <a:tcPr marL="36576" marR="36576" marT="9144" marB="9144">
                    <a:solidFill>
                      <a:srgbClr val="FFFFFF"/>
                    </a:solidFill>
                  </a:tcPr>
                </a:tc>
                <a:tc>
                  <a:txBody>
                    <a:bodyPr/>
                    <a:lstStyle/>
                    <a:p>
                      <a:pPr algn="ctr"/>
                      <a:r>
                        <a:rPr sz="1600" b="0">
                          <a:solidFill>
                            <a:srgbClr val="202020"/>
                          </a:solidFill>
                          <a:latin typeface="Times New Roman"/>
                        </a:rPr>
                        <a:t>420</a:t>
                      </a:r>
                    </a:p>
                  </a:txBody>
                  <a:tcPr marL="36576" marR="36576" marT="9144" marB="9144">
                    <a:solidFill>
                      <a:srgbClr val="FFFFFF"/>
                    </a:solidFill>
                  </a:tcPr>
                </a:tc>
                <a:tc>
                  <a:txBody>
                    <a:bodyPr/>
                    <a:lstStyle/>
                    <a:p>
                      <a:pPr algn="ctr"/>
                      <a:r>
                        <a:rPr sz="1600" b="0">
                          <a:solidFill>
                            <a:srgbClr val="202020"/>
                          </a:solidFill>
                          <a:latin typeface="Times New Roman"/>
                        </a:rPr>
                        <a:t>568</a:t>
                      </a:r>
                    </a:p>
                  </a:txBody>
                  <a:tcPr marL="36576" marR="36576" marT="9144" marB="9144">
                    <a:solidFill>
                      <a:srgbClr val="FFFFFF"/>
                    </a:solidFill>
                  </a:tcPr>
                </a:tc>
              </a:tr>
              <a:tr h="329184">
                <a:tc>
                  <a:txBody>
                    <a:bodyPr/>
                    <a:lstStyle/>
                    <a:p>
                      <a:pPr algn="ctr"/>
                      <a:r>
                        <a:rPr sz="1600" b="0">
                          <a:solidFill>
                            <a:srgbClr val="202020"/>
                          </a:solidFill>
                          <a:latin typeface="Times New Roman"/>
                        </a:rPr>
                        <a:t>1</a:t>
                      </a:r>
                    </a:p>
                  </a:txBody>
                  <a:tcPr marL="36576" marR="36576" marT="9144" marB="9144">
                    <a:solidFill>
                      <a:srgbClr val="FFFFFF"/>
                    </a:solidFill>
                  </a:tcPr>
                </a:tc>
                <a:tc>
                  <a:txBody>
                    <a:bodyPr/>
                    <a:lstStyle/>
                    <a:p>
                      <a:pPr algn="ctr"/>
                      <a:r>
                        <a:rPr sz="1600" b="0">
                          <a:solidFill>
                            <a:srgbClr val="202020"/>
                          </a:solidFill>
                          <a:latin typeface="Times New Roman"/>
                        </a:rPr>
                        <a:t>402</a:t>
                      </a:r>
                    </a:p>
                  </a:txBody>
                  <a:tcPr marL="36576" marR="36576" marT="9144" marB="9144">
                    <a:solidFill>
                      <a:srgbClr val="FFFFFF"/>
                    </a:solidFill>
                  </a:tcPr>
                </a:tc>
                <a:tc>
                  <a:txBody>
                    <a:bodyPr/>
                    <a:lstStyle/>
                    <a:p>
                      <a:pPr algn="ctr"/>
                      <a:r>
                        <a:rPr sz="1600" b="0">
                          <a:solidFill>
                            <a:srgbClr val="202020"/>
                          </a:solidFill>
                          <a:latin typeface="Times New Roman"/>
                        </a:rPr>
                        <a:t>561</a:t>
                      </a:r>
                    </a:p>
                  </a:txBody>
                  <a:tcPr marL="36576" marR="36576" marT="9144" marB="9144">
                    <a:solidFill>
                      <a:srgbClr val="FFFFFF"/>
                    </a:solidFill>
                  </a:tcPr>
                </a:tc>
              </a:tr>
              <a:tr h="329184">
                <a:tc>
                  <a:txBody>
                    <a:bodyPr/>
                    <a:lstStyle/>
                    <a:p>
                      <a:pPr algn="ctr"/>
                      <a:r>
                        <a:rPr sz="1600" b="0">
                          <a:solidFill>
                            <a:srgbClr val="202020"/>
                          </a:solidFill>
                          <a:latin typeface="Times New Roman"/>
                        </a:rPr>
                        <a:t>2</a:t>
                      </a:r>
                    </a:p>
                  </a:txBody>
                  <a:tcPr marL="36576" marR="36576" marT="9144" marB="9144">
                    <a:solidFill>
                      <a:srgbClr val="FFFFFF"/>
                    </a:solidFill>
                  </a:tcPr>
                </a:tc>
                <a:tc>
                  <a:txBody>
                    <a:bodyPr/>
                    <a:lstStyle/>
                    <a:p>
                      <a:pPr algn="ctr"/>
                      <a:r>
                        <a:rPr sz="1600" b="0">
                          <a:solidFill>
                            <a:srgbClr val="202020"/>
                          </a:solidFill>
                          <a:latin typeface="Times New Roman"/>
                        </a:rPr>
                        <a:t>349</a:t>
                      </a:r>
                    </a:p>
                  </a:txBody>
                  <a:tcPr marL="36576" marR="36576" marT="9144" marB="9144">
                    <a:solidFill>
                      <a:srgbClr val="FFFFFF"/>
                    </a:solidFill>
                  </a:tcPr>
                </a:tc>
                <a:tc>
                  <a:txBody>
                    <a:bodyPr/>
                    <a:lstStyle/>
                    <a:p>
                      <a:pPr algn="ctr"/>
                      <a:r>
                        <a:rPr sz="1600" b="0">
                          <a:solidFill>
                            <a:srgbClr val="202020"/>
                          </a:solidFill>
                          <a:latin typeface="Times New Roman"/>
                        </a:rPr>
                        <a:t>544</a:t>
                      </a:r>
                    </a:p>
                  </a:txBody>
                  <a:tcPr marL="36576" marR="36576" marT="9144" marB="9144">
                    <a:solidFill>
                      <a:srgbClr val="FFFFFF"/>
                    </a:solidFill>
                  </a:tcPr>
                </a:tc>
              </a:tr>
              <a:tr h="329184">
                <a:tc>
                  <a:txBody>
                    <a:bodyPr/>
                    <a:lstStyle/>
                    <a:p>
                      <a:pPr algn="ctr"/>
                      <a:r>
                        <a:rPr sz="1600" b="0">
                          <a:solidFill>
                            <a:srgbClr val="202020"/>
                          </a:solidFill>
                          <a:latin typeface="Times New Roman"/>
                        </a:rPr>
                        <a:t>4</a:t>
                      </a:r>
                    </a:p>
                  </a:txBody>
                  <a:tcPr marL="36576" marR="36576" marT="9144" marB="9144">
                    <a:solidFill>
                      <a:srgbClr val="FFFFFF"/>
                    </a:solidFill>
                  </a:tcPr>
                </a:tc>
                <a:tc>
                  <a:txBody>
                    <a:bodyPr/>
                    <a:lstStyle/>
                    <a:p>
                      <a:pPr algn="ctr"/>
                      <a:r>
                        <a:rPr sz="1600" b="0">
                          <a:solidFill>
                            <a:srgbClr val="202020"/>
                          </a:solidFill>
                          <a:latin typeface="Times New Roman"/>
                        </a:rPr>
                        <a:t>349</a:t>
                      </a:r>
                    </a:p>
                  </a:txBody>
                  <a:tcPr marL="36576" marR="36576" marT="9144" marB="9144">
                    <a:solidFill>
                      <a:srgbClr val="FFFFFF"/>
                    </a:solidFill>
                  </a:tcPr>
                </a:tc>
                <a:tc>
                  <a:txBody>
                    <a:bodyPr/>
                    <a:lstStyle/>
                    <a:p>
                      <a:pPr algn="ctr"/>
                      <a:r>
                        <a:rPr sz="1600" b="0">
                          <a:solidFill>
                            <a:srgbClr val="202020"/>
                          </a:solidFill>
                          <a:latin typeface="Times New Roman"/>
                        </a:rPr>
                        <a:t>526</a:t>
                      </a:r>
                    </a:p>
                  </a:txBody>
                  <a:tcPr marL="36576" marR="36576" marT="9144" marB="9144">
                    <a:solidFill>
                      <a:srgbClr val="FFF3CD"/>
                    </a:solidFill>
                  </a:tcPr>
                </a:tc>
              </a:tr>
              <a:tr h="329184">
                <a:tc>
                  <a:txBody>
                    <a:bodyPr/>
                    <a:lstStyle/>
                    <a:p>
                      <a:pPr algn="ctr"/>
                      <a:r>
                        <a:rPr sz="1600" b="0">
                          <a:solidFill>
                            <a:srgbClr val="202020"/>
                          </a:solidFill>
                          <a:latin typeface="Times New Roman"/>
                        </a:rPr>
                        <a:t>8</a:t>
                      </a:r>
                    </a:p>
                  </a:txBody>
                  <a:tcPr marL="36576" marR="36576" marT="9144" marB="9144">
                    <a:solidFill>
                      <a:srgbClr val="FFFFFF"/>
                    </a:solidFill>
                  </a:tcPr>
                </a:tc>
                <a:tc>
                  <a:txBody>
                    <a:bodyPr/>
                    <a:lstStyle/>
                    <a:p>
                      <a:pPr algn="ctr"/>
                      <a:r>
                        <a:rPr sz="1600" b="0">
                          <a:solidFill>
                            <a:srgbClr val="202020"/>
                          </a:solidFill>
                          <a:latin typeface="Times New Roman"/>
                        </a:rPr>
                        <a:t>347</a:t>
                      </a:r>
                    </a:p>
                  </a:txBody>
                  <a:tcPr marL="36576" marR="36576" marT="9144" marB="9144">
                    <a:solidFill>
                      <a:srgbClr val="FFFFFF"/>
                    </a:solidFill>
                  </a:tcPr>
                </a:tc>
                <a:tc>
                  <a:txBody>
                    <a:bodyPr/>
                    <a:lstStyle/>
                    <a:p>
                      <a:pPr algn="ctr"/>
                      <a:r>
                        <a:rPr sz="1600" b="0">
                          <a:solidFill>
                            <a:srgbClr val="202020"/>
                          </a:solidFill>
                          <a:latin typeface="Times New Roman"/>
                        </a:rPr>
                        <a:t>570</a:t>
                      </a:r>
                    </a:p>
                  </a:txBody>
                  <a:tcPr marL="36576" marR="36576" marT="9144" marB="9144">
                    <a:solidFill>
                      <a:srgbClr val="FFFFFF"/>
                    </a:solidFill>
                  </a:tcPr>
                </a:tc>
              </a:tr>
              <a:tr h="329184">
                <a:tc>
                  <a:txBody>
                    <a:bodyPr/>
                    <a:lstStyle/>
                    <a:p>
                      <a:pPr algn="ctr"/>
                      <a:r>
                        <a:rPr sz="1600" b="0">
                          <a:solidFill>
                            <a:srgbClr val="202020"/>
                          </a:solidFill>
                          <a:latin typeface="Times New Roman"/>
                        </a:rPr>
                        <a:t>20</a:t>
                      </a:r>
                    </a:p>
                  </a:txBody>
                  <a:tcPr marL="36576" marR="36576" marT="9144" marB="9144">
                    <a:solidFill>
                      <a:srgbClr val="FFFFFF"/>
                    </a:solidFill>
                  </a:tcPr>
                </a:tc>
                <a:tc>
                  <a:txBody>
                    <a:bodyPr/>
                    <a:lstStyle/>
                    <a:p>
                      <a:pPr algn="ctr"/>
                      <a:r>
                        <a:rPr sz="1600" b="0">
                          <a:solidFill>
                            <a:srgbClr val="202020"/>
                          </a:solidFill>
                          <a:latin typeface="Times New Roman"/>
                        </a:rPr>
                        <a:t>318</a:t>
                      </a:r>
                    </a:p>
                  </a:txBody>
                  <a:tcPr marL="36576" marR="36576" marT="9144" marB="9144">
                    <a:solidFill>
                      <a:srgbClr val="FFFFFF"/>
                    </a:solidFill>
                  </a:tcPr>
                </a:tc>
                <a:tc>
                  <a:txBody>
                    <a:bodyPr/>
                    <a:lstStyle/>
                    <a:p>
                      <a:pPr algn="ctr"/>
                      <a:r>
                        <a:rPr sz="1600" b="0">
                          <a:solidFill>
                            <a:srgbClr val="202020"/>
                          </a:solidFill>
                          <a:latin typeface="Times New Roman"/>
                        </a:rPr>
                        <a:t>598</a:t>
                      </a:r>
                    </a:p>
                  </a:txBody>
                  <a:tcPr marL="36576" marR="36576" marT="9144" marB="9144">
                    <a:solidFill>
                      <a:srgbClr val="FFFFFF"/>
                    </a:solidFill>
                  </a:tcPr>
                </a:tc>
              </a:tr>
            </a:tbl>
          </a:graphicData>
        </a:graphic>
      </p:graphicFrame>
      <p:pic>
        <p:nvPicPr>
          <p:cNvPr id="7" name="Picture 6" descr="f_temp.png"/>
          <p:cNvPicPr>
            <a:picLocks noChangeAspect="1"/>
          </p:cNvPicPr>
          <p:nvPr/>
        </p:nvPicPr>
        <p:blipFill>
          <a:blip r:embed="rId2"/>
          <a:stretch>
            <a:fillRect/>
          </a:stretch>
        </p:blipFill>
        <p:spPr>
          <a:xfrm>
            <a:off x="6583680" y="1097280"/>
            <a:ext cx="5120640" cy="2720340"/>
          </a:xfrm>
          <a:prstGeom prst="rect">
            <a:avLst/>
          </a:prstGeom>
        </p:spPr>
      </p:pic>
      <p:sp>
        <p:nvSpPr>
          <p:cNvPr id="8" name="Rectangle 7"/>
          <p:cNvSpPr/>
          <p:nvPr/>
        </p:nvSpPr>
        <p:spPr>
          <a:xfrm>
            <a:off x="731520" y="3886200"/>
            <a:ext cx="10881360" cy="91440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F4E79"/>
                </a:solidFill>
                <a:latin typeface="Times New Roman"/>
              </a:rPr>
              <a:t>Paper: with 300 or more units per layer, all temperatures above 8 gave fairly similar results; with 30 units per layer,</a:t>
            </a:r>
          </a:p>
          <a:p>
            <a:pPr algn="l"/>
            <a:r>
              <a:rPr sz="1500" b="1">
                <a:solidFill>
                  <a:srgbClr val="1F4E79"/>
                </a:solidFill>
                <a:latin typeface="Times New Roman"/>
              </a:rPr>
              <a:t>temperatures in the range 2.5 to 4 worked significantly better than higher or lower temperatures</a:t>
            </a:r>
          </a:p>
        </p:txBody>
      </p:sp>
      <p:sp>
        <p:nvSpPr>
          <p:cNvPr id="9" name="Rectangle 8"/>
          <p:cNvSpPr/>
          <p:nvPr/>
        </p:nvSpPr>
        <p:spPr>
          <a:xfrm>
            <a:off x="731520" y="4892040"/>
            <a:ext cx="10881360" cy="91440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E7A45"/>
                </a:solidFill>
                <a:latin typeface="Times New Roman"/>
              </a:rPr>
              <a:t>This module: the 30-30 net is best at T = 4 (526 errors); at T = 20 it is worse than with hard targets only</a:t>
            </a:r>
          </a:p>
        </p:txBody>
      </p:sp>
      <p:sp>
        <p:nvSpPr>
          <p:cNvPr id="10" name="TextBox 9"/>
          <p:cNvSpPr txBox="1"/>
          <p:nvPr/>
        </p:nvSpPr>
        <p:spPr>
          <a:xfrm>
            <a:off x="731520" y="5897880"/>
            <a:ext cx="10881360" cy="731520"/>
          </a:xfrm>
          <a:prstGeom prst="rect">
            <a:avLst/>
          </a:prstGeom>
          <a:noFill/>
        </p:spPr>
        <p:txBody>
          <a:bodyPr wrap="square">
            <a:spAutoFit/>
          </a:bodyPr>
          <a:lstStyle/>
          <a:p>
            <a:r>
              <a:rPr sz="1600" b="0" i="0">
                <a:solidFill>
                  <a:srgbClr val="59636E"/>
                </a:solidFill>
                <a:latin typeface="Times New Roman"/>
              </a:rPr>
              <a:t>When the distilled model is much too small to capture all of the knowledge, ignoring the large negative logits can be helpful.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0"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4. A mythical digit 3</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All examples of 3 omitted from the transfer set (9000 cases here); the test set contains 1010 threes</a:t>
            </a:r>
          </a:p>
        </p:txBody>
      </p:sp>
      <p:graphicFrame>
        <p:nvGraphicFramePr>
          <p:cNvPr id="6" name="Table 5"/>
          <p:cNvGraphicFramePr>
            <a:graphicFrameLocks noGrp="1"/>
          </p:cNvGraphicFramePr>
          <p:nvPr/>
        </p:nvGraphicFramePr>
        <p:xfrm>
          <a:off x="731520" y="1143000"/>
          <a:ext cx="10881358" cy="1975104"/>
        </p:xfrm>
        <a:graphic>
          <a:graphicData uri="http://schemas.openxmlformats.org/drawingml/2006/table">
            <a:tbl>
              <a:tblPr bandRow="1">
                <a:tableStyleId>{5C22544A-7EE6-4342-B048-85BDC9FD1C3A}</a:tableStyleId>
              </a:tblPr>
              <a:tblGrid>
                <a:gridCol w="5022166"/>
                <a:gridCol w="1813559"/>
                <a:gridCol w="2092569"/>
                <a:gridCol w="1953064"/>
              </a:tblGrid>
              <a:tr h="329184">
                <a:tc>
                  <a:txBody>
                    <a:bodyPr/>
                    <a:lstStyle/>
                    <a:p>
                      <a:pPr algn="ctr"/>
                      <a:r>
                        <a:rPr sz="1600" b="1">
                          <a:solidFill>
                            <a:srgbClr val="FFFFFF"/>
                          </a:solidFill>
                          <a:latin typeface="Times New Roman"/>
                        </a:rPr>
                        <a:t>Model</a:t>
                      </a:r>
                    </a:p>
                  </a:txBody>
                  <a:tcPr marL="36576" marR="36576" marT="9144" marB="9144">
                    <a:solidFill>
                      <a:srgbClr val="1F4E79"/>
                    </a:solidFill>
                  </a:tcPr>
                </a:tc>
                <a:tc>
                  <a:txBody>
                    <a:bodyPr/>
                    <a:lstStyle/>
                    <a:p>
                      <a:pPr algn="ctr"/>
                      <a:r>
                        <a:rPr sz="1600" b="1">
                          <a:solidFill>
                            <a:srgbClr val="FFFFFF"/>
                          </a:solidFill>
                          <a:latin typeface="Times New Roman"/>
                        </a:rPr>
                        <a:t>Test errors</a:t>
                      </a:r>
                    </a:p>
                  </a:txBody>
                  <a:tcPr marL="36576" marR="36576" marT="9144" marB="9144">
                    <a:solidFill>
                      <a:srgbClr val="1F4E79"/>
                    </a:solidFill>
                  </a:tcPr>
                </a:tc>
                <a:tc>
                  <a:txBody>
                    <a:bodyPr/>
                    <a:lstStyle/>
                    <a:p>
                      <a:pPr algn="ctr"/>
                      <a:r>
                        <a:rPr sz="1600" b="1">
                          <a:solidFill>
                            <a:srgbClr val="FFFFFF"/>
                          </a:solidFill>
                          <a:latin typeface="Times New Roman"/>
                        </a:rPr>
                        <a:t>Errors on 3s</a:t>
                      </a:r>
                    </a:p>
                  </a:txBody>
                  <a:tcPr marL="36576" marR="36576" marT="9144" marB="9144">
                    <a:solidFill>
                      <a:srgbClr val="1F4E79"/>
                    </a:solidFill>
                  </a:tcPr>
                </a:tc>
                <a:tc>
                  <a:txBody>
                    <a:bodyPr/>
                    <a:lstStyle/>
                    <a:p>
                      <a:pPr algn="ctr"/>
                      <a:r>
                        <a:rPr sz="1600" b="1">
                          <a:solidFill>
                            <a:srgbClr val="FFFFFF"/>
                          </a:solidFill>
                          <a:latin typeface="Times New Roman"/>
                        </a:rPr>
                        <a:t>Test 3s correct</a:t>
                      </a:r>
                    </a:p>
                  </a:txBody>
                  <a:tcPr marL="36576" marR="36576" marT="9144" marB="9144">
                    <a:solidFill>
                      <a:srgbClr val="1F4E79"/>
                    </a:solidFill>
                  </a:tcPr>
                </a:tc>
              </a:tr>
              <a:tr h="329184">
                <a:tc>
                  <a:txBody>
                    <a:bodyPr/>
                    <a:lstStyle/>
                    <a:p>
                      <a:pPr algn="ctr"/>
                      <a:r>
                        <a:rPr sz="1600" b="0">
                          <a:solidFill>
                            <a:srgbClr val="202020"/>
                          </a:solidFill>
                          <a:latin typeface="Times New Roman"/>
                        </a:rPr>
                        <a:t>This module: hard targets only</a:t>
                      </a:r>
                    </a:p>
                  </a:txBody>
                  <a:tcPr marL="36576" marR="36576" marT="9144" marB="9144">
                    <a:solidFill>
                      <a:srgbClr val="FFFFFF"/>
                    </a:solidFill>
                  </a:tcPr>
                </a:tc>
                <a:tc>
                  <a:txBody>
                    <a:bodyPr/>
                    <a:lstStyle/>
                    <a:p>
                      <a:pPr algn="ctr"/>
                      <a:r>
                        <a:rPr sz="1600" b="0">
                          <a:solidFill>
                            <a:srgbClr val="202020"/>
                          </a:solidFill>
                          <a:latin typeface="Times New Roman"/>
                        </a:rPr>
                        <a:t>1372</a:t>
                      </a:r>
                    </a:p>
                  </a:txBody>
                  <a:tcPr marL="36576" marR="36576" marT="9144" marB="9144">
                    <a:solidFill>
                      <a:srgbClr val="FFFFFF"/>
                    </a:solidFill>
                  </a:tcPr>
                </a:tc>
                <a:tc>
                  <a:txBody>
                    <a:bodyPr/>
                    <a:lstStyle/>
                    <a:p>
                      <a:pPr algn="ctr"/>
                      <a:r>
                        <a:rPr sz="1600" b="0">
                          <a:solidFill>
                            <a:srgbClr val="202020"/>
                          </a:solidFill>
                          <a:latin typeface="Times New Roman"/>
                        </a:rPr>
                        <a:t>1010 of 1010</a:t>
                      </a:r>
                    </a:p>
                  </a:txBody>
                  <a:tcPr marL="36576" marR="36576" marT="9144" marB="9144">
                    <a:solidFill>
                      <a:srgbClr val="FFFFFF"/>
                    </a:solidFill>
                  </a:tcPr>
                </a:tc>
                <a:tc>
                  <a:txBody>
                    <a:bodyPr/>
                    <a:lstStyle/>
                    <a:p>
                      <a:pPr algn="ctr"/>
                      <a:r>
                        <a:rPr sz="1600" b="0">
                          <a:solidFill>
                            <a:srgbClr val="202020"/>
                          </a:solidFill>
                          <a:latin typeface="Times New Roman"/>
                        </a:rPr>
                        <a:t>0.0%</a:t>
                      </a:r>
                    </a:p>
                  </a:txBody>
                  <a:tcPr marL="36576" marR="36576" marT="9144" marB="9144">
                    <a:solidFill>
                      <a:srgbClr val="FFFFFF"/>
                    </a:solidFill>
                  </a:tcPr>
                </a:tc>
              </a:tr>
              <a:tr h="329184">
                <a:tc>
                  <a:txBody>
                    <a:bodyPr/>
                    <a:lstStyle/>
                    <a:p>
                      <a:pPr algn="ctr"/>
                      <a:r>
                        <a:rPr sz="1600" b="0">
                          <a:solidFill>
                            <a:srgbClr val="202020"/>
                          </a:solidFill>
                          <a:latin typeface="Times New Roman"/>
                        </a:rPr>
                        <a:t>This module: distilled, T = 8</a:t>
                      </a:r>
                    </a:p>
                  </a:txBody>
                  <a:tcPr marL="36576" marR="36576" marT="9144" marB="9144">
                    <a:solidFill>
                      <a:srgbClr val="FFFFFF"/>
                    </a:solidFill>
                  </a:tcPr>
                </a:tc>
                <a:tc>
                  <a:txBody>
                    <a:bodyPr/>
                    <a:lstStyle/>
                    <a:p>
                      <a:pPr algn="ctr"/>
                      <a:r>
                        <a:rPr sz="1600" b="0">
                          <a:solidFill>
                            <a:srgbClr val="202020"/>
                          </a:solidFill>
                          <a:latin typeface="Times New Roman"/>
                        </a:rPr>
                        <a:t>646</a:t>
                      </a:r>
                    </a:p>
                  </a:txBody>
                  <a:tcPr marL="36576" marR="36576" marT="9144" marB="9144">
                    <a:solidFill>
                      <a:srgbClr val="FFFFFF"/>
                    </a:solidFill>
                  </a:tcPr>
                </a:tc>
                <a:tc>
                  <a:txBody>
                    <a:bodyPr/>
                    <a:lstStyle/>
                    <a:p>
                      <a:pPr algn="ctr"/>
                      <a:r>
                        <a:rPr sz="1600" b="0">
                          <a:solidFill>
                            <a:srgbClr val="202020"/>
                          </a:solidFill>
                          <a:latin typeface="Times New Roman"/>
                        </a:rPr>
                        <a:t>378 of 1010</a:t>
                      </a:r>
                    </a:p>
                  </a:txBody>
                  <a:tcPr marL="36576" marR="36576" marT="9144" marB="9144">
                    <a:solidFill>
                      <a:srgbClr val="FFFFFF"/>
                    </a:solidFill>
                  </a:tcPr>
                </a:tc>
                <a:tc>
                  <a:txBody>
                    <a:bodyPr/>
                    <a:lstStyle/>
                    <a:p>
                      <a:pPr algn="ctr"/>
                      <a:r>
                        <a:rPr sz="1600" b="0">
                          <a:solidFill>
                            <a:srgbClr val="202020"/>
                          </a:solidFill>
                          <a:latin typeface="Times New Roman"/>
                        </a:rPr>
                        <a:t>62.6%</a:t>
                      </a:r>
                    </a:p>
                  </a:txBody>
                  <a:tcPr marL="36576" marR="36576" marT="9144" marB="9144">
                    <a:solidFill>
                      <a:srgbClr val="FFFFFF"/>
                    </a:solidFill>
                  </a:tcPr>
                </a:tc>
              </a:tr>
              <a:tr h="329184">
                <a:tc>
                  <a:txBody>
                    <a:bodyPr/>
                    <a:lstStyle/>
                    <a:p>
                      <a:pPr algn="ctr"/>
                      <a:r>
                        <a:rPr sz="1600" b="0">
                          <a:solidFill>
                            <a:srgbClr val="202020"/>
                          </a:solidFill>
                          <a:latin typeface="Times New Roman"/>
                        </a:rPr>
                        <a:t>This module: distilled, bias for 3 increased by 3.0</a:t>
                      </a:r>
                    </a:p>
                  </a:txBody>
                  <a:tcPr marL="36576" marR="36576" marT="9144" marB="9144">
                    <a:solidFill>
                      <a:srgbClr val="FFFFFF"/>
                    </a:solidFill>
                  </a:tcPr>
                </a:tc>
                <a:tc>
                  <a:txBody>
                    <a:bodyPr/>
                    <a:lstStyle/>
                    <a:p>
                      <a:pPr algn="ctr"/>
                      <a:r>
                        <a:rPr sz="1600" b="0">
                          <a:solidFill>
                            <a:srgbClr val="202020"/>
                          </a:solidFill>
                          <a:latin typeface="Times New Roman"/>
                        </a:rPr>
                        <a:t>430</a:t>
                      </a:r>
                    </a:p>
                  </a:txBody>
                  <a:tcPr marL="36576" marR="36576" marT="9144" marB="9144">
                    <a:solidFill>
                      <a:srgbClr val="FFFFFF"/>
                    </a:solidFill>
                  </a:tcPr>
                </a:tc>
                <a:tc>
                  <a:txBody>
                    <a:bodyPr/>
                    <a:lstStyle/>
                    <a:p>
                      <a:pPr algn="ctr"/>
                      <a:r>
                        <a:rPr sz="1600" b="0">
                          <a:solidFill>
                            <a:srgbClr val="202020"/>
                          </a:solidFill>
                          <a:latin typeface="Times New Roman"/>
                        </a:rPr>
                        <a:t>84 of 1010</a:t>
                      </a:r>
                    </a:p>
                  </a:txBody>
                  <a:tcPr marL="36576" marR="36576" marT="9144" marB="9144">
                    <a:solidFill>
                      <a:srgbClr val="FFFFFF"/>
                    </a:solidFill>
                  </a:tcPr>
                </a:tc>
                <a:tc>
                  <a:txBody>
                    <a:bodyPr/>
                    <a:lstStyle/>
                    <a:p>
                      <a:pPr algn="ctr"/>
                      <a:r>
                        <a:rPr sz="1600" b="0">
                          <a:solidFill>
                            <a:srgbClr val="202020"/>
                          </a:solidFill>
                          <a:latin typeface="Times New Roman"/>
                        </a:rPr>
                        <a:t>91.7%</a:t>
                      </a:r>
                    </a:p>
                  </a:txBody>
                  <a:tcPr marL="36576" marR="36576" marT="9144" marB="9144">
                    <a:solidFill>
                      <a:srgbClr val="FFF3CD"/>
                    </a:solidFill>
                  </a:tcPr>
                </a:tc>
              </a:tr>
              <a:tr h="329184">
                <a:tc>
                  <a:txBody>
                    <a:bodyPr/>
                    <a:lstStyle/>
                    <a:p>
                      <a:pPr algn="ctr"/>
                      <a:r>
                        <a:rPr sz="1600" b="0">
                          <a:solidFill>
                            <a:srgbClr val="202020"/>
                          </a:solidFill>
                          <a:latin typeface="Times New Roman"/>
                        </a:rPr>
                        <a:t>Paper: distilled</a:t>
                      </a:r>
                    </a:p>
                  </a:txBody>
                  <a:tcPr marL="36576" marR="36576" marT="9144" marB="9144">
                    <a:solidFill>
                      <a:srgbClr val="FFFFFF"/>
                    </a:solidFill>
                  </a:tcPr>
                </a:tc>
                <a:tc>
                  <a:txBody>
                    <a:bodyPr/>
                    <a:lstStyle/>
                    <a:p>
                      <a:pPr algn="ctr"/>
                      <a:r>
                        <a:rPr sz="1600" b="0">
                          <a:solidFill>
                            <a:srgbClr val="202020"/>
                          </a:solidFill>
                          <a:latin typeface="Times New Roman"/>
                        </a:rPr>
                        <a:t>206</a:t>
                      </a:r>
                    </a:p>
                  </a:txBody>
                  <a:tcPr marL="36576" marR="36576" marT="9144" marB="9144">
                    <a:solidFill>
                      <a:srgbClr val="FFFFFF"/>
                    </a:solidFill>
                  </a:tcPr>
                </a:tc>
                <a:tc>
                  <a:txBody>
                    <a:bodyPr/>
                    <a:lstStyle/>
                    <a:p>
                      <a:pPr algn="ctr"/>
                      <a:r>
                        <a:rPr sz="1600" b="0">
                          <a:solidFill>
                            <a:srgbClr val="202020"/>
                          </a:solidFill>
                          <a:latin typeface="Times New Roman"/>
                        </a:rPr>
                        <a:t>133 of 1010</a:t>
                      </a:r>
                    </a:p>
                  </a:txBody>
                  <a:tcPr marL="36576" marR="36576" marT="9144" marB="9144">
                    <a:solidFill>
                      <a:srgbClr val="FFFFFF"/>
                    </a:solidFill>
                  </a:tcPr>
                </a:tc>
                <a:tc>
                  <a:txBody>
                    <a:bodyPr/>
                    <a:lstStyle/>
                    <a:p>
                      <a:pPr algn="ctr"/>
                      <a:r>
                        <a:rPr sz="1600" b="0">
                          <a:solidFill>
                            <a:srgbClr val="202020"/>
                          </a:solidFill>
                          <a:latin typeface="Times New Roman"/>
                        </a:rPr>
                        <a:t>86.8%</a:t>
                      </a:r>
                    </a:p>
                  </a:txBody>
                  <a:tcPr marL="36576" marR="36576" marT="9144" marB="9144">
                    <a:solidFill>
                      <a:srgbClr val="FFFFFF"/>
                    </a:solidFill>
                  </a:tcPr>
                </a:tc>
              </a:tr>
              <a:tr h="329184">
                <a:tc>
                  <a:txBody>
                    <a:bodyPr/>
                    <a:lstStyle/>
                    <a:p>
                      <a:pPr algn="ctr"/>
                      <a:r>
                        <a:rPr sz="1600" b="0">
                          <a:solidFill>
                            <a:srgbClr val="202020"/>
                          </a:solidFill>
                          <a:latin typeface="Times New Roman"/>
                        </a:rPr>
                        <a:t>Paper: distilled, bias for 3 increased by 3.5</a:t>
                      </a:r>
                    </a:p>
                  </a:txBody>
                  <a:tcPr marL="36576" marR="36576" marT="9144" marB="9144">
                    <a:solidFill>
                      <a:srgbClr val="FFFFFF"/>
                    </a:solidFill>
                  </a:tcPr>
                </a:tc>
                <a:tc>
                  <a:txBody>
                    <a:bodyPr/>
                    <a:lstStyle/>
                    <a:p>
                      <a:pPr algn="ctr"/>
                      <a:r>
                        <a:rPr sz="1600" b="0">
                          <a:solidFill>
                            <a:srgbClr val="202020"/>
                          </a:solidFill>
                          <a:latin typeface="Times New Roman"/>
                        </a:rPr>
                        <a:t>109</a:t>
                      </a:r>
                    </a:p>
                  </a:txBody>
                  <a:tcPr marL="36576" marR="36576" marT="9144" marB="9144">
                    <a:solidFill>
                      <a:srgbClr val="FFFFFF"/>
                    </a:solidFill>
                  </a:tcPr>
                </a:tc>
                <a:tc>
                  <a:txBody>
                    <a:bodyPr/>
                    <a:lstStyle/>
                    <a:p>
                      <a:pPr algn="ctr"/>
                      <a:r>
                        <a:rPr sz="1600" b="0">
                          <a:solidFill>
                            <a:srgbClr val="202020"/>
                          </a:solidFill>
                          <a:latin typeface="Times New Roman"/>
                        </a:rPr>
                        <a:t>14 of 1010</a:t>
                      </a:r>
                    </a:p>
                  </a:txBody>
                  <a:tcPr marL="36576" marR="36576" marT="9144" marB="9144">
                    <a:solidFill>
                      <a:srgbClr val="FFFFFF"/>
                    </a:solidFill>
                  </a:tcPr>
                </a:tc>
                <a:tc>
                  <a:txBody>
                    <a:bodyPr/>
                    <a:lstStyle/>
                    <a:p>
                      <a:pPr algn="ctr"/>
                      <a:r>
                        <a:rPr sz="1600" b="0">
                          <a:solidFill>
                            <a:srgbClr val="202020"/>
                          </a:solidFill>
                          <a:latin typeface="Times New Roman"/>
                        </a:rPr>
                        <a:t>98.6%</a:t>
                      </a:r>
                    </a:p>
                  </a:txBody>
                  <a:tcPr marL="36576" marR="36576" marT="9144" marB="9144">
                    <a:solidFill>
                      <a:srgbClr val="FFF3CD"/>
                    </a:solidFill>
                  </a:tcPr>
                </a:tc>
              </a:tr>
            </a:tbl>
          </a:graphicData>
        </a:graphic>
      </p:graphicFrame>
      <p:sp>
        <p:nvSpPr>
          <p:cNvPr id="7" name="Rectangle 6"/>
          <p:cNvSpPr/>
          <p:nvPr/>
        </p:nvSpPr>
        <p:spPr>
          <a:xfrm>
            <a:off x="731520" y="3337560"/>
            <a:ext cx="5303520" cy="146304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59636E"/>
                </a:solidFill>
                <a:latin typeface="Times New Roman"/>
              </a:rPr>
              <a:t>Hard targets only: no training case has the</a:t>
            </a:r>
          </a:p>
          <a:p>
            <a:pPr algn="l"/>
            <a:r>
              <a:rPr sz="1600" b="1">
                <a:solidFill>
                  <a:srgbClr val="59636E"/>
                </a:solidFill>
                <a:latin typeface="Times New Roman"/>
              </a:rPr>
              <a:t>label 3, so the net never outputs a 3</a:t>
            </a:r>
          </a:p>
        </p:txBody>
      </p:sp>
      <p:sp>
        <p:nvSpPr>
          <p:cNvPr id="8" name="Rectangle 7"/>
          <p:cNvSpPr/>
          <p:nvPr/>
        </p:nvSpPr>
        <p:spPr>
          <a:xfrm>
            <a:off x="6309360" y="3337560"/>
            <a:ext cx="5303520" cy="1463040"/>
          </a:xfrm>
          <a:prstGeom prst="rect">
            <a:avLst/>
          </a:prstGeom>
          <a:solidFill>
            <a:srgbClr val="DCF0E4"/>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1E7A45"/>
                </a:solidFill>
                <a:latin typeface="Times New Roman"/>
              </a:rPr>
              <a:t>Distillation: the soft targets for other digits</a:t>
            </a:r>
          </a:p>
          <a:p>
            <a:pPr algn="l"/>
            <a:r>
              <a:rPr sz="1600" b="1">
                <a:solidFill>
                  <a:srgbClr val="1E7A45"/>
                </a:solidFill>
                <a:latin typeface="Times New Roman"/>
              </a:rPr>
              <a:t>say how much each of them resembles a 3,</a:t>
            </a:r>
          </a:p>
          <a:p>
            <a:pPr algn="l"/>
            <a:r>
              <a:rPr sz="1600" b="1">
                <a:solidFill>
                  <a:srgbClr val="1E7A45"/>
                </a:solidFill>
                <a:latin typeface="Times New Roman"/>
              </a:rPr>
              <a:t>from which the distilled model learns about 3s</a:t>
            </a:r>
          </a:p>
        </p:txBody>
      </p:sp>
      <p:sp>
        <p:nvSpPr>
          <p:cNvPr id="9" name="TextBox 8"/>
          <p:cNvSpPr txBox="1"/>
          <p:nvPr/>
        </p:nvSpPr>
        <p:spPr>
          <a:xfrm>
            <a:off x="731520" y="4983480"/>
            <a:ext cx="10881360" cy="1463040"/>
          </a:xfrm>
          <a:prstGeom prst="rect">
            <a:avLst/>
          </a:prstGeom>
          <a:noFill/>
        </p:spPr>
        <p:txBody>
          <a:bodyPr wrap="square">
            <a:spAutoFit/>
          </a:bodyPr>
          <a:lstStyle/>
          <a:p>
            <a:r>
              <a:rPr sz="1600" b="0" i="0">
                <a:solidFill>
                  <a:srgbClr val="202020"/>
                </a:solidFill>
                <a:latin typeface="Times New Roman"/>
              </a:rPr>
              <a:t>Most of the errors are caused by the fact that the learned bias for the 3 class is much too low.</a:t>
            </a:r>
          </a:p>
          <a:p>
            <a:r>
              <a:rPr sz="1600" b="0" i="0">
                <a:solidFill>
                  <a:srgbClr val="202020"/>
                </a:solidFill>
                <a:latin typeface="Times New Roman"/>
              </a:rPr>
              <a:t>As in the paper, the increase in the bias is chosen to optimize overall performance on the test set, so the corrected figures are optimistic.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Other results of the paper</a:t>
            </a:r>
          </a:p>
        </p:txBody>
      </p:sp>
      <p:sp>
        <p:nvSpPr>
          <p:cNvPr id="5" name="TextBox 4"/>
          <p:cNvSpPr txBox="1"/>
          <p:nvPr/>
        </p:nvSpPr>
        <p:spPr>
          <a:xfrm>
            <a:off x="411480" y="521207"/>
            <a:ext cx="11338560" cy="301752"/>
          </a:xfrm>
          <a:prstGeom prst="rect">
            <a:avLst/>
          </a:prstGeom>
          <a:noFill/>
        </p:spPr>
        <p:txBody>
          <a:bodyPr wrap="square">
            <a:spAutoFit/>
          </a:bodyPr>
          <a:lstStyle/>
          <a:p>
            <a:r>
              <a:rPr sz="1400" b="0" i="0">
                <a:solidFill>
                  <a:srgbClr val="C7D6E5"/>
                </a:solidFill>
                <a:latin typeface="Times New Roman"/>
              </a:rPr>
              <a:t>Section 4: speech recognition. Section 5: specialist models. Section 6: soft targets as regularizers</a:t>
            </a:r>
          </a:p>
        </p:txBody>
      </p:sp>
      <p:graphicFrame>
        <p:nvGraphicFramePr>
          <p:cNvPr id="6" name="Table 5"/>
          <p:cNvGraphicFramePr>
            <a:graphicFrameLocks noGrp="1"/>
          </p:cNvGraphicFramePr>
          <p:nvPr/>
        </p:nvGraphicFramePr>
        <p:xfrm>
          <a:off x="731520" y="1143000"/>
          <a:ext cx="5394960" cy="1316736"/>
        </p:xfrm>
        <a:graphic>
          <a:graphicData uri="http://schemas.openxmlformats.org/drawingml/2006/table">
            <a:tbl>
              <a:tblPr bandRow="1">
                <a:tableStyleId>{5C22544A-7EE6-4342-B048-85BDC9FD1C3A}</a:tableStyleId>
              </a:tblPr>
              <a:tblGrid>
                <a:gridCol w="2585085"/>
                <a:gridCol w="1798320"/>
                <a:gridCol w="1011555"/>
              </a:tblGrid>
              <a:tr h="329184">
                <a:tc>
                  <a:txBody>
                    <a:bodyPr/>
                    <a:lstStyle/>
                    <a:p>
                      <a:pPr algn="ctr"/>
                      <a:r>
                        <a:rPr sz="1600" b="1">
                          <a:solidFill>
                            <a:srgbClr val="FFFFFF"/>
                          </a:solidFill>
                          <a:latin typeface="Times New Roman"/>
                        </a:rPr>
                        <a:t>System</a:t>
                      </a:r>
                    </a:p>
                  </a:txBody>
                  <a:tcPr marL="36576" marR="36576" marT="9144" marB="9144">
                    <a:solidFill>
                      <a:srgbClr val="1F4E79"/>
                    </a:solidFill>
                  </a:tcPr>
                </a:tc>
                <a:tc>
                  <a:txBody>
                    <a:bodyPr/>
                    <a:lstStyle/>
                    <a:p>
                      <a:pPr algn="ctr"/>
                      <a:r>
                        <a:rPr sz="1600" b="1">
                          <a:solidFill>
                            <a:srgbClr val="FFFFFF"/>
                          </a:solidFill>
                          <a:latin typeface="Times New Roman"/>
                        </a:rPr>
                        <a:t>Test frame acc.</a:t>
                      </a:r>
                    </a:p>
                  </a:txBody>
                  <a:tcPr marL="36576" marR="36576" marT="9144" marB="9144">
                    <a:solidFill>
                      <a:srgbClr val="1F4E79"/>
                    </a:solidFill>
                  </a:tcPr>
                </a:tc>
                <a:tc>
                  <a:txBody>
                    <a:bodyPr/>
                    <a:lstStyle/>
                    <a:p>
                      <a:pPr algn="ctr"/>
                      <a:r>
                        <a:rPr sz="1600" b="1">
                          <a:solidFill>
                            <a:srgbClr val="FFFFFF"/>
                          </a:solidFill>
                          <a:latin typeface="Times New Roman"/>
                        </a:rPr>
                        <a:t>WER</a:t>
                      </a:r>
                    </a:p>
                  </a:txBody>
                  <a:tcPr marL="36576" marR="36576" marT="9144" marB="9144">
                    <a:solidFill>
                      <a:srgbClr val="1F4E79"/>
                    </a:solidFill>
                  </a:tcPr>
                </a:tc>
              </a:tr>
              <a:tr h="329184">
                <a:tc>
                  <a:txBody>
                    <a:bodyPr/>
                    <a:lstStyle/>
                    <a:p>
                      <a:pPr algn="ctr"/>
                      <a:r>
                        <a:rPr sz="1600" b="0">
                          <a:solidFill>
                            <a:srgbClr val="202020"/>
                          </a:solidFill>
                          <a:latin typeface="Times New Roman"/>
                        </a:rPr>
                        <a:t>Baseline</a:t>
                      </a:r>
                    </a:p>
                  </a:txBody>
                  <a:tcPr marL="36576" marR="36576" marT="9144" marB="9144">
                    <a:solidFill>
                      <a:srgbClr val="FFFFFF"/>
                    </a:solidFill>
                  </a:tcPr>
                </a:tc>
                <a:tc>
                  <a:txBody>
                    <a:bodyPr/>
                    <a:lstStyle/>
                    <a:p>
                      <a:pPr algn="ctr"/>
                      <a:r>
                        <a:rPr sz="1600" b="0">
                          <a:solidFill>
                            <a:srgbClr val="202020"/>
                          </a:solidFill>
                          <a:latin typeface="Times New Roman"/>
                        </a:rPr>
                        <a:t>58.9%</a:t>
                      </a:r>
                    </a:p>
                  </a:txBody>
                  <a:tcPr marL="36576" marR="36576" marT="9144" marB="9144">
                    <a:solidFill>
                      <a:srgbClr val="FFFFFF"/>
                    </a:solidFill>
                  </a:tcPr>
                </a:tc>
                <a:tc>
                  <a:txBody>
                    <a:bodyPr/>
                    <a:lstStyle/>
                    <a:p>
                      <a:pPr algn="ctr"/>
                      <a:r>
                        <a:rPr sz="1600" b="0">
                          <a:solidFill>
                            <a:srgbClr val="202020"/>
                          </a:solidFill>
                          <a:latin typeface="Times New Roman"/>
                        </a:rPr>
                        <a:t>10.9%</a:t>
                      </a:r>
                    </a:p>
                  </a:txBody>
                  <a:tcPr marL="36576" marR="36576" marT="9144" marB="9144">
                    <a:solidFill>
                      <a:srgbClr val="FFFFFF"/>
                    </a:solidFill>
                  </a:tcPr>
                </a:tc>
              </a:tr>
              <a:tr h="329184">
                <a:tc>
                  <a:txBody>
                    <a:bodyPr/>
                    <a:lstStyle/>
                    <a:p>
                      <a:pPr algn="ctr"/>
                      <a:r>
                        <a:rPr sz="1600" b="0">
                          <a:solidFill>
                            <a:srgbClr val="202020"/>
                          </a:solidFill>
                          <a:latin typeface="Times New Roman"/>
                        </a:rPr>
                        <a:t>10xEnsemble</a:t>
                      </a:r>
                    </a:p>
                  </a:txBody>
                  <a:tcPr marL="36576" marR="36576" marT="9144" marB="9144">
                    <a:solidFill>
                      <a:srgbClr val="FFFFFF"/>
                    </a:solidFill>
                  </a:tcPr>
                </a:tc>
                <a:tc>
                  <a:txBody>
                    <a:bodyPr/>
                    <a:lstStyle/>
                    <a:p>
                      <a:pPr algn="ctr"/>
                      <a:r>
                        <a:rPr sz="1600" b="0">
                          <a:solidFill>
                            <a:srgbClr val="202020"/>
                          </a:solidFill>
                          <a:latin typeface="Times New Roman"/>
                        </a:rPr>
                        <a:t>61.1%</a:t>
                      </a:r>
                    </a:p>
                  </a:txBody>
                  <a:tcPr marL="36576" marR="36576" marT="9144" marB="9144">
                    <a:solidFill>
                      <a:srgbClr val="FFFFFF"/>
                    </a:solidFill>
                  </a:tcPr>
                </a:tc>
                <a:tc>
                  <a:txBody>
                    <a:bodyPr/>
                    <a:lstStyle/>
                    <a:p>
                      <a:pPr algn="ctr"/>
                      <a:r>
                        <a:rPr sz="1600" b="0">
                          <a:solidFill>
                            <a:srgbClr val="202020"/>
                          </a:solidFill>
                          <a:latin typeface="Times New Roman"/>
                        </a:rPr>
                        <a:t>10.7%</a:t>
                      </a:r>
                    </a:p>
                  </a:txBody>
                  <a:tcPr marL="36576" marR="36576" marT="9144" marB="9144">
                    <a:solidFill>
                      <a:srgbClr val="FFFFFF"/>
                    </a:solidFill>
                  </a:tcPr>
                </a:tc>
              </a:tr>
              <a:tr h="329184">
                <a:tc>
                  <a:txBody>
                    <a:bodyPr/>
                    <a:lstStyle/>
                    <a:p>
                      <a:pPr algn="ctr"/>
                      <a:r>
                        <a:rPr sz="1600" b="0">
                          <a:solidFill>
                            <a:srgbClr val="202020"/>
                          </a:solidFill>
                          <a:latin typeface="Times New Roman"/>
                        </a:rPr>
                        <a:t>Distilled single model</a:t>
                      </a:r>
                    </a:p>
                  </a:txBody>
                  <a:tcPr marL="36576" marR="36576" marT="9144" marB="9144">
                    <a:solidFill>
                      <a:srgbClr val="FFFFFF"/>
                    </a:solidFill>
                  </a:tcPr>
                </a:tc>
                <a:tc>
                  <a:txBody>
                    <a:bodyPr/>
                    <a:lstStyle/>
                    <a:p>
                      <a:pPr algn="ctr"/>
                      <a:r>
                        <a:rPr sz="1600" b="0">
                          <a:solidFill>
                            <a:srgbClr val="202020"/>
                          </a:solidFill>
                          <a:latin typeface="Times New Roman"/>
                        </a:rPr>
                        <a:t>60.8%</a:t>
                      </a:r>
                    </a:p>
                  </a:txBody>
                  <a:tcPr marL="36576" marR="36576" marT="9144" marB="9144">
                    <a:solidFill>
                      <a:srgbClr val="FFF3CD"/>
                    </a:solidFill>
                  </a:tcPr>
                </a:tc>
                <a:tc>
                  <a:txBody>
                    <a:bodyPr/>
                    <a:lstStyle/>
                    <a:p>
                      <a:pPr algn="ctr"/>
                      <a:r>
                        <a:rPr sz="1600" b="0">
                          <a:solidFill>
                            <a:srgbClr val="202020"/>
                          </a:solidFill>
                          <a:latin typeface="Times New Roman"/>
                        </a:rPr>
                        <a:t>10.7%</a:t>
                      </a:r>
                    </a:p>
                  </a:txBody>
                  <a:tcPr marL="36576" marR="36576" marT="9144" marB="9144">
                    <a:solidFill>
                      <a:srgbClr val="FFF3CD"/>
                    </a:solidFill>
                  </a:tcPr>
                </a:tc>
              </a:tr>
            </a:tbl>
          </a:graphicData>
        </a:graphic>
      </p:graphicFrame>
      <p:sp>
        <p:nvSpPr>
          <p:cNvPr id="7" name="TextBox 6"/>
          <p:cNvSpPr txBox="1"/>
          <p:nvPr/>
        </p:nvSpPr>
        <p:spPr>
          <a:xfrm>
            <a:off x="731520" y="2560320"/>
            <a:ext cx="5394960" cy="1188720"/>
          </a:xfrm>
          <a:prstGeom prst="rect">
            <a:avLst/>
          </a:prstGeom>
          <a:noFill/>
        </p:spPr>
        <p:txBody>
          <a:bodyPr wrap="square">
            <a:spAutoFit/>
          </a:bodyPr>
          <a:lstStyle/>
          <a:p>
            <a:r>
              <a:rPr sz="1500" b="0" i="0">
                <a:solidFill>
                  <a:srgbClr val="202020"/>
                </a:solidFill>
                <a:latin typeface="Times New Roman"/>
              </a:rPr>
              <a:t>Acoustic model of Android voice search: more than 80%</a:t>
            </a:r>
          </a:p>
          <a:p>
            <a:r>
              <a:rPr sz="1500" b="0" i="0">
                <a:solidFill>
                  <a:srgbClr val="202020"/>
                </a:solidFill>
                <a:latin typeface="Times New Roman"/>
              </a:rPr>
              <a:t>of the improvement in frame accuracy achieved by the</a:t>
            </a:r>
          </a:p>
          <a:p>
            <a:r>
              <a:rPr sz="1500" b="0" i="0">
                <a:solidFill>
                  <a:srgbClr val="202020"/>
                </a:solidFill>
                <a:latin typeface="Times New Roman"/>
              </a:rPr>
              <a:t>ensemble is transferred to the distilled model.</a:t>
            </a:r>
          </a:p>
        </p:txBody>
      </p:sp>
      <p:graphicFrame>
        <p:nvGraphicFramePr>
          <p:cNvPr id="8" name="Table 7"/>
          <p:cNvGraphicFramePr>
            <a:graphicFrameLocks noGrp="1"/>
          </p:cNvGraphicFramePr>
          <p:nvPr/>
        </p:nvGraphicFramePr>
        <p:xfrm>
          <a:off x="6400800" y="1143000"/>
          <a:ext cx="5212078" cy="1316736"/>
        </p:xfrm>
        <a:graphic>
          <a:graphicData uri="http://schemas.openxmlformats.org/drawingml/2006/table">
            <a:tbl>
              <a:tblPr bandRow="1">
                <a:tableStyleId>{5C22544A-7EE6-4342-B048-85BDC9FD1C3A}</a:tableStyleId>
              </a:tblPr>
              <a:tblGrid>
                <a:gridCol w="1895301"/>
                <a:gridCol w="1539932"/>
                <a:gridCol w="1776845"/>
              </a:tblGrid>
              <a:tr h="329184">
                <a:tc>
                  <a:txBody>
                    <a:bodyPr/>
                    <a:lstStyle/>
                    <a:p>
                      <a:pPr algn="ctr"/>
                      <a:r>
                        <a:rPr sz="1600" b="1">
                          <a:solidFill>
                            <a:srgbClr val="FFFFFF"/>
                          </a:solidFill>
                          <a:latin typeface="Times New Roman"/>
                        </a:rPr>
                        <a:t>System</a:t>
                      </a:r>
                    </a:p>
                  </a:txBody>
                  <a:tcPr marL="36576" marR="36576" marT="9144" marB="9144">
                    <a:solidFill>
                      <a:srgbClr val="1F4E79"/>
                    </a:solidFill>
                  </a:tcPr>
                </a:tc>
                <a:tc>
                  <a:txBody>
                    <a:bodyPr/>
                    <a:lstStyle/>
                    <a:p>
                      <a:pPr algn="ctr"/>
                      <a:r>
                        <a:rPr sz="1600" b="1">
                          <a:solidFill>
                            <a:srgbClr val="FFFFFF"/>
                          </a:solidFill>
                          <a:latin typeface="Times New Roman"/>
                        </a:rPr>
                        <a:t>Training set</a:t>
                      </a:r>
                    </a:p>
                  </a:txBody>
                  <a:tcPr marL="36576" marR="36576" marT="9144" marB="9144">
                    <a:solidFill>
                      <a:srgbClr val="1F4E79"/>
                    </a:solidFill>
                  </a:tcPr>
                </a:tc>
                <a:tc>
                  <a:txBody>
                    <a:bodyPr/>
                    <a:lstStyle/>
                    <a:p>
                      <a:pPr algn="ctr"/>
                      <a:r>
                        <a:rPr sz="1600" b="1">
                          <a:solidFill>
                            <a:srgbClr val="FFFFFF"/>
                          </a:solidFill>
                          <a:latin typeface="Times New Roman"/>
                        </a:rPr>
                        <a:t>Test frame acc.</a:t>
                      </a:r>
                    </a:p>
                  </a:txBody>
                  <a:tcPr marL="36576" marR="36576" marT="9144" marB="9144">
                    <a:solidFill>
                      <a:srgbClr val="1F4E79"/>
                    </a:solidFill>
                  </a:tcPr>
                </a:tc>
              </a:tr>
              <a:tr h="329184">
                <a:tc>
                  <a:txBody>
                    <a:bodyPr/>
                    <a:lstStyle/>
                    <a:p>
                      <a:pPr algn="ctr"/>
                      <a:r>
                        <a:rPr sz="1600" b="0">
                          <a:solidFill>
                            <a:srgbClr val="202020"/>
                          </a:solidFill>
                          <a:latin typeface="Times New Roman"/>
                        </a:rPr>
                        <a:t>Baseline</a:t>
                      </a:r>
                    </a:p>
                  </a:txBody>
                  <a:tcPr marL="36576" marR="36576" marT="9144" marB="9144">
                    <a:solidFill>
                      <a:srgbClr val="FFFFFF"/>
                    </a:solidFill>
                  </a:tcPr>
                </a:tc>
                <a:tc>
                  <a:txBody>
                    <a:bodyPr/>
                    <a:lstStyle/>
                    <a:p>
                      <a:pPr algn="ctr"/>
                      <a:r>
                        <a:rPr sz="1600" b="0">
                          <a:solidFill>
                            <a:srgbClr val="202020"/>
                          </a:solidFill>
                          <a:latin typeface="Times New Roman"/>
                        </a:rPr>
                        <a:t>100%</a:t>
                      </a:r>
                    </a:p>
                  </a:txBody>
                  <a:tcPr marL="36576" marR="36576" marT="9144" marB="9144">
                    <a:solidFill>
                      <a:srgbClr val="FFFFFF"/>
                    </a:solidFill>
                  </a:tcPr>
                </a:tc>
                <a:tc>
                  <a:txBody>
                    <a:bodyPr/>
                    <a:lstStyle/>
                    <a:p>
                      <a:pPr algn="ctr"/>
                      <a:r>
                        <a:rPr sz="1600" b="0">
                          <a:solidFill>
                            <a:srgbClr val="202020"/>
                          </a:solidFill>
                          <a:latin typeface="Times New Roman"/>
                        </a:rPr>
                        <a:t>58.9%</a:t>
                      </a:r>
                    </a:p>
                  </a:txBody>
                  <a:tcPr marL="36576" marR="36576" marT="9144" marB="9144">
                    <a:solidFill>
                      <a:srgbClr val="FFFFFF"/>
                    </a:solidFill>
                  </a:tcPr>
                </a:tc>
              </a:tr>
              <a:tr h="329184">
                <a:tc>
                  <a:txBody>
                    <a:bodyPr/>
                    <a:lstStyle/>
                    <a:p>
                      <a:pPr algn="ctr"/>
                      <a:r>
                        <a:rPr sz="1600" b="0">
                          <a:solidFill>
                            <a:srgbClr val="202020"/>
                          </a:solidFill>
                          <a:latin typeface="Times New Roman"/>
                        </a:rPr>
                        <a:t>Baseline</a:t>
                      </a:r>
                    </a:p>
                  </a:txBody>
                  <a:tcPr marL="36576" marR="36576" marT="9144" marB="9144">
                    <a:solidFill>
                      <a:srgbClr val="FFFFFF"/>
                    </a:solidFill>
                  </a:tcPr>
                </a:tc>
                <a:tc>
                  <a:txBody>
                    <a:bodyPr/>
                    <a:lstStyle/>
                    <a:p>
                      <a:pPr algn="ctr"/>
                      <a:r>
                        <a:rPr sz="1600" b="0">
                          <a:solidFill>
                            <a:srgbClr val="202020"/>
                          </a:solidFill>
                          <a:latin typeface="Times New Roman"/>
                        </a:rPr>
                        <a:t>3%</a:t>
                      </a:r>
                    </a:p>
                  </a:txBody>
                  <a:tcPr marL="36576" marR="36576" marT="9144" marB="9144">
                    <a:solidFill>
                      <a:srgbClr val="FFFFFF"/>
                    </a:solidFill>
                  </a:tcPr>
                </a:tc>
                <a:tc>
                  <a:txBody>
                    <a:bodyPr/>
                    <a:lstStyle/>
                    <a:p>
                      <a:pPr algn="ctr"/>
                      <a:r>
                        <a:rPr sz="1600" b="0">
                          <a:solidFill>
                            <a:srgbClr val="202020"/>
                          </a:solidFill>
                          <a:latin typeface="Times New Roman"/>
                        </a:rPr>
                        <a:t>44.5%</a:t>
                      </a:r>
                    </a:p>
                  </a:txBody>
                  <a:tcPr marL="36576" marR="36576" marT="9144" marB="9144">
                    <a:solidFill>
                      <a:srgbClr val="FFFFFF"/>
                    </a:solidFill>
                  </a:tcPr>
                </a:tc>
              </a:tr>
              <a:tr h="329184">
                <a:tc>
                  <a:txBody>
                    <a:bodyPr/>
                    <a:lstStyle/>
                    <a:p>
                      <a:pPr algn="ctr"/>
                      <a:r>
                        <a:rPr sz="1600" b="0">
                          <a:solidFill>
                            <a:srgbClr val="202020"/>
                          </a:solidFill>
                          <a:latin typeface="Times New Roman"/>
                        </a:rPr>
                        <a:t>Soft targets</a:t>
                      </a:r>
                    </a:p>
                  </a:txBody>
                  <a:tcPr marL="36576" marR="36576" marT="9144" marB="9144">
                    <a:solidFill>
                      <a:srgbClr val="FFFFFF"/>
                    </a:solidFill>
                  </a:tcPr>
                </a:tc>
                <a:tc>
                  <a:txBody>
                    <a:bodyPr/>
                    <a:lstStyle/>
                    <a:p>
                      <a:pPr algn="ctr"/>
                      <a:r>
                        <a:rPr sz="1600" b="0">
                          <a:solidFill>
                            <a:srgbClr val="202020"/>
                          </a:solidFill>
                          <a:latin typeface="Times New Roman"/>
                        </a:rPr>
                        <a:t>3%</a:t>
                      </a:r>
                    </a:p>
                  </a:txBody>
                  <a:tcPr marL="36576" marR="36576" marT="9144" marB="9144">
                    <a:solidFill>
                      <a:srgbClr val="FFFFFF"/>
                    </a:solidFill>
                  </a:tcPr>
                </a:tc>
                <a:tc>
                  <a:txBody>
                    <a:bodyPr/>
                    <a:lstStyle/>
                    <a:p>
                      <a:pPr algn="ctr"/>
                      <a:r>
                        <a:rPr sz="1600" b="0">
                          <a:solidFill>
                            <a:srgbClr val="202020"/>
                          </a:solidFill>
                          <a:latin typeface="Times New Roman"/>
                        </a:rPr>
                        <a:t>57.0%</a:t>
                      </a:r>
                    </a:p>
                  </a:txBody>
                  <a:tcPr marL="36576" marR="36576" marT="9144" marB="9144">
                    <a:solidFill>
                      <a:srgbClr val="FFF3CD"/>
                    </a:solidFill>
                  </a:tcPr>
                </a:tc>
              </a:tr>
            </a:tbl>
          </a:graphicData>
        </a:graphic>
      </p:graphicFrame>
      <p:sp>
        <p:nvSpPr>
          <p:cNvPr id="9" name="TextBox 8"/>
          <p:cNvSpPr txBox="1"/>
          <p:nvPr/>
        </p:nvSpPr>
        <p:spPr>
          <a:xfrm>
            <a:off x="6400800" y="2560320"/>
            <a:ext cx="5212080" cy="1188720"/>
          </a:xfrm>
          <a:prstGeom prst="rect">
            <a:avLst/>
          </a:prstGeom>
          <a:noFill/>
        </p:spPr>
        <p:txBody>
          <a:bodyPr wrap="square">
            <a:spAutoFit/>
          </a:bodyPr>
          <a:lstStyle/>
          <a:p>
            <a:r>
              <a:rPr sz="1500" b="0" i="0">
                <a:solidFill>
                  <a:srgbClr val="202020"/>
                </a:solidFill>
                <a:latin typeface="Times New Roman"/>
              </a:rPr>
              <a:t>Soft targets allow a new model to generalize well from</a:t>
            </a:r>
          </a:p>
          <a:p>
            <a:r>
              <a:rPr sz="1500" b="0" i="0">
                <a:solidFill>
                  <a:srgbClr val="202020"/>
                </a:solidFill>
                <a:latin typeface="Times New Roman"/>
              </a:rPr>
              <a:t>only 3% of the training set; with hard targets the model</a:t>
            </a:r>
          </a:p>
          <a:p>
            <a:r>
              <a:rPr sz="1500" b="0" i="0">
                <a:solidFill>
                  <a:srgbClr val="202020"/>
                </a:solidFill>
                <a:latin typeface="Times New Roman"/>
              </a:rPr>
              <a:t>overfits severely and needs early stopping.</a:t>
            </a:r>
          </a:p>
        </p:txBody>
      </p:sp>
      <p:sp>
        <p:nvSpPr>
          <p:cNvPr id="10" name="Rectangle 9"/>
          <p:cNvSpPr/>
          <p:nvPr/>
        </p:nvSpPr>
        <p:spPr>
          <a:xfrm>
            <a:off x="731520" y="3931920"/>
            <a:ext cx="10881360" cy="128016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0">
                <a:solidFill>
                  <a:srgbClr val="1F4E79"/>
                </a:solidFill>
                <a:latin typeface="Times New Roman"/>
              </a:rPr>
              <a:t>Specialist models: on JFT (100 million labeled images, 15,000 labels), 61 specialist models, each trained on a</a:t>
            </a:r>
          </a:p>
          <a:p>
            <a:pPr algn="l"/>
            <a:r>
              <a:rPr sz="1600" b="0">
                <a:solidFill>
                  <a:srgbClr val="1F4E79"/>
                </a:solidFill>
                <a:latin typeface="Times New Roman"/>
              </a:rPr>
              <a:t>confusable subset of the classes, are added to the generalist model; test accuracy rises from 25.0% to 26.1%.</a:t>
            </a:r>
          </a:p>
        </p:txBody>
      </p:sp>
      <p:sp>
        <p:nvSpPr>
          <p:cNvPr id="11" name="TextBox 10"/>
          <p:cNvSpPr txBox="1"/>
          <p:nvPr/>
        </p:nvSpPr>
        <p:spPr>
          <a:xfrm>
            <a:off x="731520" y="5440680"/>
            <a:ext cx="10881360" cy="822960"/>
          </a:xfrm>
          <a:prstGeom prst="rect">
            <a:avLst/>
          </a:prstGeom>
          <a:noFill/>
        </p:spPr>
        <p:txBody>
          <a:bodyPr wrap="square">
            <a:spAutoFit/>
          </a:bodyPr>
          <a:lstStyle/>
          <a:p>
            <a:r>
              <a:rPr sz="1500" b="0" i="0">
                <a:solidFill>
                  <a:srgbClr val="59636E"/>
                </a:solidFill>
                <a:latin typeface="Times New Roman"/>
              </a:rPr>
              <a:t>Figures from Tables 1, 3, and 5 of the paper; these experiments are not repeated in this module.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Graphic spid="8" grpId="0">
        <p:bldAsOne/>
      </p:bldGraphic>
      <p:bldP spid="9" grpId="0" animBg="1"/>
      <p:bldP spid="10" grpId="0" animBg="1"/>
      <p:bldP spid="11"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4864"/>
            <a:ext cx="11338560" cy="457200"/>
          </a:xfrm>
          <a:prstGeom prst="rect">
            <a:avLst/>
          </a:prstGeom>
          <a:noFill/>
        </p:spPr>
        <p:txBody>
          <a:bodyPr wrap="square">
            <a:spAutoFit/>
          </a:bodyPr>
          <a:lstStyle/>
          <a:p>
            <a:r>
              <a:rPr sz="2800" b="1" i="0">
                <a:solidFill>
                  <a:srgbClr val="FFFFFF"/>
                </a:solidFill>
                <a:latin typeface="Times New Roman"/>
              </a:rPr>
              <a:t>Summary and exercises</a:t>
            </a:r>
          </a:p>
        </p:txBody>
      </p:sp>
      <p:sp>
        <p:nvSpPr>
          <p:cNvPr id="5" name="Rectangle 4"/>
          <p:cNvSpPr/>
          <p:nvPr/>
        </p:nvSpPr>
        <p:spPr>
          <a:xfrm>
            <a:off x="731520" y="1097280"/>
            <a:ext cx="10881360" cy="64008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F4E79"/>
                </a:solidFill>
                <a:latin typeface="Times New Roman"/>
              </a:rPr>
              <a:t>1  A higher temperature produces a softer distribution and exposes the relative probabilities of incorrect classes</a:t>
            </a:r>
          </a:p>
        </p:txBody>
      </p:sp>
      <p:sp>
        <p:nvSpPr>
          <p:cNvPr id="6" name="Rectangle 5"/>
          <p:cNvSpPr/>
          <p:nvPr/>
        </p:nvSpPr>
        <p:spPr>
          <a:xfrm>
            <a:off x="731520" y="1828800"/>
            <a:ext cx="10881360" cy="64008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F4E79"/>
                </a:solidFill>
                <a:latin typeface="Times New Roman"/>
              </a:rPr>
              <a:t>2  L = α T² × cross entropy with soft targets + (1 − α) × cross entropy with hard targets; T² offsets the 1/T²</a:t>
            </a:r>
          </a:p>
        </p:txBody>
      </p:sp>
      <p:sp>
        <p:nvSpPr>
          <p:cNvPr id="7" name="Rectangle 6"/>
          <p:cNvSpPr/>
          <p:nvPr/>
        </p:nvSpPr>
        <p:spPr>
          <a:xfrm>
            <a:off x="731520" y="2560320"/>
            <a:ext cx="10881360" cy="640080"/>
          </a:xfrm>
          <a:prstGeom prst="rect">
            <a:avLst/>
          </a:prstGeom>
          <a:solidFill>
            <a:srgbClr val="F6F8FA"/>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1F4E79"/>
                </a:solidFill>
                <a:latin typeface="Times New Roman"/>
              </a:rPr>
              <a:t>3  Matching logits is the high-temperature limit; a very small net works best at intermediate temperatures</a:t>
            </a:r>
          </a:p>
        </p:txBody>
      </p:sp>
      <p:sp>
        <p:nvSpPr>
          <p:cNvPr id="8" name="Rectangle 7"/>
          <p:cNvSpPr/>
          <p:nvPr/>
        </p:nvSpPr>
        <p:spPr>
          <a:xfrm>
            <a:off x="731520" y="3474720"/>
            <a:ext cx="10881360" cy="68580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C03030"/>
                </a:solidFill>
                <a:latin typeface="Times New Roman"/>
              </a:rPr>
              <a:t>Exercise 1  At T = 2, what are the soft targets for v = (8, 4, 0)? Use the four steps of slide 6</a:t>
            </a:r>
          </a:p>
        </p:txBody>
      </p:sp>
      <p:sp>
        <p:nvSpPr>
          <p:cNvPr id="9" name="Rectangle 8"/>
          <p:cNvSpPr/>
          <p:nvPr/>
        </p:nvSpPr>
        <p:spPr>
          <a:xfrm>
            <a:off x="731520" y="4251960"/>
            <a:ext cx="10881360" cy="68580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C03030"/>
                </a:solidFill>
                <a:latin typeface="Times New Roman"/>
              </a:rPr>
              <a:t>Exercise 2  Set the distilled logits to z = (8, 4, 0), equal to v. What is the gradient in Eq. 2, and why?</a:t>
            </a:r>
          </a:p>
        </p:txBody>
      </p:sp>
      <p:sp>
        <p:nvSpPr>
          <p:cNvPr id="10" name="Rectangle 9"/>
          <p:cNvSpPr/>
          <p:nvPr/>
        </p:nvSpPr>
        <p:spPr>
          <a:xfrm>
            <a:off x="731520" y="5029200"/>
            <a:ext cx="10881360" cy="685800"/>
          </a:xfrm>
          <a:prstGeom prst="rect">
            <a:avLst/>
          </a:prstGeom>
          <a:solidFill>
            <a:srgbClr val="FFF3CD"/>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a:solidFill>
                  <a:srgbClr val="C03030"/>
                </a:solidFill>
                <a:latin typeface="Times New Roman"/>
              </a:rPr>
              <a:t>Exercise 3  In Section 7 of the notebook, omit the digit 7 instead and record the fraction of test 7s correct</a:t>
            </a:r>
          </a:p>
        </p:txBody>
      </p:sp>
      <p:sp>
        <p:nvSpPr>
          <p:cNvPr id="11" name="TextBox 10"/>
          <p:cNvSpPr txBox="1"/>
          <p:nvPr/>
        </p:nvSpPr>
        <p:spPr>
          <a:xfrm>
            <a:off x="731520" y="5897880"/>
            <a:ext cx="10881360" cy="731520"/>
          </a:xfrm>
          <a:prstGeom prst="rect">
            <a:avLst/>
          </a:prstGeom>
          <a:noFill/>
        </p:spPr>
        <p:txBody>
          <a:bodyPr wrap="square">
            <a:spAutoFit/>
          </a:bodyPr>
          <a:lstStyle/>
          <a:p>
            <a:r>
              <a:rPr sz="1600" b="1" i="0">
                <a:solidFill>
                  <a:srgbClr val="59636E"/>
                </a:solidFill>
                <a:latin typeface="Times New Roman"/>
              </a:rPr>
              <a:t>Exercise 1 can be checked in Section 2 of the notebook with T = 2; Exercise 2 in Section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