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005840"/>
          </a:xfrm>
          <a:prstGeom prst="rect">
            <a:avLst/>
          </a:prstGeom>
          <a:noFill/>
        </p:spPr>
        <p:txBody>
          <a:bodyPr wrap="square">
            <a:spAutoFit/>
          </a:bodyPr>
          <a:lstStyle/>
          <a:p>
            <a:r>
              <a:rPr sz="5400" b="1" i="0">
                <a:solidFill>
                  <a:srgbClr val="FFFFFF"/>
                </a:solidFill>
                <a:latin typeface="Times New Roman"/>
              </a:rPr>
              <a:t>Knowledge Distillation</a:t>
            </a:r>
          </a:p>
        </p:txBody>
      </p:sp>
      <p:sp>
        <p:nvSpPr>
          <p:cNvPr id="4" name="TextBox 3"/>
          <p:cNvSpPr txBox="1"/>
          <p:nvPr/>
        </p:nvSpPr>
        <p:spPr>
          <a:xfrm>
            <a:off x="822960" y="2743200"/>
            <a:ext cx="10515600" cy="731520"/>
          </a:xfrm>
          <a:prstGeom prst="rect">
            <a:avLst/>
          </a:prstGeom>
          <a:noFill/>
        </p:spPr>
        <p:txBody>
          <a:bodyPr wrap="square">
            <a:spAutoFit/>
          </a:bodyPr>
          <a:lstStyle/>
          <a:p>
            <a:r>
              <a:rPr sz="2600" b="0" i="0">
                <a:solidFill>
                  <a:srgbClr val="FFFFFF"/>
                </a:solidFill>
                <a:latin typeface="Times New Roman"/>
              </a:rPr>
              <a:t>Transferring the knowledge of a cumbersome model to a small model</a:t>
            </a:r>
          </a:p>
        </p:txBody>
      </p:sp>
      <p:sp>
        <p:nvSpPr>
          <p:cNvPr id="5" name="Rectangle 4"/>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840480"/>
            <a:ext cx="10515600" cy="822960"/>
          </a:xfrm>
          <a:prstGeom prst="rect">
            <a:avLst/>
          </a:prstGeom>
          <a:noFill/>
        </p:spPr>
        <p:txBody>
          <a:bodyPr wrap="square">
            <a:spAutoFit/>
          </a:bodyPr>
          <a:lstStyle/>
          <a:p>
            <a:r>
              <a:rPr sz="1800" b="0" i="0">
                <a:solidFill>
                  <a:srgbClr val="C7D6E5"/>
                </a:solidFill>
                <a:latin typeface="Times New Roman"/>
              </a:rPr>
              <a:t>Based on G. Hinton, O. Vinyals, and J. Dean (2015),</a:t>
            </a:r>
          </a:p>
          <a:p>
            <a:r>
              <a:rPr sz="1800" b="0" i="0">
                <a:solidFill>
                  <a:srgbClr val="C7D6E5"/>
                </a:solidFill>
                <a:latin typeface="Times New Roman"/>
              </a:rPr>
              <a:t>Distilling the Knowledge in a Neural Network, arXiv:1503.02531</a:t>
            </a:r>
          </a:p>
        </p:txBody>
      </p:sp>
      <p:sp>
        <p:nvSpPr>
          <p:cNvPr id="7" name="TextBox 6"/>
          <p:cNvSpPr txBox="1"/>
          <p:nvPr/>
        </p:nvSpPr>
        <p:spPr>
          <a:xfrm>
            <a:off x="822960" y="6080760"/>
            <a:ext cx="10515600" cy="411480"/>
          </a:xfrm>
          <a:prstGeom prst="rect">
            <a:avLst/>
          </a:prstGeom>
          <a:noFill/>
        </p:spPr>
        <p:txBody>
          <a:bodyPr wrap="square">
            <a:spAutoFit/>
          </a:bodyPr>
          <a:lstStyle/>
          <a:p>
            <a:r>
              <a:rPr sz="15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500" b="1">
                          <a:solidFill>
                            <a:srgbClr val="FFFFFF"/>
                          </a:solidFill>
                          <a:latin typeface="Times New Roman"/>
                        </a:rPr>
                        <a:t>Part</a:t>
                      </a:r>
                    </a:p>
                  </a:txBody>
                  <a:tcPr marL="36576" marR="36576" marT="9144" marB="9144">
                    <a:solidFill>
                      <a:srgbClr val="1F4E79"/>
                    </a:solidFill>
                  </a:tcPr>
                </a:tc>
                <a:tc>
                  <a:txBody>
                    <a:bodyPr/>
                    <a:lstStyle/>
                    <a:p>
                      <a:pPr algn="ctr"/>
                      <a:r>
                        <a:rPr sz="1500" b="1">
                          <a:solidFill>
                            <a:srgbClr val="FFFFFF"/>
                          </a:solidFill>
                          <a:latin typeface="Times New Roman"/>
                        </a:rPr>
                        <a:t>Key points</a:t>
                      </a:r>
                    </a:p>
                  </a:txBody>
                  <a:tcPr marL="36576" marR="36576" marT="9144" marB="9144">
                    <a:solidFill>
                      <a:srgbClr val="1F4E79"/>
                    </a:solidFill>
                  </a:tcPr>
                </a:tc>
                <a:tc>
                  <a:txBody>
                    <a:bodyPr/>
                    <a:lstStyle/>
                    <a:p>
                      <a:pPr algn="ctr"/>
                      <a:r>
                        <a:rPr sz="1500" b="1">
                          <a:solidFill>
                            <a:srgbClr val="FFFFFF"/>
                          </a:solidFill>
                          <a:latin typeface="Times New Roman"/>
                        </a:rPr>
                        <a:t>Slides</a:t>
                      </a:r>
                    </a:p>
                  </a:txBody>
                  <a:tcPr marL="36576" marR="36576" marT="9144" marB="9144">
                    <a:solidFill>
                      <a:srgbClr val="1F4E79"/>
                    </a:solidFill>
                  </a:tcPr>
                </a:tc>
              </a:tr>
              <a:tr h="329184">
                <a:tc>
                  <a:txBody>
                    <a:bodyPr/>
                    <a:lstStyle/>
                    <a:p>
                      <a:pPr algn="ctr"/>
                      <a:r>
                        <a:rPr sz="1500" b="0">
                          <a:solidFill>
                            <a:srgbClr val="202020"/>
                          </a:solidFill>
                          <a:latin typeface="Times New Roman"/>
                        </a:rPr>
                        <a:t>1  Introduction</a:t>
                      </a:r>
                    </a:p>
                  </a:txBody>
                  <a:tcPr marL="36576" marR="36576" marT="9144" marB="9144">
                    <a:solidFill>
                      <a:srgbClr val="FFFFFF"/>
                    </a:solidFill>
                  </a:tcPr>
                </a:tc>
                <a:tc>
                  <a:txBody>
                    <a:bodyPr/>
                    <a:lstStyle/>
                    <a:p>
                      <a:pPr algn="ctr"/>
                      <a:r>
                        <a:rPr sz="15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500" b="0">
                          <a:solidFill>
                            <a:srgbClr val="202020"/>
                          </a:solidFill>
                          <a:latin typeface="Times New Roman"/>
                        </a:rPr>
                        <a:t>3–4</a:t>
                      </a:r>
                    </a:p>
                  </a:txBody>
                  <a:tcPr marL="36576" marR="36576" marT="9144" marB="9144">
                    <a:solidFill>
                      <a:srgbClr val="FFFFFF"/>
                    </a:solidFill>
                  </a:tcPr>
                </a:tc>
              </a:tr>
              <a:tr h="329184">
                <a:tc>
                  <a:txBody>
                    <a:bodyPr/>
                    <a:lstStyle/>
                    <a:p>
                      <a:pPr algn="ctr"/>
                      <a:r>
                        <a:rPr sz="1500" b="0">
                          <a:solidFill>
                            <a:srgbClr val="202020"/>
                          </a:solidFill>
                          <a:latin typeface="Times New Roman"/>
                        </a:rPr>
                        <a:t>2  Soft targets</a:t>
                      </a:r>
                    </a:p>
                  </a:txBody>
                  <a:tcPr marL="36576" marR="36576" marT="9144" marB="9144">
                    <a:solidFill>
                      <a:srgbClr val="FFFFFF"/>
                    </a:solidFill>
                  </a:tcPr>
                </a:tc>
                <a:tc>
                  <a:txBody>
                    <a:bodyPr/>
                    <a:lstStyle/>
                    <a:p>
                      <a:pPr algn="ctr"/>
                      <a:r>
                        <a:rPr sz="15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500" b="0">
                          <a:solidFill>
                            <a:srgbClr val="202020"/>
                          </a:solidFill>
                          <a:latin typeface="Times New Roman"/>
                        </a:rPr>
                        <a:t>5–8</a:t>
                      </a:r>
                    </a:p>
                  </a:txBody>
                  <a:tcPr marL="36576" marR="36576" marT="9144" marB="9144">
                    <a:solidFill>
                      <a:srgbClr val="FFFFFF"/>
                    </a:solidFill>
                  </a:tcPr>
                </a:tc>
              </a:tr>
              <a:tr h="329184">
                <a:tc>
                  <a:txBody>
                    <a:bodyPr/>
                    <a:lstStyle/>
                    <a:p>
                      <a:pPr algn="ctr"/>
                      <a:r>
                        <a:rPr sz="1500" b="0">
                          <a:solidFill>
                            <a:srgbClr val="202020"/>
                          </a:solidFill>
                          <a:latin typeface="Times New Roman"/>
                        </a:rPr>
                        <a:t>3  Distillation</a:t>
                      </a:r>
                    </a:p>
                  </a:txBody>
                  <a:tcPr marL="36576" marR="36576" marT="9144" marB="9144">
                    <a:solidFill>
                      <a:srgbClr val="FFFFFF"/>
                    </a:solidFill>
                  </a:tcPr>
                </a:tc>
                <a:tc>
                  <a:txBody>
                    <a:bodyPr/>
                    <a:lstStyle/>
                    <a:p>
                      <a:pPr algn="ctr"/>
                      <a:r>
                        <a:rPr sz="15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500" b="0">
                          <a:solidFill>
                            <a:srgbClr val="202020"/>
                          </a:solidFill>
                          <a:latin typeface="Times New Roman"/>
                        </a:rPr>
                        <a:t>9–13</a:t>
                      </a:r>
                    </a:p>
                  </a:txBody>
                  <a:tcPr marL="36576" marR="36576" marT="9144" marB="9144">
                    <a:solidFill>
                      <a:srgbClr val="FFFFFF"/>
                    </a:solidFill>
                  </a:tcPr>
                </a:tc>
              </a:tr>
              <a:tr h="329184">
                <a:tc>
                  <a:txBody>
                    <a:bodyPr/>
                    <a:lstStyle/>
                    <a:p>
                      <a:pPr algn="ctr"/>
                      <a:r>
                        <a:rPr sz="1500" b="0">
                          <a:solidFill>
                            <a:srgbClr val="202020"/>
                          </a:solidFill>
                          <a:latin typeface="Times New Roman"/>
                        </a:rPr>
                        <a:t>4  Experiments on MNIST</a:t>
                      </a:r>
                    </a:p>
                  </a:txBody>
                  <a:tcPr marL="36576" marR="36576" marT="9144" marB="9144">
                    <a:solidFill>
                      <a:srgbClr val="FFFFFF"/>
                    </a:solidFill>
                  </a:tcPr>
                </a:tc>
                <a:tc>
                  <a:txBody>
                    <a:bodyPr/>
                    <a:lstStyle/>
                    <a:p>
                      <a:pPr algn="ctr"/>
                      <a:r>
                        <a:rPr sz="15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500" b="0">
                          <a:solidFill>
                            <a:srgbClr val="202020"/>
                          </a:solidFill>
                          <a:latin typeface="Times New Roman"/>
                        </a:rPr>
                        <a:t>14–18</a:t>
                      </a:r>
                    </a:p>
                  </a:txBody>
                  <a:tcPr marL="36576" marR="36576" marT="9144" marB="9144">
                    <a:solidFill>
                      <a:srgbClr val="FFFFFF"/>
                    </a:solidFill>
                  </a:tcPr>
                </a:tc>
              </a:tr>
              <a:tr h="329184">
                <a:tc>
                  <a:txBody>
                    <a:bodyPr/>
                    <a:lstStyle/>
                    <a:p>
                      <a:pPr algn="ctr"/>
                      <a:r>
                        <a:rPr sz="1500" b="0">
                          <a:solidFill>
                            <a:srgbClr val="202020"/>
                          </a:solidFill>
                          <a:latin typeface="Times New Roman"/>
                        </a:rPr>
                        <a:t>Summary and exercises</a:t>
                      </a:r>
                    </a:p>
                  </a:txBody>
                  <a:tcPr marL="36576" marR="36576" marT="9144" marB="9144">
                    <a:solidFill>
                      <a:srgbClr val="FFFFFF"/>
                    </a:solidFill>
                  </a:tcPr>
                </a:tc>
                <a:tc>
                  <a:txBody>
                    <a:bodyPr/>
                    <a:lstStyle/>
                    <a:p>
                      <a:pPr algn="ctr"/>
                      <a:r>
                        <a:rPr sz="15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500" b="0">
                          <a:solidFill>
                            <a:srgbClr val="202020"/>
                          </a:solidFill>
                          <a:latin typeface="Times New Roman"/>
                        </a:rPr>
                        <a:t>19</a:t>
                      </a:r>
                    </a:p>
                  </a:txBody>
                  <a:tcPr marL="36576" marR="36576" marT="9144" marB="9144">
                    <a:solidFill>
                      <a:srgbClr val="FFFFFF"/>
                    </a:solidFill>
                  </a:tcPr>
                </a:tc>
              </a:tr>
            </a:tbl>
          </a:graphicData>
        </a:graphic>
      </p:graphicFrame>
      <p:sp>
        <p:nvSpPr>
          <p:cNvPr id="7" name="Rectangle 6"/>
          <p:cNvSpPr/>
          <p:nvPr/>
        </p:nvSpPr>
        <p:spPr>
          <a:xfrm>
            <a:off x="731520" y="34290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After working through this module, you should be able to:</a:t>
            </a:r>
          </a:p>
          <a:p>
            <a:pPr algn="l"/>
            <a:r>
              <a:rPr sz="1700" b="1">
                <a:solidFill>
                  <a:srgbClr val="1E7A45"/>
                </a:solidFill>
                <a:latin typeface="Times New Roman"/>
              </a:rPr>
              <a:t>1. compute a softmax with a temperature by hand and explain what soft targets convey that hard targets do not;</a:t>
            </a:r>
          </a:p>
          <a:p>
            <a:pPr algn="l"/>
            <a:r>
              <a:rPr sz="1700" b="1">
                <a:solidFill>
                  <a:srgbClr val="1E7A45"/>
                </a:solidFill>
                <a:latin typeface="Times New Roman"/>
              </a:rPr>
              <a:t>2. write down the distillation objective and compute its value and gradient step by step;</a:t>
            </a:r>
          </a:p>
          <a:p>
            <a:pPr algn="l"/>
            <a:r>
              <a:rPr sz="17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166360"/>
            <a:ext cx="10881360" cy="1097280"/>
          </a:xfrm>
          <a:prstGeom prst="rect">
            <a:avLst/>
          </a:prstGeom>
          <a:noFill/>
        </p:spPr>
        <p:txBody>
          <a:bodyPr wrap="square">
            <a:spAutoFit/>
          </a:bodyPr>
          <a:lstStyle/>
          <a:p>
            <a:r>
              <a:rPr sz="1600" b="0" i="0">
                <a:solidFill>
                  <a:srgbClr val="59636E"/>
                </a:solidFill>
                <a:latin typeface="Times New Roman"/>
              </a:rPr>
              <a:t>Accompanied by the Colab notebook knowledge_distillation_en.ipynb and the data file kd_mnist.npz.</a:t>
            </a:r>
          </a:p>
          <a:p>
            <a:r>
              <a:rPr sz="16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Training stage</a:t>
                      </a:r>
                    </a:p>
                  </a:txBody>
                  <a:tcPr marL="36576" marR="36576" marT="9144" marB="9144">
                    <a:solidFill>
                      <a:srgbClr val="1F4E79"/>
                    </a:solidFill>
                  </a:tcPr>
                </a:tc>
                <a:tc>
                  <a:txBody>
                    <a:bodyPr/>
                    <a:lstStyle/>
                    <a:p>
                      <a:pPr algn="ctr"/>
                      <a:r>
                        <a:rPr sz="16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600" b="0">
                          <a:solidFill>
                            <a:srgbClr val="202020"/>
                          </a:solidFill>
                          <a:latin typeface="Times New Roman"/>
                        </a:rPr>
                        <a:t>Data</a:t>
                      </a:r>
                    </a:p>
                  </a:txBody>
                  <a:tcPr marL="36576" marR="36576" marT="9144" marB="9144">
                    <a:solidFill>
                      <a:srgbClr val="FFFFFF"/>
                    </a:solidFill>
                  </a:tcPr>
                </a:tc>
                <a:tc>
                  <a:txBody>
                    <a:bodyPr/>
                    <a:lstStyle/>
                    <a:p>
                      <a:pPr algn="ctr"/>
                      <a:r>
                        <a:rPr sz="16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6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600" b="0">
                          <a:solidFill>
                            <a:srgbClr val="202020"/>
                          </a:solidFill>
                          <a:latin typeface="Times New Roman"/>
                        </a:rPr>
                        <a:t>Time</a:t>
                      </a:r>
                    </a:p>
                  </a:txBody>
                  <a:tcPr marL="36576" marR="36576" marT="9144" marB="9144">
                    <a:solidFill>
                      <a:srgbClr val="FFFFFF"/>
                    </a:solidFill>
                  </a:tcPr>
                </a:tc>
                <a:tc>
                  <a:txBody>
                    <a:bodyPr/>
                    <a:lstStyle/>
                    <a:p>
                      <a:pPr algn="ctr"/>
                      <a:r>
                        <a:rPr sz="1600" b="0">
                          <a:solidFill>
                            <a:srgbClr val="202020"/>
                          </a:solidFill>
                          <a:latin typeface="Times New Roman"/>
                        </a:rPr>
                        <a:t>need not run in real time</a:t>
                      </a:r>
                    </a:p>
                  </a:txBody>
                  <a:tcPr marL="36576" marR="36576" marT="9144" marB="9144">
                    <a:solidFill>
                      <a:srgbClr val="FFFFFF"/>
                    </a:solidFill>
                  </a:tcPr>
                </a:tc>
                <a:tc>
                  <a:txBody>
                    <a:bodyPr/>
                    <a:lstStyle/>
                    <a:p>
                      <a:pPr algn="ctr"/>
                      <a:r>
                        <a:rPr sz="16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600" b="0">
                          <a:solidFill>
                            <a:srgbClr val="202020"/>
                          </a:solidFill>
                          <a:latin typeface="Times New Roman"/>
                        </a:rPr>
                        <a:t>Computation</a:t>
                      </a:r>
                    </a:p>
                  </a:txBody>
                  <a:tcPr marL="36576" marR="36576" marT="9144" marB="9144">
                    <a:solidFill>
                      <a:srgbClr val="FFFFFF"/>
                    </a:solidFill>
                  </a:tcPr>
                </a:tc>
                <a:tc>
                  <a:txBody>
                    <a:bodyPr/>
                    <a:lstStyle/>
                    <a:p>
                      <a:pPr algn="ctr"/>
                      <a:r>
                        <a:rPr sz="1600" b="0">
                          <a:solidFill>
                            <a:srgbClr val="202020"/>
                          </a:solidFill>
                          <a:latin typeface="Times New Roman"/>
                        </a:rPr>
                        <a:t>a huge amount</a:t>
                      </a:r>
                    </a:p>
                  </a:txBody>
                  <a:tcPr marL="36576" marR="36576" marT="9144" marB="9144">
                    <a:solidFill>
                      <a:srgbClr val="FFFFFF"/>
                    </a:solidFill>
                  </a:tcPr>
                </a:tc>
                <a:tc>
                  <a:txBody>
                    <a:bodyPr/>
                    <a:lstStyle/>
                    <a:p>
                      <a:pPr algn="ctr"/>
                      <a:r>
                        <a:rPr sz="16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600" b="0">
                          <a:solidFill>
                            <a:srgbClr val="202020"/>
                          </a:solidFill>
                          <a:latin typeface="Times New Roman"/>
                        </a:rPr>
                        <a:t>Model</a:t>
                      </a:r>
                    </a:p>
                  </a:txBody>
                  <a:tcPr marL="36576" marR="36576" marT="9144" marB="9144">
                    <a:solidFill>
                      <a:srgbClr val="FFFFFF"/>
                    </a:solidFill>
                  </a:tcPr>
                </a:tc>
                <a:tc>
                  <a:txBody>
                    <a:bodyPr/>
                    <a:lstStyle/>
                    <a:p>
                      <a:pPr algn="ctr"/>
                      <a:r>
                        <a:rPr sz="1600" b="0">
                          <a:solidFill>
                            <a:srgbClr val="202020"/>
                          </a:solidFill>
                          <a:latin typeface="Times New Roman"/>
                        </a:rPr>
                        <a:t>cumbersome model</a:t>
                      </a:r>
                    </a:p>
                  </a:txBody>
                  <a:tcPr marL="36576" marR="36576" marT="9144" marB="9144">
                    <a:solidFill>
                      <a:srgbClr val="FFF3CD"/>
                    </a:solidFill>
                  </a:tcPr>
                </a:tc>
                <a:tc>
                  <a:txBody>
                    <a:bodyPr/>
                    <a:lstStyle/>
                    <a:p>
                      <a:pPr algn="ctr"/>
                      <a:r>
                        <a:rPr sz="16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r>
              <a:rPr sz="19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1E7A45"/>
                </a:solidFill>
                <a:latin typeface="Times New Roman"/>
              </a:rPr>
              <a:t>Distillation: a different kind of training that transfers</a:t>
            </a:r>
          </a:p>
          <a:p>
            <a:pPr algn="l"/>
            <a:r>
              <a:rPr sz="1800" b="1">
                <a:solidFill>
                  <a:srgbClr val="1E7A45"/>
                </a:solidFill>
                <a:latin typeface="Times New Roman"/>
              </a:rPr>
              <a:t>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r>
              <a:rPr sz="18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r>
              <a:rPr sz="18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r>
              <a:rPr sz="17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An image of a BMW</a:t>
                      </a:r>
                    </a:p>
                  </a:txBody>
                  <a:tcPr marL="36576" marR="36576" marT="9144" marB="9144">
                    <a:solidFill>
                      <a:srgbClr val="1F4E79"/>
                    </a:solidFill>
                  </a:tcPr>
                </a:tc>
                <a:tc>
                  <a:txBody>
                    <a:bodyPr/>
                    <a:lstStyle/>
                    <a:p>
                      <a:pPr algn="ctr"/>
                      <a:r>
                        <a:rPr sz="1600" b="1">
                          <a:solidFill>
                            <a:srgbClr val="FFFFFF"/>
                          </a:solidFill>
                          <a:latin typeface="Times New Roman"/>
                        </a:rPr>
                        <a:t>mistaken for</a:t>
                      </a:r>
                    </a:p>
                  </a:txBody>
                  <a:tcPr marL="36576" marR="36576" marT="9144" marB="9144">
                    <a:solidFill>
                      <a:srgbClr val="1F4E79"/>
                    </a:solidFill>
                  </a:tcPr>
                </a:tc>
                <a:tc>
                  <a:txBody>
                    <a:bodyPr/>
                    <a:lstStyle/>
                    <a:p>
                      <a:pPr algn="ctr"/>
                      <a:r>
                        <a:rPr sz="1600" b="1">
                          <a:solidFill>
                            <a:srgbClr val="FFFFFF"/>
                          </a:solidFill>
                          <a:latin typeface="Times New Roman"/>
                        </a:rPr>
                        <a:t>chance</a:t>
                      </a:r>
                    </a:p>
                  </a:txBody>
                  <a:tcPr marL="36576" marR="36576" marT="9144" marB="9144">
                    <a:solidFill>
                      <a:srgbClr val="1F4E79"/>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garbage truck</a:t>
                      </a:r>
                    </a:p>
                  </a:txBody>
                  <a:tcPr marL="36576" marR="36576" marT="9144" marB="9144">
                    <a:solidFill>
                      <a:srgbClr val="FFFFFF"/>
                    </a:solidFill>
                  </a:tcPr>
                </a:tc>
                <a:tc>
                  <a:txBody>
                    <a:bodyPr/>
                    <a:lstStyle/>
                    <a:p>
                      <a:pPr algn="ctr"/>
                      <a:r>
                        <a:rPr sz="16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carrot</a:t>
                      </a:r>
                    </a:p>
                  </a:txBody>
                  <a:tcPr marL="36576" marR="36576" marT="9144" marB="9144">
                    <a:solidFill>
                      <a:srgbClr val="FFFFFF"/>
                    </a:solidFill>
                  </a:tcPr>
                </a:tc>
                <a:tc>
                  <a:txBody>
                    <a:bodyPr/>
                    <a:lstStyle/>
                    <a:p>
                      <a:pPr algn="ctr"/>
                      <a:r>
                        <a:rPr sz="16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 version of a 2</a:t>
                      </a:r>
                    </a:p>
                  </a:txBody>
                  <a:tcPr marL="36576" marR="36576" marT="9144" marB="9144">
                    <a:solidFill>
                      <a:srgbClr val="1F4E79"/>
                    </a:solidFill>
                  </a:tcPr>
                </a:tc>
                <a:tc>
                  <a:txBody>
                    <a:bodyPr/>
                    <a:lstStyle/>
                    <a:p>
                      <a:pPr algn="ctr"/>
                      <a:r>
                        <a:rPr sz="1600" b="1">
                          <a:solidFill>
                            <a:srgbClr val="FFFFFF"/>
                          </a:solidFill>
                          <a:latin typeface="Times New Roman"/>
                        </a:rPr>
                        <a:t>probability of a 3</a:t>
                      </a:r>
                    </a:p>
                  </a:txBody>
                  <a:tcPr marL="36576" marR="36576" marT="9144" marB="9144">
                    <a:solidFill>
                      <a:srgbClr val="1F4E79"/>
                    </a:solidFill>
                  </a:tcPr>
                </a:tc>
                <a:tc>
                  <a:txBody>
                    <a:bodyPr/>
                    <a:lstStyle/>
                    <a:p>
                      <a:pPr algn="ctr"/>
                      <a:r>
                        <a:rPr sz="16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600" b="0">
                          <a:solidFill>
                            <a:srgbClr val="202020"/>
                          </a:solidFill>
                          <a:latin typeface="Times New Roman"/>
                        </a:rPr>
                        <a:t>one version</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r>
              <a:tr h="329184">
                <a:tc>
                  <a:txBody>
                    <a:bodyPr/>
                    <a:lstStyle/>
                    <a:p>
                      <a:pPr algn="ctr"/>
                      <a:r>
                        <a:rPr sz="1600" b="0">
                          <a:solidFill>
                            <a:srgbClr val="202020"/>
                          </a:solidFill>
                          <a:latin typeface="Times New Roman"/>
                        </a:rPr>
                        <a:t>another version</a:t>
                      </a:r>
                    </a:p>
                  </a:txBody>
                  <a:tcPr marL="36576" marR="36576" marT="9144" marB="9144">
                    <a:solidFill>
                      <a:srgbClr val="FFFFFF"/>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1E7A45"/>
                </a:solidFill>
                <a:latin typeface="Times New Roman"/>
              </a:rPr>
              <a:t>This defines a rich similarity</a:t>
            </a:r>
          </a:p>
          <a:p>
            <a:pPr algn="l"/>
            <a:r>
              <a:rPr sz="1800" b="1">
                <a:solidFill>
                  <a:srgbClr val="1E7A45"/>
                </a:solidFill>
                <a:latin typeface="Times New Roman"/>
              </a:rPr>
              <a:t>structure over the data: it says</a:t>
            </a:r>
          </a:p>
          <a:p>
            <a:pPr algn="l"/>
            <a:r>
              <a:rPr sz="1800" b="1">
                <a:solidFill>
                  <a:srgbClr val="1E7A45"/>
                </a:solidFill>
                <a:latin typeface="Times New Roman"/>
              </a:rPr>
              <a:t>which 2's look like 3's and</a:t>
            </a:r>
          </a:p>
          <a:p>
            <a:pPr algn="l"/>
            <a:r>
              <a:rPr sz="1800" b="1">
                <a:solidFill>
                  <a:srgbClr val="1E7A45"/>
                </a:solidFill>
                <a:latin typeface="Times New Roman"/>
              </a:rPr>
              <a:t>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Problem: such probabilities have very little influence on the cross-entropy cost function during the transfer stage, because they are so close to zero.</a:t>
            </a:r>
          </a:p>
          <a:p>
            <a:pPr algn="l"/>
            <a:r>
              <a:rPr sz="17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Used from this slide to slide 13</a:t>
            </a:r>
          </a:p>
        </p:txBody>
      </p:sp>
      <p:sp>
        <p:nvSpPr>
          <p:cNvPr id="6" name="TextBox 5"/>
          <p:cNvSpPr txBox="1"/>
          <p:nvPr/>
        </p:nvSpPr>
        <p:spPr>
          <a:xfrm>
            <a:off x="731520" y="1051560"/>
            <a:ext cx="10881360" cy="822960"/>
          </a:xfrm>
          <a:prstGeom prst="rect">
            <a:avLst/>
          </a:prstGeom>
          <a:noFill/>
        </p:spPr>
        <p:txBody>
          <a:bodyPr wrap="square">
            <a:spAutoFit/>
          </a:bodyPr>
          <a:lstStyle/>
          <a:p>
            <a:r>
              <a:rPr sz="18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Cumbersome v</a:t>
                      </a:r>
                    </a:p>
                  </a:txBody>
                  <a:tcPr marL="36576" marR="36576" marT="9144" marB="9144">
                    <a:solidFill>
                      <a:srgbClr val="1F4E79"/>
                    </a:solidFill>
                  </a:tcPr>
                </a:tc>
                <a:tc>
                  <a:txBody>
                    <a:bodyPr/>
                    <a:lstStyle/>
                    <a:p>
                      <a:pPr algn="ctr"/>
                      <a:r>
                        <a:rPr sz="1600" b="1">
                          <a:solidFill>
                            <a:srgbClr val="FFFFFF"/>
                          </a:solidFill>
                          <a:latin typeface="Times New Roman"/>
                        </a:rPr>
                        <a:t>Distilled z</a:t>
                      </a:r>
                    </a:p>
                  </a:txBody>
                  <a:tcPr marL="36576" marR="36576" marT="9144" marB="9144">
                    <a:solidFill>
                      <a:srgbClr val="1F4E79"/>
                    </a:solidFill>
                  </a:tcPr>
                </a:tc>
                <a:tc>
                  <a:txBody>
                    <a:bodyPr/>
                    <a:lstStyle/>
                    <a:p>
                      <a:pPr algn="ctr"/>
                      <a:r>
                        <a:rPr sz="16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1</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1F4E79"/>
                </a:solidFill>
                <a:latin typeface="Times New Roman"/>
              </a:rPr>
              <a:t>The cumbersome model is confident that</a:t>
            </a:r>
          </a:p>
          <a:p>
            <a:pPr algn="l"/>
            <a:r>
              <a:rPr sz="1800" b="1">
                <a:solidFill>
                  <a:srgbClr val="1F4E79"/>
                </a:solidFill>
                <a:latin typeface="Times New Roman"/>
              </a:rPr>
              <a:t>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59636E"/>
                </a:solidFill>
                <a:latin typeface="Times New Roman"/>
              </a:rPr>
              <a:t>The distilled model, not yet trained,</a:t>
            </a:r>
          </a:p>
          <a:p>
            <a:pPr algn="l"/>
            <a:r>
              <a:rPr sz="1800" b="1">
                <a:solidFill>
                  <a:srgbClr val="59636E"/>
                </a:solidFill>
                <a:latin typeface="Times New Roman"/>
              </a:rPr>
              <a:t>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r>
              <a:rPr sz="1700" b="0" i="0">
                <a:solidFill>
                  <a:srgbClr val="59636E"/>
                </a:solidFill>
                <a:latin typeface="Times New Roman"/>
              </a:rPr>
              <a:t>These logits are chosen for hand calculation; they are not produced by a trained model.</a:t>
            </a:r>
          </a:p>
          <a:p>
            <a:r>
              <a:rPr sz="17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r>
              <a:rPr sz="17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8.0000</a:t>
                      </a:r>
                    </a:p>
                  </a:txBody>
                  <a:tcPr marL="36576" marR="36576" marT="9144" marB="9144">
                    <a:solidFill>
                      <a:srgbClr val="FFFFFF"/>
                    </a:solidFill>
                  </a:tcPr>
                </a:tc>
              </a:tr>
              <a:tr h="329184">
                <a:tc>
                  <a:txBody>
                    <a:bodyPr/>
                    <a:lstStyle/>
                    <a:p>
                      <a:pPr algn="ctr"/>
                      <a:r>
                        <a:rPr sz="1600" b="0">
                          <a:solidFill>
                            <a:srgbClr val="202020"/>
                          </a:solidFill>
                          <a:latin typeface="Times New Roman"/>
                        </a:rPr>
                        <a:t>4.0000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2980.9580</a:t>
                      </a:r>
                    </a:p>
                  </a:txBody>
                  <a:tcPr marL="36576" marR="36576" marT="9144" marB="9144">
                    <a:solidFill>
                      <a:srgbClr val="FFFFFF"/>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0.9817</a:t>
                      </a:r>
                    </a:p>
                  </a:txBody>
                  <a:tcPr marL="36576" marR="36576" marT="9144" marB="9144">
                    <a:solidFill>
                      <a:srgbClr val="FFFFFF"/>
                    </a:solidFill>
                  </a:tcPr>
                </a:tc>
              </a:tr>
              <a:tr h="329184">
                <a:tc>
                  <a:txBody>
                    <a:bodyPr/>
                    <a:lstStyle/>
                    <a:p>
                      <a:pPr algn="ctr"/>
                      <a:r>
                        <a:rPr sz="1600" b="0">
                          <a:solidFill>
                            <a:srgbClr val="202020"/>
                          </a:solidFill>
                          <a:latin typeface="Times New Roman"/>
                        </a:rPr>
                        <a:t>0.0180</a:t>
                      </a:r>
                    </a:p>
                  </a:txBody>
                  <a:tcPr marL="36576" marR="36576" marT="9144" marB="9144">
                    <a:solidFill>
                      <a:srgbClr val="FFF3CD"/>
                    </a:solidFill>
                  </a:tcPr>
                </a:tc>
              </a:tr>
              <a:tr h="329184">
                <a:tc>
                  <a:txBody>
                    <a:bodyPr/>
                    <a:lstStyle/>
                    <a:p>
                      <a:pPr algn="ctr"/>
                      <a:r>
                        <a:rPr sz="16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The probabilities of 3 and 7 are 0.0180 and 0.0003. The information that this 2 resembles a 3 more than a 7</a:t>
            </a:r>
          </a:p>
          <a:p>
            <a:pPr algn="l"/>
            <a:r>
              <a:rPr sz="1700" b="1">
                <a:solidFill>
                  <a:srgbClr val="C03030"/>
                </a:solidFill>
                <a:latin typeface="Times New Roman"/>
              </a:rPr>
              <a:t>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r>
              <a:rPr sz="16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r>
              <a:rPr sz="17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2.0000</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3CD"/>
                    </a:solidFill>
                  </a:tcPr>
                </a:tc>
              </a:tr>
              <a:tr h="329184">
                <a:tc>
                  <a:txBody>
                    <a:bodyPr/>
                    <a:lstStyle/>
                    <a:p>
                      <a:pPr algn="ctr"/>
                      <a:r>
                        <a:rPr sz="16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The probabilities of 3 and 7 become 0.2447 and 0.0900.</a:t>
            </a:r>
          </a:p>
          <a:p>
            <a:pPr algn="l"/>
            <a:r>
              <a:rPr sz="17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r>
              <a:rPr sz="16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 = 1</a:t>
                      </a:r>
                    </a:p>
                  </a:txBody>
                  <a:tcPr marL="36576" marR="36576" marT="9144" marB="9144">
                    <a:solidFill>
                      <a:srgbClr val="1F4E79"/>
                    </a:solidFill>
                  </a:tcPr>
                </a:tc>
                <a:tc>
                  <a:txBody>
                    <a:bodyPr/>
                    <a:lstStyle/>
                    <a:p>
                      <a:pPr algn="ctr"/>
                      <a:r>
                        <a:rPr sz="1600" b="1">
                          <a:solidFill>
                            <a:srgbClr val="FFFFFF"/>
                          </a:solidFill>
                          <a:latin typeface="Times New Roman"/>
                        </a:rPr>
                        <a:t>T = 4</a:t>
                      </a:r>
                    </a:p>
                  </a:txBody>
                  <a:tcPr marL="36576" marR="36576" marT="9144" marB="9144">
                    <a:solidFill>
                      <a:srgbClr val="1F4E79"/>
                    </a:solidFill>
                  </a:tcPr>
                </a:tc>
              </a:tr>
              <a:tr h="329184">
                <a:tc>
                  <a:txBody>
                    <a:bodyPr/>
                    <a:lstStyle/>
                    <a:p>
                      <a:pPr algn="ctr"/>
                      <a:r>
                        <a:rPr sz="1600" b="0">
                          <a:solidFill>
                            <a:srgbClr val="202020"/>
                          </a:solidFill>
                          <a:latin typeface="Times New Roman"/>
                        </a:rPr>
                        <a:t>P(3)</a:t>
                      </a:r>
                    </a:p>
                  </a:txBody>
                  <a:tcPr marL="36576" marR="36576" marT="9144" marB="9144">
                    <a:solidFill>
                      <a:srgbClr val="FFFFFF"/>
                    </a:solidFill>
                  </a:tcPr>
                </a:tc>
                <a:tc>
                  <a:txBody>
                    <a:bodyPr/>
                    <a:lstStyle/>
                    <a:p>
                      <a:pPr algn="ctr"/>
                      <a:r>
                        <a:rPr sz="1600" b="0">
                          <a:solidFill>
                            <a:srgbClr val="202020"/>
                          </a:solidFill>
                          <a:latin typeface="Times New Roman"/>
                        </a:rPr>
                        <a:t>0.0180</a:t>
                      </a:r>
                    </a:p>
                  </a:txBody>
                  <a:tcPr marL="36576" marR="36576" marT="9144" marB="9144">
                    <a:solidFill>
                      <a:srgbClr val="FFFFFF"/>
                    </a:solidFill>
                  </a:tcPr>
                </a:tc>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P(7)</a:t>
                      </a:r>
                    </a:p>
                  </a:txBody>
                  <a:tcPr marL="36576" marR="36576" marT="9144" marB="9144">
                    <a:solidFill>
                      <a:srgbClr val="FFFFFF"/>
                    </a:solidFill>
                  </a:tcPr>
                </a:tc>
                <a:tc>
                  <a:txBody>
                    <a:bodyPr/>
                    <a:lstStyle/>
                    <a:p>
                      <a:pPr algn="ctr"/>
                      <a:r>
                        <a:rPr sz="1600" b="0">
                          <a:solidFill>
                            <a:srgbClr val="202020"/>
                          </a:solidFill>
                          <a:latin typeface="Times New Roman"/>
                        </a:rPr>
                        <a:t>0.0003</a:t>
                      </a:r>
                    </a:p>
                  </a:txBody>
                  <a:tcPr marL="36576" marR="36576" marT="9144" marB="9144">
                    <a:solidFill>
                      <a:srgbClr val="FFFFFF"/>
                    </a:solidFill>
                  </a:tcPr>
                </a:tc>
                <a:tc>
                  <a:txBody>
                    <a:bodyPr/>
                    <a:lstStyle/>
                    <a:p>
                      <a:pPr algn="ctr"/>
                      <a:r>
                        <a:rPr sz="1600" b="0">
                          <a:solidFill>
                            <a:srgbClr val="202020"/>
                          </a:solidFill>
                          <a:latin typeface="Times New Roman"/>
                        </a:rPr>
                        <a:t>0.0900</a:t>
                      </a:r>
                    </a:p>
                  </a:txBody>
                  <a:tcPr marL="36576" marR="36576" marT="9144" marB="9144">
                    <a:solidFill>
                      <a:srgbClr val="FFFFFF"/>
                    </a:solidFill>
                  </a:tcPr>
                </a:tc>
              </a:tr>
              <a:tr h="329184">
                <a:tc>
                  <a:txBody>
                    <a:bodyPr/>
                    <a:lstStyle/>
                    <a:p>
                      <a:pPr algn="ctr"/>
                      <a:r>
                        <a:rPr sz="1600" b="0">
                          <a:solidFill>
                            <a:srgbClr val="202020"/>
                          </a:solidFill>
                          <a:latin typeface="Times New Roman"/>
                        </a:rPr>
                        <a:t>P(3) / P(7)</a:t>
                      </a:r>
                    </a:p>
                  </a:txBody>
                  <a:tcPr marL="36576" marR="36576" marT="9144" marB="9144">
                    <a:solidFill>
                      <a:srgbClr val="FFFFFF"/>
                    </a:solidFill>
                  </a:tcPr>
                </a:tc>
                <a:tc>
                  <a:txBody>
                    <a:bodyPr/>
                    <a:lstStyle/>
                    <a:p>
                      <a:pPr algn="ctr"/>
                      <a:r>
                        <a:rPr sz="1600" b="0">
                          <a:solidFill>
                            <a:srgbClr val="202020"/>
                          </a:solidFill>
                          <a:latin typeface="Times New Roman"/>
                        </a:rPr>
                        <a:t>54.60</a:t>
                      </a:r>
                    </a:p>
                  </a:txBody>
                  <a:tcPr marL="36576" marR="36576" marT="9144" marB="9144">
                    <a:solidFill>
                      <a:srgbClr val="FFF3CD"/>
                    </a:solidFill>
                  </a:tcPr>
                </a:tc>
                <a:tc>
                  <a:txBody>
                    <a:bodyPr/>
                    <a:lstStyle/>
                    <a:p>
                      <a:pPr algn="ctr"/>
                      <a:r>
                        <a:rPr sz="16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r>
              <a:rPr sz="1600" b="0" i="0">
                <a:solidFill>
                  <a:srgbClr val="59636E"/>
                </a:solidFill>
                <a:latin typeface="Times New Roman"/>
              </a:rPr>
              <a:t>The ratio equals exp((4 − 0)/T):</a:t>
            </a:r>
          </a:p>
          <a:p>
            <a:r>
              <a:rPr sz="16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r>
              <a:rPr sz="15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r>
              <a:rPr sz="16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r>
              <a:rPr sz="16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0">
                <a:solidFill>
                  <a:srgbClr val="1F4E79"/>
                </a:solidFill>
                <a:latin typeface="Times New Roman"/>
              </a:rPr>
              <a:t>α: we found that the best results were</a:t>
            </a:r>
          </a:p>
          <a:p>
            <a:pPr algn="l"/>
            <a:r>
              <a:rPr sz="1600" b="0">
                <a:solidFill>
                  <a:srgbClr val="1F4E79"/>
                </a:solidFill>
                <a:latin typeface="Times New Roman"/>
              </a:rPr>
              <a:t>generally obtained by using a considerably</a:t>
            </a:r>
          </a:p>
          <a:p>
            <a:pPr algn="l"/>
            <a:r>
              <a:rPr sz="1600" b="0">
                <a:solidFill>
                  <a:srgbClr val="1F4E79"/>
                </a:solidFill>
                <a:latin typeface="Times New Roman"/>
              </a:rPr>
              <a:t>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0">
                <a:solidFill>
                  <a:srgbClr val="C03030"/>
                </a:solidFill>
                <a:latin typeface="Times New Roman"/>
              </a:rPr>
              <a:t>T²: the magnitudes of the gradients produced by</a:t>
            </a:r>
          </a:p>
          <a:p>
            <a:pPr algn="l"/>
            <a:r>
              <a:rPr sz="1600" b="0">
                <a:solidFill>
                  <a:srgbClr val="C03030"/>
                </a:solidFill>
                <a:latin typeface="Times New Roman"/>
              </a:rPr>
              <a:t>the soft targets scale as 1/T², so we multiply</a:t>
            </a:r>
          </a:p>
          <a:p>
            <a:pPr algn="l"/>
            <a:r>
              <a:rPr sz="1600" b="0">
                <a:solidFill>
                  <a:srgbClr val="C03030"/>
                </a:solidFill>
                <a:latin typeface="Times New Roman"/>
              </a:rPr>
              <a:t>them by T² (checked on slide 13)</a:t>
            </a:r>
          </a:p>
        </p:txBody>
      </p:sp>
      <p:sp>
        <p:nvSpPr>
          <p:cNvPr id="13" name="TextBox 12"/>
          <p:cNvSpPr txBox="1"/>
          <p:nvPr/>
        </p:nvSpPr>
        <p:spPr>
          <a:xfrm>
            <a:off x="731520" y="5257800"/>
            <a:ext cx="10881360" cy="914400"/>
          </a:xfrm>
          <a:prstGeom prst="rect">
            <a:avLst/>
          </a:prstGeom>
          <a:noFill/>
        </p:spPr>
        <p:txBody>
          <a:bodyPr wrap="square">
            <a:spAutoFit/>
          </a:bodyPr>
          <a:lstStyle/>
          <a:p>
            <a:r>
              <a:rPr sz="19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600" b="1">
                          <a:solidFill>
                            <a:srgbClr val="FFFFFF"/>
                          </a:solidFill>
                          <a:latin typeface="Times New Roman"/>
                        </a:rPr>
                        <a:t>z / 4</a:t>
                      </a:r>
                    </a:p>
                  </a:txBody>
                  <a:tcPr marL="36576" marR="36576" marT="9144" marB="9144">
                    <a:solidFill>
                      <a:srgbClr val="1F4E79"/>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exp</a:t>
                      </a:r>
                    </a:p>
                  </a:txBody>
                  <a:tcPr marL="36576" marR="36576" marT="9144" marB="9144">
                    <a:solidFill>
                      <a:srgbClr val="1F4E79"/>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a:t>
                      </a:r>
                    </a:p>
                  </a:txBody>
                  <a:tcPr marL="36576" marR="36576" marT="9144" marB="9144">
                    <a:solidFill>
                      <a:srgbClr val="1F4E79"/>
                    </a:solidFill>
                  </a:tcPr>
                </a:tc>
              </a:tr>
              <a:tr h="329184">
                <a:tc>
                  <a:txBody>
                    <a:bodyPr/>
                    <a:lstStyle/>
                    <a:p>
                      <a:pPr algn="ctr"/>
                      <a:r>
                        <a:rPr sz="1600" b="0">
                          <a:solidFill>
                            <a:srgbClr val="202020"/>
                          </a:solidFill>
                          <a:latin typeface="Times New Roman"/>
                        </a:rPr>
                        <a:t>0.4519</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r>
              <a:rPr sz="1500" b="0" i="0">
                <a:solidFill>
                  <a:srgbClr val="59636E"/>
                </a:solidFill>
                <a:latin typeface="Times New Roman"/>
              </a:rPr>
              <a:t>At T = 4 the distilled</a:t>
            </a:r>
          </a:p>
          <a:p>
            <a:r>
              <a:rPr sz="1500" b="0" i="0">
                <a:solidFill>
                  <a:srgbClr val="59636E"/>
                </a:solidFill>
                <a:latin typeface="Times New Roman"/>
              </a:rPr>
              <a:t>model gives 3 and 7</a:t>
            </a:r>
          </a:p>
          <a:p>
            <a:r>
              <a:rPr sz="1500" b="0" i="0">
                <a:solidFill>
                  <a:srgbClr val="59636E"/>
                </a:solidFill>
                <a:latin typeface="Times New Roman"/>
              </a:rPr>
              <a:t>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log q</a:t>
                      </a:r>
                    </a:p>
                  </a:txBody>
                  <a:tcPr marL="36576" marR="36576" marT="9144" marB="9144">
                    <a:solidFill>
                      <a:srgbClr val="1F4E79"/>
                    </a:solidFill>
                  </a:tcPr>
                </a:tc>
              </a:tr>
              <a:tr h="329184">
                <a:tc>
                  <a:txBody>
                    <a:bodyPr/>
                    <a:lstStyle/>
                    <a:p>
                      <a:pPr algn="ctr"/>
                      <a:r>
                        <a:rPr sz="1600" b="0">
                          <a:solidFill>
                            <a:srgbClr val="202020"/>
                          </a:solidFill>
                          <a:latin typeface="Times New Roman"/>
                        </a:rPr>
                        <a:t>-0.7944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600" b="1">
                          <a:solidFill>
                            <a:srgbClr val="FFFFFF"/>
                          </a:solidFill>
                          <a:latin typeface="Times New Roman"/>
                        </a:rPr>
                        <a:t>p × log q</a:t>
                      </a:r>
                    </a:p>
                  </a:txBody>
                  <a:tcPr marL="36576" marR="36576" marT="9144" marB="9144">
                    <a:solidFill>
                      <a:srgbClr val="1F4E79"/>
                    </a:solidFill>
                  </a:tcPr>
                </a:tc>
              </a:tr>
              <a:tr h="329184">
                <a:tc>
                  <a:txBody>
                    <a:bodyPr/>
                    <a:lstStyle/>
                    <a:p>
                      <a:pPr algn="ctr"/>
                      <a:r>
                        <a:rPr sz="1600" b="0">
                          <a:solidFill>
                            <a:srgbClr val="202020"/>
                          </a:solidFill>
                          <a:latin typeface="Times New Roman"/>
                        </a:rPr>
                        <a:t>-0.5285</a:t>
                      </a:r>
                    </a:p>
                  </a:txBody>
                  <a:tcPr marL="36576" marR="36576" marT="9144" marB="9144">
                    <a:solidFill>
                      <a:srgbClr val="FFFFFF"/>
                    </a:solidFill>
                  </a:tcPr>
                </a:tc>
              </a:tr>
              <a:tr h="329184">
                <a:tc>
                  <a:txBody>
                    <a:bodyPr/>
                    <a:lstStyle/>
                    <a:p>
                      <a:pPr algn="ctr"/>
                      <a:r>
                        <a:rPr sz="1600" b="0">
                          <a:solidFill>
                            <a:srgbClr val="202020"/>
                          </a:solidFill>
                          <a:latin typeface="Times New Roman"/>
                        </a:rPr>
                        <a:t>-0.3168</a:t>
                      </a:r>
                    </a:p>
                  </a:txBody>
                  <a:tcPr marL="36576" marR="36576" marT="9144" marB="9144">
                    <a:solidFill>
                      <a:srgbClr val="FFFFFF"/>
                    </a:solidFill>
                  </a:tcPr>
                </a:tc>
              </a:tr>
              <a:tr h="329184">
                <a:tc>
                  <a:txBody>
                    <a:bodyPr/>
                    <a:lstStyle/>
                    <a:p>
                      <a:pPr algn="ctr"/>
                      <a:r>
                        <a:rPr sz="16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Sum of the three rows = -0.9618</a:t>
            </a:r>
          </a:p>
          <a:p>
            <a:pPr algn="ctr"/>
            <a:r>
              <a:rPr sz="19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r>
              <a:rPr sz="1600" b="0" i="0">
                <a:solidFill>
                  <a:srgbClr val="202020"/>
                </a:solidFill>
                <a:latin typeface="Times New Roman"/>
              </a:rPr>
              <a:t>Here log denotes the natural logarithm. Entries are rounded to four decimal places; the sum is computed from unrounded values.</a:t>
            </a:r>
          </a:p>
          <a:p>
            <a:r>
              <a:rPr sz="16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exp(z)</a:t>
                      </a:r>
                    </a:p>
                  </a:txBody>
                  <a:tcPr marL="36576" marR="36576" marT="9144" marB="9144">
                    <a:solidFill>
                      <a:srgbClr val="1F4E79"/>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600" b="1">
                          <a:solidFill>
                            <a:srgbClr val="FFFFFF"/>
                          </a:solidFill>
                          <a:latin typeface="Times New Roman"/>
                        </a:rPr>
                        <a:t>q at T = 1</a:t>
                      </a:r>
                    </a:p>
                  </a:txBody>
                  <a:tcPr marL="36576" marR="36576" marT="9144" marB="9144">
                    <a:solidFill>
                      <a:srgbClr val="1F4E79"/>
                    </a:solidFill>
                  </a:tcPr>
                </a:tc>
              </a:tr>
              <a:tr h="329184">
                <a:tc>
                  <a:txBody>
                    <a:bodyPr/>
                    <a:lstStyle/>
                    <a:p>
                      <a:pPr algn="ctr"/>
                      <a:r>
                        <a:rPr sz="1600" b="0">
                          <a:solidFill>
                            <a:srgbClr val="202020"/>
                          </a:solidFill>
                          <a:latin typeface="Times New Roman"/>
                        </a:rPr>
                        <a:t>0.7870</a:t>
                      </a:r>
                    </a:p>
                  </a:txBody>
                  <a:tcPr marL="36576" marR="36576" marT="9144" marB="9144">
                    <a:solidFill>
                      <a:srgbClr val="FFF3CD"/>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E7A45"/>
                </a:solidFill>
                <a:latin typeface="Times New Roman"/>
              </a:rPr>
              <a:t>The correct label is 2</a:t>
            </a:r>
          </a:p>
          <a:p>
            <a:pPr algn="ctr"/>
            <a:r>
              <a:rPr sz="1700" b="1">
                <a:solidFill>
                  <a:srgbClr val="1E7A45"/>
                </a:solidFill>
                <a:latin typeface="Times New Roman"/>
              </a:rPr>
              <a:t>C_hard = −log 0.7870</a:t>
            </a:r>
          </a:p>
          <a:p>
            <a:pPr algn="ctr"/>
            <a:r>
              <a:rPr sz="17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700" b="1">
                          <a:solidFill>
                            <a:srgbClr val="FFFFFF"/>
                          </a:solidFill>
                          <a:latin typeface="Times New Roman"/>
                        </a:rPr>
                        <a:t>Term</a:t>
                      </a:r>
                    </a:p>
                  </a:txBody>
                  <a:tcPr marL="36576" marR="36576" marT="9144" marB="9144">
                    <a:solidFill>
                      <a:srgbClr val="1F4E79"/>
                    </a:solidFill>
                  </a:tcPr>
                </a:tc>
                <a:tc>
                  <a:txBody>
                    <a:bodyPr/>
                    <a:lstStyle/>
                    <a:p>
                      <a:pPr algn="ctr"/>
                      <a:r>
                        <a:rPr sz="1700" b="1">
                          <a:solidFill>
                            <a:srgbClr val="FFFFFF"/>
                          </a:solidFill>
                          <a:latin typeface="Times New Roman"/>
                        </a:rPr>
                        <a:t>Expression</a:t>
                      </a:r>
                    </a:p>
                  </a:txBody>
                  <a:tcPr marL="36576" marR="36576" marT="9144" marB="9144">
                    <a:solidFill>
                      <a:srgbClr val="1F4E79"/>
                    </a:solidFill>
                  </a:tcPr>
                </a:tc>
                <a:tc>
                  <a:txBody>
                    <a:bodyPr/>
                    <a:lstStyle/>
                    <a:p>
                      <a:pPr algn="ctr"/>
                      <a:r>
                        <a:rPr sz="1700" b="1">
                          <a:solidFill>
                            <a:srgbClr val="FFFFFF"/>
                          </a:solidFill>
                          <a:latin typeface="Times New Roman"/>
                        </a:rPr>
                        <a:t>Value</a:t>
                      </a:r>
                    </a:p>
                  </a:txBody>
                  <a:tcPr marL="36576" marR="36576" marT="9144" marB="9144">
                    <a:solidFill>
                      <a:srgbClr val="1F4E79"/>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0.9 × 4² × 0.9618</a:t>
                      </a:r>
                    </a:p>
                  </a:txBody>
                  <a:tcPr marL="36576" marR="36576" marT="9144" marB="9144">
                    <a:solidFill>
                      <a:srgbClr val="FFFFFF"/>
                    </a:solidFill>
                  </a:tcPr>
                </a:tc>
                <a:tc>
                  <a:txBody>
                    <a:bodyPr/>
                    <a:lstStyle/>
                    <a:p>
                      <a:pPr algn="ctr"/>
                      <a:r>
                        <a:rPr sz="1700" b="0">
                          <a:solidFill>
                            <a:srgbClr val="202020"/>
                          </a:solidFill>
                          <a:latin typeface="Times New Roman"/>
                        </a:rPr>
                        <a:t>13.8493</a:t>
                      </a:r>
                    </a:p>
                  </a:txBody>
                  <a:tcPr marL="36576" marR="36576" marT="9144" marB="9144">
                    <a:solidFill>
                      <a:srgbClr val="FFFFFF"/>
                    </a:solidFill>
                  </a:tcPr>
                </a:tc>
              </a:tr>
              <a:tr h="329184">
                <a:tc>
                  <a:txBody>
                    <a:bodyPr/>
                    <a:lstStyle/>
                    <a:p>
                      <a:pPr algn="ctr"/>
                      <a:r>
                        <a:rPr sz="1700" b="0">
                          <a:solidFill>
                            <a:srgbClr val="202020"/>
                          </a:solidFill>
                          <a:latin typeface="Times New Roman"/>
                        </a:rPr>
                        <a:t>Hard targets</a:t>
                      </a:r>
                    </a:p>
                  </a:txBody>
                  <a:tcPr marL="36576" marR="36576" marT="9144" marB="9144">
                    <a:solidFill>
                      <a:srgbClr val="FFFFFF"/>
                    </a:solidFill>
                  </a:tcPr>
                </a:tc>
                <a:tc>
                  <a:txBody>
                    <a:bodyPr/>
                    <a:lstStyle/>
                    <a:p>
                      <a:pPr algn="ctr"/>
                      <a:r>
                        <a:rPr sz="1700" b="0">
                          <a:solidFill>
                            <a:srgbClr val="202020"/>
                          </a:solidFill>
                          <a:latin typeface="Times New Roman"/>
                        </a:rPr>
                        <a:t>0.1 × 0.2395</a:t>
                      </a:r>
                    </a:p>
                  </a:txBody>
                  <a:tcPr marL="36576" marR="36576" marT="9144" marB="9144">
                    <a:solidFill>
                      <a:srgbClr val="FFFFFF"/>
                    </a:solidFill>
                  </a:tcPr>
                </a:tc>
                <a:tc>
                  <a:txBody>
                    <a:bodyPr/>
                    <a:lstStyle/>
                    <a:p>
                      <a:pPr algn="ctr"/>
                      <a:r>
                        <a:rPr sz="1700" b="0">
                          <a:solidFill>
                            <a:srgbClr val="202020"/>
                          </a:solidFill>
                          <a:latin typeface="Times New Roman"/>
                        </a:rPr>
                        <a:t>0.0240</a:t>
                      </a:r>
                    </a:p>
                  </a:txBody>
                  <a:tcPr marL="36576" marR="36576" marT="9144" marB="9144">
                    <a:solidFill>
                      <a:srgbClr val="FFFFFF"/>
                    </a:solidFill>
                  </a:tcPr>
                </a:tc>
              </a:tr>
              <a:tr h="329184">
                <a:tc>
                  <a:txBody>
                    <a:bodyPr/>
                    <a:lstStyle/>
                    <a:p>
                      <a:pPr algn="ctr"/>
                      <a:r>
                        <a:rPr sz="1700" b="0">
                          <a:solidFill>
                            <a:srgbClr val="202020"/>
                          </a:solidFill>
                          <a:latin typeface="Times New Roman"/>
                        </a:rPr>
                        <a:t>Total L</a:t>
                      </a:r>
                    </a:p>
                  </a:txBody>
                  <a:tcPr marL="36576" marR="36576" marT="9144" marB="9144">
                    <a:solidFill>
                      <a:srgbClr val="FFFFFF"/>
                    </a:solidFill>
                  </a:tcPr>
                </a:tc>
                <a:tc>
                  <a:txBody>
                    <a:bodyPr/>
                    <a:lstStyle/>
                    <a:p>
                      <a:pPr algn="ctr"/>
                      <a:r>
                        <a:rPr sz="1700" b="0">
                          <a:solidFill>
                            <a:srgbClr val="202020"/>
                          </a:solidFill>
                          <a:latin typeface="Times New Roman"/>
                        </a:rPr>
                        <a:t>sum of the two terms</a:t>
                      </a:r>
                    </a:p>
                  </a:txBody>
                  <a:tcPr marL="36576" marR="36576" marT="9144" marB="9144">
                    <a:solidFill>
                      <a:srgbClr val="FFFFFF"/>
                    </a:solidFill>
                  </a:tcPr>
                </a:tc>
                <a:tc>
                  <a:txBody>
                    <a:bodyPr/>
                    <a:lstStyle/>
                    <a:p>
                      <a:pPr algn="ctr"/>
                      <a:r>
                        <a:rPr sz="17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r>
              <a:rPr sz="16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r>
              <a:rPr sz="17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600" b="1">
                          <a:solidFill>
                            <a:srgbClr val="FFFFFF"/>
                          </a:solidFill>
                          <a:latin typeface="Times New Roman"/>
                        </a:rPr>
                        <a:t>q − p</a:t>
                      </a:r>
                    </a:p>
                  </a:txBody>
                  <a:tcPr marL="36576" marR="36576" marT="9144" marB="9144">
                    <a:solidFill>
                      <a:srgbClr val="1F4E79"/>
                    </a:solidFill>
                  </a:tcPr>
                </a:tc>
              </a:tr>
              <a:tr h="329184">
                <a:tc>
                  <a:txBody>
                    <a:bodyPr/>
                    <a:lstStyle/>
                    <a:p>
                      <a:pPr algn="ctr"/>
                      <a:r>
                        <a:rPr sz="1600" b="0">
                          <a:solidFill>
                            <a:srgbClr val="202020"/>
                          </a:solidFill>
                          <a:latin typeface="Times New Roman"/>
                        </a:rPr>
                        <a:t>-0.2134</a:t>
                      </a:r>
                    </a:p>
                  </a:txBody>
                  <a:tcPr marL="36576" marR="36576" marT="9144" marB="9144">
                    <a:solidFill>
                      <a:srgbClr val="FFFFFF"/>
                    </a:solidFill>
                  </a:tcPr>
                </a:tc>
              </a:tr>
              <a:tr h="329184">
                <a:tc>
                  <a:txBody>
                    <a:bodyPr/>
                    <a:lstStyle/>
                    <a:p>
                      <a:pPr algn="ctr"/>
                      <a:r>
                        <a:rPr sz="1600" b="0">
                          <a:solidFill>
                            <a:srgbClr val="202020"/>
                          </a:solidFill>
                          <a:latin typeface="Times New Roman"/>
                        </a:rPr>
                        <a:t>0.0293</a:t>
                      </a:r>
                    </a:p>
                  </a:txBody>
                  <a:tcPr marL="36576" marR="36576" marT="9144" marB="9144">
                    <a:solidFill>
                      <a:srgbClr val="FFFFFF"/>
                    </a:solidFill>
                  </a:tcPr>
                </a:tc>
              </a:tr>
              <a:tr h="329184">
                <a:tc>
                  <a:txBody>
                    <a:bodyPr/>
                    <a:lstStyle/>
                    <a:p>
                      <a:pPr algn="ctr"/>
                      <a:r>
                        <a:rPr sz="16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 T (Eq. 2)</a:t>
                      </a:r>
                    </a:p>
                  </a:txBody>
                  <a:tcPr marL="36576" marR="36576" marT="9144" marB="9144">
                    <a:solidFill>
                      <a:srgbClr val="1F4E79"/>
                    </a:solidFill>
                  </a:tcPr>
                </a:tc>
              </a:tr>
              <a:tr h="329184">
                <a:tc>
                  <a:txBody>
                    <a:bodyPr/>
                    <a:lstStyle/>
                    <a:p>
                      <a:pPr algn="ctr"/>
                      <a:r>
                        <a:rPr sz="1600" b="0">
                          <a:solidFill>
                            <a:srgbClr val="202020"/>
                          </a:solidFill>
                          <a:latin typeface="Times New Roman"/>
                        </a:rPr>
                        <a:t>-0.0533</a:t>
                      </a:r>
                    </a:p>
                  </a:txBody>
                  <a:tcPr marL="36576" marR="36576" marT="9144" marB="9144">
                    <a:solidFill>
                      <a:srgbClr val="FFFFFF"/>
                    </a:solidFill>
                  </a:tcPr>
                </a:tc>
              </a:tr>
              <a:tr h="329184">
                <a:tc>
                  <a:txBody>
                    <a:bodyPr/>
                    <a:lstStyle/>
                    <a:p>
                      <a:pPr algn="ctr"/>
                      <a:r>
                        <a:rPr sz="1600" b="0">
                          <a:solidFill>
                            <a:srgbClr val="202020"/>
                          </a:solidFill>
                          <a:latin typeface="Times New Roman"/>
                        </a:rPr>
                        <a:t>0.0073</a:t>
                      </a:r>
                    </a:p>
                  </a:txBody>
                  <a:tcPr marL="36576" marR="36576" marT="9144" marB="9144">
                    <a:solidFill>
                      <a:srgbClr val="FFFFFF"/>
                    </a:solidFill>
                  </a:tcPr>
                </a:tc>
              </a:tr>
              <a:tr h="329184">
                <a:tc>
                  <a:txBody>
                    <a:bodyPr/>
                    <a:lstStyle/>
                    <a:p>
                      <a:pPr algn="ctr"/>
                      <a:r>
                        <a:rPr sz="16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600" b="0">
                          <a:solidFill>
                            <a:srgbClr val="202020"/>
                          </a:solidFill>
                          <a:latin typeface="Times New Roman"/>
                        </a:rPr>
                        <a:t>-0.7682</a:t>
                      </a:r>
                    </a:p>
                  </a:txBody>
                  <a:tcPr marL="36576" marR="36576" marT="9144" marB="9144">
                    <a:solidFill>
                      <a:srgbClr val="FFFFFF"/>
                    </a:solidFill>
                  </a:tcPr>
                </a:tc>
              </a:tr>
              <a:tr h="329184">
                <a:tc>
                  <a:txBody>
                    <a:bodyPr/>
                    <a:lstStyle/>
                    <a:p>
                      <a:pPr algn="ctr"/>
                      <a:r>
                        <a:rPr sz="1600" b="0">
                          <a:solidFill>
                            <a:srgbClr val="202020"/>
                          </a:solidFill>
                          <a:latin typeface="Times New Roman"/>
                        </a:rPr>
                        <a:t>0.1056</a:t>
                      </a:r>
                    </a:p>
                  </a:txBody>
                  <a:tcPr marL="36576" marR="36576" marT="9144" marB="9144">
                    <a:solidFill>
                      <a:srgbClr val="FFFFFF"/>
                    </a:solidFill>
                  </a:tcPr>
                </a:tc>
              </a:tr>
              <a:tr h="329184">
                <a:tc>
                  <a:txBody>
                    <a:bodyPr/>
                    <a:lstStyle/>
                    <a:p>
                      <a:pPr algn="ctr"/>
                      <a:r>
                        <a:rPr sz="16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q(T=1) − y</a:t>
                      </a:r>
                    </a:p>
                  </a:txBody>
                  <a:tcPr marL="36576" marR="36576" marT="9144" marB="9144">
                    <a:solidFill>
                      <a:srgbClr val="1F4E79"/>
                    </a:solidFill>
                  </a:tcPr>
                </a:tc>
              </a:tr>
              <a:tr h="329184">
                <a:tc>
                  <a:txBody>
                    <a:bodyPr/>
                    <a:lstStyle/>
                    <a:p>
                      <a:pPr algn="ctr"/>
                      <a:r>
                        <a:rPr sz="1600" b="0">
                          <a:solidFill>
                            <a:srgbClr val="202020"/>
                          </a:solidFill>
                          <a:latin typeface="Times New Roman"/>
                        </a:rPr>
                        <a:t>-0.2130</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600" b="0">
                          <a:solidFill>
                            <a:srgbClr val="202020"/>
                          </a:solidFill>
                          <a:latin typeface="Times New Roman"/>
                        </a:rPr>
                        <a:t>-0.0213</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6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600" b="0">
                          <a:solidFill>
                            <a:srgbClr val="202020"/>
                          </a:solidFill>
                          <a:latin typeface="Times New Roman"/>
                        </a:rPr>
                        <a:t>-0.7895</a:t>
                      </a:r>
                    </a:p>
                  </a:txBody>
                  <a:tcPr marL="36576" marR="36576" marT="9144" marB="9144">
                    <a:solidFill>
                      <a:srgbClr val="FFF3CD"/>
                    </a:solidFill>
                  </a:tcPr>
                </a:tc>
              </a:tr>
              <a:tr h="329184">
                <a:tc>
                  <a:txBody>
                    <a:bodyPr/>
                    <a:lstStyle/>
                    <a:p>
                      <a:pPr algn="ctr"/>
                      <a:r>
                        <a:rPr sz="1600" b="0">
                          <a:solidFill>
                            <a:srgbClr val="202020"/>
                          </a:solidFill>
                          <a:latin typeface="Times New Roman"/>
                        </a:rPr>
                        <a:t>0.1163</a:t>
                      </a:r>
                    </a:p>
                  </a:txBody>
                  <a:tcPr marL="36576" marR="36576" marT="9144" marB="9144">
                    <a:solidFill>
                      <a:srgbClr val="FFF3CD"/>
                    </a:solidFill>
                  </a:tcPr>
                </a:tc>
              </a:tr>
              <a:tr h="329184">
                <a:tc>
                  <a:txBody>
                    <a:bodyPr/>
                    <a:lstStyle/>
                    <a:p>
                      <a:pPr algn="ctr"/>
                      <a:r>
                        <a:rPr sz="16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Gradient descent moves the logit of 2 up, the logit of 7 down the most, and the logit of 3 down only slightly,</a:t>
            </a:r>
          </a:p>
          <a:p>
            <a:pPr algn="l"/>
            <a:r>
              <a:rPr sz="1700" b="1">
                <a:solidFill>
                  <a:srgbClr val="1E7A45"/>
                </a:solidFill>
                <a:latin typeface="Times New Roman"/>
              </a:rPr>
              <a:t>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r>
              <a:rPr sz="1600" b="0" i="0">
                <a:solidFill>
                  <a:srgbClr val="59636E"/>
                </a:solidFill>
                <a:latin typeface="Times New Roman"/>
              </a:rPr>
              <a:t>Section 3 of the notebook recomputes these values with automatic differentiation (TensorFlow GradientTape)</a:t>
            </a:r>
          </a:p>
          <a:p>
            <a:r>
              <a:rPr sz="1600" b="0" i="0">
                <a:solidFill>
                  <a:srgbClr val="59636E"/>
                </a:solidFill>
                <a:latin typeface="Times New Roman"/>
              </a:rPr>
              <a:t>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largest |gradient|, Eq. 2</a:t>
                      </a:r>
                    </a:p>
                  </a:txBody>
                  <a:tcPr marL="36576" marR="36576" marT="9144" marB="9144">
                    <a:solidFill>
                      <a:srgbClr val="1F4E79"/>
                    </a:solidFill>
                  </a:tcPr>
                </a:tc>
                <a:tc>
                  <a:txBody>
                    <a:bodyPr/>
                    <a:lstStyle/>
                    <a:p>
                      <a:pPr algn="ctr"/>
                      <a:r>
                        <a:rPr sz="16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0.194704</a:t>
                      </a:r>
                    </a:p>
                  </a:txBody>
                  <a:tcPr marL="36576" marR="36576" marT="9144" marB="9144">
                    <a:solidFill>
                      <a:srgbClr val="FFFFFF"/>
                    </a:solidFill>
                  </a:tcPr>
                </a:tc>
                <a:tc>
                  <a:txBody>
                    <a:bodyPr/>
                    <a:lstStyle/>
                    <a:p>
                      <a:pPr algn="ctr"/>
                      <a:r>
                        <a:rPr sz="1600" b="0">
                          <a:solidFill>
                            <a:srgbClr val="202020"/>
                          </a:solidFill>
                          <a:latin typeface="Times New Roman"/>
                        </a:rPr>
                        <a:t>0.1947</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0.053345</a:t>
                      </a:r>
                    </a:p>
                  </a:txBody>
                  <a:tcPr marL="36576" marR="36576" marT="9144" marB="9144">
                    <a:solidFill>
                      <a:srgbClr val="FFFFFF"/>
                    </a:solidFill>
                  </a:tcPr>
                </a:tc>
                <a:tc>
                  <a:txBody>
                    <a:bodyPr/>
                    <a:lstStyle/>
                    <a:p>
                      <a:pPr algn="ctr"/>
                      <a:r>
                        <a:rPr sz="1600" b="0">
                          <a:solidFill>
                            <a:srgbClr val="202020"/>
                          </a:solidFill>
                          <a:latin typeface="Times New Roman"/>
                        </a:rPr>
                        <a:t>0.8535</a:t>
                      </a:r>
                    </a:p>
                  </a:txBody>
                  <a:tcPr marL="36576" marR="36576" marT="9144" marB="9144">
                    <a:solidFill>
                      <a:srgbClr val="FFF3CD"/>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0.002637</a:t>
                      </a:r>
                    </a:p>
                  </a:txBody>
                  <a:tcPr marL="36576" marR="36576" marT="9144" marB="9144">
                    <a:solidFill>
                      <a:srgbClr val="FFFFFF"/>
                    </a:solidFill>
                  </a:tcPr>
                </a:tc>
                <a:tc>
                  <a:txBody>
                    <a:bodyPr/>
                    <a:lstStyle/>
                    <a:p>
                      <a:pPr algn="ctr"/>
                      <a:r>
                        <a:rPr sz="16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r>
              <a:rPr sz="1600" b="0" i="0">
                <a:solidFill>
                  <a:srgbClr val="202020"/>
                </a:solidFill>
                <a:latin typeface="Times New Roman"/>
              </a:rPr>
              <a:t>From T = 4 to T = 20 the gradient shrinks by a factor</a:t>
            </a:r>
          </a:p>
          <a:p>
            <a:r>
              <a:rPr sz="1600" b="0" i="0">
                <a:solidFill>
                  <a:srgbClr val="202020"/>
                </a:solidFill>
                <a:latin typeface="Times New Roman"/>
              </a:rPr>
              <a:t>of about 20, close to (20/4)² = 25; multiplied by T²,</a:t>
            </a:r>
          </a:p>
          <a:p>
            <a:r>
              <a:rPr sz="1600" b="0" i="0">
                <a:solidFill>
                  <a:srgbClr val="202020"/>
                </a:solidFill>
                <a:latin typeface="Times New Roman"/>
              </a:rPr>
              <a:t>the values 0.85 and 1.05 are of similar size. The 1/T²</a:t>
            </a:r>
          </a:p>
          <a:p>
            <a:r>
              <a:rPr sz="1600" b="0" i="0">
                <a:solidFill>
                  <a:srgbClr val="202020"/>
                </a:solidFill>
                <a:latin typeface="Times New Roman"/>
              </a:rPr>
              <a:t>scaling holds in the high-temperature limit; T = 1 is</a:t>
            </a:r>
          </a:p>
          <a:p>
            <a:r>
              <a:rPr sz="1600" b="0" i="0">
                <a:solidFill>
                  <a:srgbClr val="202020"/>
                </a:solidFill>
                <a:latin typeface="Times New Roman"/>
              </a:rPr>
              <a:t>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r>
              <a:rPr sz="1600" b="0" i="0">
                <a:solidFill>
                  <a:srgbClr val="202020"/>
                </a:solidFill>
                <a:latin typeface="Times New Roman"/>
              </a:rPr>
              <a:t>If T is high compared with the logits and the logits</a:t>
            </a:r>
          </a:p>
          <a:p>
            <a:r>
              <a:rPr sz="1600" b="0" i="0">
                <a:solidFill>
                  <a:srgbClr val="202020"/>
                </a:solidFill>
                <a:latin typeface="Times New Roman"/>
              </a:rPr>
              <a:t>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Eq. 2, exact</a:t>
                      </a:r>
                    </a:p>
                  </a:txBody>
                  <a:tcPr marL="36576" marR="36576" marT="9144" marB="9144">
                    <a:solidFill>
                      <a:srgbClr val="1F4E79"/>
                    </a:solidFill>
                  </a:tcPr>
                </a:tc>
                <a:tc>
                  <a:txBody>
                    <a:bodyPr/>
                    <a:lstStyle/>
                    <a:p>
                      <a:pPr algn="ctr"/>
                      <a:r>
                        <a:rPr sz="16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-0.00229</a:t>
                      </a:r>
                    </a:p>
                  </a:txBody>
                  <a:tcPr marL="36576" marR="36576" marT="9144" marB="9144">
                    <a:solidFill>
                      <a:srgbClr val="FFFFFF"/>
                    </a:solidFill>
                  </a:tcPr>
                </a:tc>
                <a:tc>
                  <a:txBody>
                    <a:bodyPr/>
                    <a:lstStyle/>
                    <a:p>
                      <a:pPr algn="ctr"/>
                      <a:r>
                        <a:rPr sz="1600" b="0">
                          <a:solidFill>
                            <a:srgbClr val="202020"/>
                          </a:solidFill>
                          <a:latin typeface="Times New Roman"/>
                        </a:rPr>
                        <a:t>-0.00222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-0.00034</a:t>
                      </a:r>
                    </a:p>
                  </a:txBody>
                  <a:tcPr marL="36576" marR="36576" marT="9144" marB="9144">
                    <a:solidFill>
                      <a:srgbClr val="FFFFFF"/>
                    </a:solidFill>
                  </a:tcPr>
                </a:tc>
                <a:tc>
                  <a:txBody>
                    <a:bodyPr/>
                    <a:lstStyle/>
                    <a:p>
                      <a:pPr algn="ctr"/>
                      <a:r>
                        <a:rPr sz="1600" b="0">
                          <a:solidFill>
                            <a:srgbClr val="202020"/>
                          </a:solidFill>
                          <a:latin typeface="Times New Roman"/>
                        </a:rPr>
                        <a:t>-0.00056</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0.00264</a:t>
                      </a:r>
                    </a:p>
                  </a:txBody>
                  <a:tcPr marL="36576" marR="36576" marT="9144" marB="9144">
                    <a:solidFill>
                      <a:srgbClr val="FFFFFF"/>
                    </a:solidFill>
                  </a:tcPr>
                </a:tc>
                <a:tc>
                  <a:txBody>
                    <a:bodyPr/>
                    <a:lstStyle/>
                    <a:p>
                      <a:pPr algn="ctr"/>
                      <a:r>
                        <a:rPr sz="16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r>
              <a:rPr sz="14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1E7A45"/>
                </a:solidFill>
                <a:latin typeface="Times New Roman"/>
              </a:rPr>
              <a:t>Matching logits is a special case of distillation. At lower temperatures, distillation pays much less attention</a:t>
            </a:r>
          </a:p>
          <a:p>
            <a:pPr algn="l"/>
            <a:r>
              <a:rPr sz="1600" b="1">
                <a:solidFill>
                  <a:srgbClr val="1E7A45"/>
                </a:solidFill>
                <a:latin typeface="Times New Roman"/>
              </a:rPr>
              <a:t>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Section 3 of the paper</a:t>
                      </a:r>
                    </a:p>
                  </a:txBody>
                  <a:tcPr marL="36576" marR="36576" marT="9144" marB="9144">
                    <a:solidFill>
                      <a:srgbClr val="1F4E79"/>
                    </a:solidFill>
                  </a:tcPr>
                </a:tc>
                <a:tc>
                  <a:txBody>
                    <a:bodyPr/>
                    <a:lstStyle/>
                    <a:p>
                      <a:pPr algn="ctr"/>
                      <a:r>
                        <a:rPr sz="16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600" b="0">
                          <a:solidFill>
                            <a:srgbClr val="202020"/>
                          </a:solidFill>
                          <a:latin typeface="Times New Roman"/>
                        </a:rPr>
                        <a:t>Training cases</a:t>
                      </a:r>
                    </a:p>
                  </a:txBody>
                  <a:tcPr marL="36576" marR="36576" marT="9144" marB="9144">
                    <a:solidFill>
                      <a:srgbClr val="FFFFFF"/>
                    </a:solidFill>
                  </a:tcPr>
                </a:tc>
                <a:tc>
                  <a:txBody>
                    <a:bodyPr/>
                    <a:lstStyle/>
                    <a:p>
                      <a:pPr algn="ctr"/>
                      <a:r>
                        <a:rPr sz="1600" b="0">
                          <a:solidFill>
                            <a:srgbClr val="202020"/>
                          </a:solidFill>
                          <a:latin typeface="Times New Roman"/>
                        </a:rPr>
                        <a:t>60,000</a:t>
                      </a:r>
                    </a:p>
                  </a:txBody>
                  <a:tcPr marL="36576" marR="36576" marT="9144" marB="9144">
                    <a:solidFill>
                      <a:srgbClr val="FFFFFF"/>
                    </a:solidFill>
                  </a:tcPr>
                </a:tc>
                <a:tc>
                  <a:txBody>
                    <a:bodyPr/>
                    <a:lstStyle/>
                    <a:p>
                      <a:pPr algn="ctr"/>
                      <a:r>
                        <a:rPr sz="16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600" b="0">
                          <a:solidFill>
                            <a:srgbClr val="202020"/>
                          </a:solidFill>
                          <a:latin typeface="Times New Roman"/>
                        </a:rPr>
                        <a:t>Test cases</a:t>
                      </a:r>
                    </a:p>
                  </a:txBody>
                  <a:tcPr marL="36576" marR="36576" marT="9144" marB="9144">
                    <a:solidFill>
                      <a:srgbClr val="FFFFFF"/>
                    </a:solidFill>
                  </a:tcPr>
                </a:tc>
                <a:tc>
                  <a:txBody>
                    <a:bodyPr/>
                    <a:lstStyle/>
                    <a:p>
                      <a:pPr algn="ctr"/>
                      <a:r>
                        <a:rPr sz="1600" b="0">
                          <a:solidFill>
                            <a:srgbClr val="202020"/>
                          </a:solidFill>
                          <a:latin typeface="Times New Roman"/>
                        </a:rPr>
                        <a:t>10,000</a:t>
                      </a:r>
                    </a:p>
                  </a:txBody>
                  <a:tcPr marL="36576" marR="36576" marT="9144" marB="9144">
                    <a:solidFill>
                      <a:srgbClr val="FFFFFF"/>
                    </a:solidFill>
                  </a:tcPr>
                </a:tc>
                <a:tc>
                  <a:txBody>
                    <a:bodyPr/>
                    <a:lstStyle/>
                    <a:p>
                      <a:pPr algn="ctr"/>
                      <a:r>
                        <a:rPr sz="16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a:t>
                      </a:r>
                    </a:p>
                  </a:txBody>
                  <a:tcPr marL="36576" marR="36576" marT="9144" marB="9144">
                    <a:solidFill>
                      <a:srgbClr val="FFFFFF"/>
                    </a:solidFill>
                  </a:tcPr>
                </a:tc>
                <a:tc>
                  <a:txBody>
                    <a:bodyPr/>
                    <a:lstStyle/>
                    <a:p>
                      <a:pPr algn="ctr"/>
                      <a:r>
                        <a:rPr sz="16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6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600" b="0">
                          <a:solidFill>
                            <a:srgbClr val="202020"/>
                          </a:solidFill>
                          <a:latin typeface="Times New Roman"/>
                        </a:rPr>
                        <a:t>Temperature</a:t>
                      </a:r>
                    </a:p>
                  </a:txBody>
                  <a:tcPr marL="36576" marR="36576" marT="9144" marB="9144">
                    <a:solidFill>
                      <a:srgbClr val="FFFFFF"/>
                    </a:solidFill>
                  </a:tcPr>
                </a:tc>
                <a:tc>
                  <a:txBody>
                    <a:bodyPr/>
                    <a:lstStyle/>
                    <a:p>
                      <a:pPr algn="ctr"/>
                      <a:r>
                        <a:rPr sz="1600" b="0">
                          <a:solidFill>
                            <a:srgbClr val="202020"/>
                          </a:solidFill>
                          <a:latin typeface="Times New Roman"/>
                        </a:rPr>
                        <a:t>20 (and others)</a:t>
                      </a:r>
                    </a:p>
                  </a:txBody>
                  <a:tcPr marL="36576" marR="36576" marT="9144" marB="9144">
                    <a:solidFill>
                      <a:srgbClr val="FFFFFF"/>
                    </a:solidFill>
                  </a:tcPr>
                </a:tc>
                <a:tc>
                  <a:txBody>
                    <a:bodyPr/>
                    <a:lstStyle/>
                    <a:p>
                      <a:pPr algn="ctr"/>
                      <a:r>
                        <a:rPr sz="16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r>
              <a:rPr sz="1600" b="0" i="0">
                <a:solidFill>
                  <a:srgbClr val="202020"/>
                </a:solidFill>
                <a:latin typeface="Times New Roman"/>
              </a:rPr>
              <a:t>1200-1200 denotes two hidden layers of 1200 rectified linear hidden units.</a:t>
            </a:r>
          </a:p>
          <a:p>
            <a:r>
              <a:rPr sz="16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Paper</a:t>
                      </a:r>
                    </a:p>
                  </a:txBody>
                  <a:tcPr marL="36576" marR="36576" marT="9144" marB="9144">
                    <a:solidFill>
                      <a:srgbClr val="1F4E79"/>
                    </a:solidFill>
                  </a:tcPr>
                </a:tc>
                <a:tc>
                  <a:txBody>
                    <a:bodyPr/>
                    <a:lstStyle/>
                    <a:p>
                      <a:pPr algn="ctr"/>
                      <a:r>
                        <a:rPr sz="1600" b="1">
                          <a:solidFill>
                            <a:srgbClr val="FFFFFF"/>
                          </a:solidFill>
                          <a:latin typeface="Times New Roman"/>
                        </a:rPr>
                        <a:t>Ours</a:t>
                      </a:r>
                    </a:p>
                  </a:txBody>
                  <a:tcPr marL="36576" marR="36576" marT="9144" marB="9144">
                    <a:solidFill>
                      <a:srgbClr val="1F4E79"/>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67</a:t>
                      </a:r>
                    </a:p>
                  </a:txBody>
                  <a:tcPr marL="36576" marR="36576" marT="9144" marB="9144">
                    <a:solidFill>
                      <a:srgbClr val="FFFFFF"/>
                    </a:solidFill>
                  </a:tcPr>
                </a:tc>
                <a:tc>
                  <a:txBody>
                    <a:bodyPr/>
                    <a:lstStyle/>
                    <a:p>
                      <a:pPr algn="ctr"/>
                      <a:r>
                        <a:rPr sz="1600" b="0">
                          <a:solidFill>
                            <a:srgbClr val="202020"/>
                          </a:solidFill>
                          <a:latin typeface="Times New Roman"/>
                        </a:rPr>
                        <a:t>203</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600" b="0">
                          <a:solidFill>
                            <a:srgbClr val="202020"/>
                          </a:solidFill>
                          <a:latin typeface="Times New Roman"/>
                        </a:rPr>
                        <a:t>146</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distilled</a:t>
                      </a:r>
                    </a:p>
                  </a:txBody>
                  <a:tcPr marL="36576" marR="36576" marT="9144" marB="9144">
                    <a:solidFill>
                      <a:srgbClr val="FFFFFF"/>
                    </a:solidFill>
                  </a:tcPr>
                </a:tc>
                <a:tc>
                  <a:txBody>
                    <a:bodyPr/>
                    <a:lstStyle/>
                    <a:p>
                      <a:pPr algn="ctr"/>
                      <a:r>
                        <a:rPr sz="1600" b="0">
                          <a:solidFill>
                            <a:srgbClr val="202020"/>
                          </a:solidFill>
                          <a:latin typeface="Times New Roman"/>
                        </a:rPr>
                        <a:t>74 (T = 20)</a:t>
                      </a:r>
                    </a:p>
                  </a:txBody>
                  <a:tcPr marL="36576" marR="36576" marT="9144" marB="9144">
                    <a:solidFill>
                      <a:srgbClr val="FFF3CD"/>
                    </a:solidFill>
                  </a:tcPr>
                </a:tc>
                <a:tc>
                  <a:txBody>
                    <a:bodyPr/>
                    <a:lstStyle/>
                    <a:p>
                      <a:pPr algn="ctr"/>
                      <a:r>
                        <a:rPr sz="16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1E7A45"/>
                </a:solidFill>
                <a:latin typeface="Times New Roman"/>
              </a:rPr>
              <a:t>In our repetition, distillation reduces the gap between the</a:t>
            </a:r>
          </a:p>
          <a:p>
            <a:pPr algn="l"/>
            <a:r>
              <a:rPr sz="1600" b="1">
                <a:solidFill>
                  <a:srgbClr val="1E7A45"/>
                </a:solidFill>
                <a:latin typeface="Times New Roman"/>
              </a:rPr>
              <a:t>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r>
              <a:rPr sz="1600" b="0" i="0">
                <a:solidFill>
                  <a:srgbClr val="202020"/>
                </a:solidFill>
                <a:latin typeface="Times New Roman"/>
              </a:rPr>
              <a:t>In the paper, soft targets transfer a great deal of knowledge</a:t>
            </a:r>
          </a:p>
          <a:p>
            <a:r>
              <a:rPr sz="1600" b="0" i="0">
                <a:solidFill>
                  <a:srgbClr val="202020"/>
                </a:solidFill>
                <a:latin typeface="Times New Roman"/>
              </a:rPr>
              <a:t>to the distilled model, including the knowledge about how</a:t>
            </a:r>
          </a:p>
          <a:p>
            <a:r>
              <a:rPr sz="1600" b="0" i="0">
                <a:solidFill>
                  <a:srgbClr val="202020"/>
                </a:solidFill>
                <a:latin typeface="Times New Roman"/>
              </a:rPr>
              <a:t>to generalize that is learned from translated training data,</a:t>
            </a:r>
          </a:p>
          <a:p>
            <a:r>
              <a:rPr sz="1600" b="0" i="0">
                <a:solidFill>
                  <a:srgbClr val="202020"/>
                </a:solidFill>
                <a:latin typeface="Times New Roman"/>
              </a:rPr>
              <a:t>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r>
              <a:rPr sz="15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Small net 100-100</a:t>
                      </a:r>
                    </a:p>
                  </a:txBody>
                  <a:tcPr marL="36576" marR="36576" marT="9144" marB="9144">
                    <a:solidFill>
                      <a:srgbClr val="1F4E79"/>
                    </a:solidFill>
                  </a:tcPr>
                </a:tc>
                <a:tc>
                  <a:txBody>
                    <a:bodyPr/>
                    <a:lstStyle/>
                    <a:p>
                      <a:pPr algn="ctr"/>
                      <a:r>
                        <a:rPr sz="16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600" b="0">
                          <a:solidFill>
                            <a:srgbClr val="202020"/>
                          </a:solidFill>
                          <a:latin typeface="Times New Roman"/>
                        </a:rPr>
                        <a:t>hard targets only</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c>
                  <a:txBody>
                    <a:bodyPr/>
                    <a:lstStyle/>
                    <a:p>
                      <a:pPr algn="ctr"/>
                      <a:r>
                        <a:rPr sz="1600" b="0">
                          <a:solidFill>
                            <a:srgbClr val="202020"/>
                          </a:solidFill>
                          <a:latin typeface="Times New Roman"/>
                        </a:rPr>
                        <a:t>568</a:t>
                      </a:r>
                    </a:p>
                  </a:txBody>
                  <a:tcPr marL="36576" marR="36576" marT="9144" marB="9144">
                    <a:solidFill>
                      <a:srgbClr val="FFFFFF"/>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402</a:t>
                      </a:r>
                    </a:p>
                  </a:txBody>
                  <a:tcPr marL="36576" marR="36576" marT="9144" marB="9144">
                    <a:solidFill>
                      <a:srgbClr val="FFFFFF"/>
                    </a:solidFill>
                  </a:tcPr>
                </a:tc>
                <a:tc>
                  <a:txBody>
                    <a:bodyPr/>
                    <a:lstStyle/>
                    <a:p>
                      <a:pPr algn="ctr"/>
                      <a:r>
                        <a:rPr sz="1600" b="0">
                          <a:solidFill>
                            <a:srgbClr val="202020"/>
                          </a:solidFill>
                          <a:latin typeface="Times New Roman"/>
                        </a:rPr>
                        <a:t>561</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544</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526</a:t>
                      </a:r>
                    </a:p>
                  </a:txBody>
                  <a:tcPr marL="36576" marR="36576" marT="9144" marB="9144">
                    <a:solidFill>
                      <a:srgbClr val="FFF3CD"/>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347</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FFF"/>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318</a:t>
                      </a:r>
                    </a:p>
                  </a:txBody>
                  <a:tcPr marL="36576" marR="36576" marT="9144" marB="9144">
                    <a:solidFill>
                      <a:srgbClr val="FFFFFF"/>
                    </a:solidFill>
                  </a:tcPr>
                </a:tc>
                <a:tc>
                  <a:txBody>
                    <a:bodyPr/>
                    <a:lstStyle/>
                    <a:p>
                      <a:pPr algn="ctr"/>
                      <a:r>
                        <a:rPr sz="16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500" b="1">
                <a:solidFill>
                  <a:srgbClr val="1F4E79"/>
                </a:solidFill>
                <a:latin typeface="Times New Roman"/>
              </a:rPr>
              <a:t>Paper: with 300 or more units per layer, all temperatures above 8 gave fairly similar results; with 30 units per layer,</a:t>
            </a:r>
          </a:p>
          <a:p>
            <a:pPr algn="l"/>
            <a:r>
              <a:rPr sz="1500" b="1">
                <a:solidFill>
                  <a:srgbClr val="1F4E79"/>
                </a:solidFill>
                <a:latin typeface="Times New Roman"/>
              </a:rPr>
              <a:t>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r>
              <a:rPr sz="16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Test errors</a:t>
                      </a:r>
                    </a:p>
                  </a:txBody>
                  <a:tcPr marL="36576" marR="36576" marT="9144" marB="9144">
                    <a:solidFill>
                      <a:srgbClr val="1F4E79"/>
                    </a:solidFill>
                  </a:tcPr>
                </a:tc>
                <a:tc>
                  <a:txBody>
                    <a:bodyPr/>
                    <a:lstStyle/>
                    <a:p>
                      <a:pPr algn="ctr"/>
                      <a:r>
                        <a:rPr sz="1600" b="1">
                          <a:solidFill>
                            <a:srgbClr val="FFFFFF"/>
                          </a:solidFill>
                          <a:latin typeface="Times New Roman"/>
                        </a:rPr>
                        <a:t>Errors on 3s</a:t>
                      </a:r>
                    </a:p>
                  </a:txBody>
                  <a:tcPr marL="36576" marR="36576" marT="9144" marB="9144">
                    <a:solidFill>
                      <a:srgbClr val="1F4E79"/>
                    </a:solidFill>
                  </a:tcPr>
                </a:tc>
                <a:tc>
                  <a:txBody>
                    <a:bodyPr/>
                    <a:lstStyle/>
                    <a:p>
                      <a:pPr algn="ctr"/>
                      <a:r>
                        <a:rPr sz="16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600" b="0">
                          <a:solidFill>
                            <a:srgbClr val="202020"/>
                          </a:solidFill>
                          <a:latin typeface="Times New Roman"/>
                        </a:rPr>
                        <a:t>Ours: hard targets only</a:t>
                      </a:r>
                    </a:p>
                  </a:txBody>
                  <a:tcPr marL="36576" marR="36576" marT="9144" marB="9144">
                    <a:solidFill>
                      <a:srgbClr val="FFFFFF"/>
                    </a:solidFill>
                  </a:tcPr>
                </a:tc>
                <a:tc>
                  <a:txBody>
                    <a:bodyPr/>
                    <a:lstStyle/>
                    <a:p>
                      <a:pPr algn="ctr"/>
                      <a:r>
                        <a:rPr sz="1600" b="0">
                          <a:solidFill>
                            <a:srgbClr val="202020"/>
                          </a:solidFill>
                          <a:latin typeface="Times New Roman"/>
                        </a:rPr>
                        <a:t>1372</a:t>
                      </a:r>
                    </a:p>
                  </a:txBody>
                  <a:tcPr marL="36576" marR="36576" marT="9144" marB="9144">
                    <a:solidFill>
                      <a:srgbClr val="FFFFFF"/>
                    </a:solidFill>
                  </a:tcPr>
                </a:tc>
                <a:tc>
                  <a:txBody>
                    <a:bodyPr/>
                    <a:lstStyle/>
                    <a:p>
                      <a:pPr algn="ctr"/>
                      <a:r>
                        <a:rPr sz="1600" b="0">
                          <a:solidFill>
                            <a:srgbClr val="202020"/>
                          </a:solidFill>
                          <a:latin typeface="Times New Roman"/>
                        </a:rPr>
                        <a:t>1010 of 1010</a:t>
                      </a:r>
                    </a:p>
                  </a:txBody>
                  <a:tcPr marL="36576" marR="36576" marT="9144" marB="9144">
                    <a:solidFill>
                      <a:srgbClr val="FFFFFF"/>
                    </a:solidFill>
                  </a:tcPr>
                </a:tc>
                <a:tc>
                  <a:txBody>
                    <a:bodyPr/>
                    <a:lstStyle/>
                    <a:p>
                      <a:pPr algn="ctr"/>
                      <a:r>
                        <a:rPr sz="1600" b="0">
                          <a:solidFill>
                            <a:srgbClr val="202020"/>
                          </a:solidFill>
                          <a:latin typeface="Times New Roman"/>
                        </a:rPr>
                        <a:t>0.0%</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T = 8</a:t>
                      </a:r>
                    </a:p>
                  </a:txBody>
                  <a:tcPr marL="36576" marR="36576" marT="9144" marB="9144">
                    <a:solidFill>
                      <a:srgbClr val="FFFFFF"/>
                    </a:solidFill>
                  </a:tcPr>
                </a:tc>
                <a:tc>
                  <a:txBody>
                    <a:bodyPr/>
                    <a:lstStyle/>
                    <a:p>
                      <a:pPr algn="ctr"/>
                      <a:r>
                        <a:rPr sz="1600" b="0">
                          <a:solidFill>
                            <a:srgbClr val="202020"/>
                          </a:solidFill>
                          <a:latin typeface="Times New Roman"/>
                        </a:rPr>
                        <a:t>646</a:t>
                      </a:r>
                    </a:p>
                  </a:txBody>
                  <a:tcPr marL="36576" marR="36576" marT="9144" marB="9144">
                    <a:solidFill>
                      <a:srgbClr val="FFFFFF"/>
                    </a:solidFill>
                  </a:tcPr>
                </a:tc>
                <a:tc>
                  <a:txBody>
                    <a:bodyPr/>
                    <a:lstStyle/>
                    <a:p>
                      <a:pPr algn="ctr"/>
                      <a:r>
                        <a:rPr sz="1600" b="0">
                          <a:solidFill>
                            <a:srgbClr val="202020"/>
                          </a:solidFill>
                          <a:latin typeface="Times New Roman"/>
                        </a:rPr>
                        <a:t>378 of 1010</a:t>
                      </a:r>
                    </a:p>
                  </a:txBody>
                  <a:tcPr marL="36576" marR="36576" marT="9144" marB="9144">
                    <a:solidFill>
                      <a:srgbClr val="FFFFFF"/>
                    </a:solidFill>
                  </a:tcPr>
                </a:tc>
                <a:tc>
                  <a:txBody>
                    <a:bodyPr/>
                    <a:lstStyle/>
                    <a:p>
                      <a:pPr algn="ctr"/>
                      <a:r>
                        <a:rPr sz="1600" b="0">
                          <a:solidFill>
                            <a:srgbClr val="202020"/>
                          </a:solidFill>
                          <a:latin typeface="Times New Roman"/>
                        </a:rPr>
                        <a:t>62.6%</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600" b="0">
                          <a:solidFill>
                            <a:srgbClr val="202020"/>
                          </a:solidFill>
                          <a:latin typeface="Times New Roman"/>
                        </a:rPr>
                        <a:t>430</a:t>
                      </a:r>
                    </a:p>
                  </a:txBody>
                  <a:tcPr marL="36576" marR="36576" marT="9144" marB="9144">
                    <a:solidFill>
                      <a:srgbClr val="FFFFFF"/>
                    </a:solidFill>
                  </a:tcPr>
                </a:tc>
                <a:tc>
                  <a:txBody>
                    <a:bodyPr/>
                    <a:lstStyle/>
                    <a:p>
                      <a:pPr algn="ctr"/>
                      <a:r>
                        <a:rPr sz="1600" b="0">
                          <a:solidFill>
                            <a:srgbClr val="202020"/>
                          </a:solidFill>
                          <a:latin typeface="Times New Roman"/>
                        </a:rPr>
                        <a:t>84 of 1010</a:t>
                      </a:r>
                    </a:p>
                  </a:txBody>
                  <a:tcPr marL="36576" marR="36576" marT="9144" marB="9144">
                    <a:solidFill>
                      <a:srgbClr val="FFFFFF"/>
                    </a:solidFill>
                  </a:tcPr>
                </a:tc>
                <a:tc>
                  <a:txBody>
                    <a:bodyPr/>
                    <a:lstStyle/>
                    <a:p>
                      <a:pPr algn="ctr"/>
                      <a:r>
                        <a:rPr sz="1600" b="0">
                          <a:solidFill>
                            <a:srgbClr val="202020"/>
                          </a:solidFill>
                          <a:latin typeface="Times New Roman"/>
                        </a:rPr>
                        <a:t>91.7%</a:t>
                      </a:r>
                    </a:p>
                  </a:txBody>
                  <a:tcPr marL="36576" marR="36576" marT="9144" marB="9144">
                    <a:solidFill>
                      <a:srgbClr val="FFF3CD"/>
                    </a:solidFill>
                  </a:tcPr>
                </a:tc>
              </a:tr>
              <a:tr h="329184">
                <a:tc>
                  <a:txBody>
                    <a:bodyPr/>
                    <a:lstStyle/>
                    <a:p>
                      <a:pPr algn="ctr"/>
                      <a:r>
                        <a:rPr sz="1600" b="0">
                          <a:solidFill>
                            <a:srgbClr val="202020"/>
                          </a:solidFill>
                          <a:latin typeface="Times New Roman"/>
                        </a:rPr>
                        <a:t>Paper: distilled</a:t>
                      </a:r>
                    </a:p>
                  </a:txBody>
                  <a:tcPr marL="36576" marR="36576" marT="9144" marB="9144">
                    <a:solidFill>
                      <a:srgbClr val="FFFFFF"/>
                    </a:solidFill>
                  </a:tcPr>
                </a:tc>
                <a:tc>
                  <a:txBody>
                    <a:bodyPr/>
                    <a:lstStyle/>
                    <a:p>
                      <a:pPr algn="ctr"/>
                      <a:r>
                        <a:rPr sz="1600" b="0">
                          <a:solidFill>
                            <a:srgbClr val="202020"/>
                          </a:solidFill>
                          <a:latin typeface="Times New Roman"/>
                        </a:rPr>
                        <a:t>206</a:t>
                      </a:r>
                    </a:p>
                  </a:txBody>
                  <a:tcPr marL="36576" marR="36576" marT="9144" marB="9144">
                    <a:solidFill>
                      <a:srgbClr val="FFFFFF"/>
                    </a:solidFill>
                  </a:tcPr>
                </a:tc>
                <a:tc>
                  <a:txBody>
                    <a:bodyPr/>
                    <a:lstStyle/>
                    <a:p>
                      <a:pPr algn="ctr"/>
                      <a:r>
                        <a:rPr sz="1600" b="0">
                          <a:solidFill>
                            <a:srgbClr val="202020"/>
                          </a:solidFill>
                          <a:latin typeface="Times New Roman"/>
                        </a:rPr>
                        <a:t>133 of 1010</a:t>
                      </a:r>
                    </a:p>
                  </a:txBody>
                  <a:tcPr marL="36576" marR="36576" marT="9144" marB="9144">
                    <a:solidFill>
                      <a:srgbClr val="FFFFFF"/>
                    </a:solidFill>
                  </a:tcPr>
                </a:tc>
                <a:tc>
                  <a:txBody>
                    <a:bodyPr/>
                    <a:lstStyle/>
                    <a:p>
                      <a:pPr algn="ctr"/>
                      <a:r>
                        <a:rPr sz="1600" b="0">
                          <a:solidFill>
                            <a:srgbClr val="202020"/>
                          </a:solidFill>
                          <a:latin typeface="Times New Roman"/>
                        </a:rPr>
                        <a:t>86.8%</a:t>
                      </a:r>
                    </a:p>
                  </a:txBody>
                  <a:tcPr marL="36576" marR="36576" marT="9144" marB="9144">
                    <a:solidFill>
                      <a:srgbClr val="FFFFFF"/>
                    </a:solidFill>
                  </a:tcPr>
                </a:tc>
              </a:tr>
              <a:tr h="329184">
                <a:tc>
                  <a:txBody>
                    <a:bodyPr/>
                    <a:lstStyle/>
                    <a:p>
                      <a:pPr algn="ctr"/>
                      <a:r>
                        <a:rPr sz="16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c>
                  <a:txBody>
                    <a:bodyPr/>
                    <a:lstStyle/>
                    <a:p>
                      <a:pPr algn="ctr"/>
                      <a:r>
                        <a:rPr sz="1600" b="0">
                          <a:solidFill>
                            <a:srgbClr val="202020"/>
                          </a:solidFill>
                          <a:latin typeface="Times New Roman"/>
                        </a:rPr>
                        <a:t>14 of 1010</a:t>
                      </a:r>
                    </a:p>
                  </a:txBody>
                  <a:tcPr marL="36576" marR="36576" marT="9144" marB="9144">
                    <a:solidFill>
                      <a:srgbClr val="FFFFFF"/>
                    </a:solidFill>
                  </a:tcPr>
                </a:tc>
                <a:tc>
                  <a:txBody>
                    <a:bodyPr/>
                    <a:lstStyle/>
                    <a:p>
                      <a:pPr algn="ctr"/>
                      <a:r>
                        <a:rPr sz="16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59636E"/>
                </a:solidFill>
                <a:latin typeface="Times New Roman"/>
              </a:rPr>
              <a:t>Hard targets only: no training case has the</a:t>
            </a:r>
          </a:p>
          <a:p>
            <a:pPr algn="l"/>
            <a:r>
              <a:rPr sz="1600" b="1">
                <a:solidFill>
                  <a:srgbClr val="59636E"/>
                </a:solidFill>
                <a:latin typeface="Times New Roman"/>
              </a:rPr>
              <a:t>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1E7A45"/>
                </a:solidFill>
                <a:latin typeface="Times New Roman"/>
              </a:rPr>
              <a:t>Distillation: the soft targets for other digits</a:t>
            </a:r>
          </a:p>
          <a:p>
            <a:pPr algn="l"/>
            <a:r>
              <a:rPr sz="1600" b="1">
                <a:solidFill>
                  <a:srgbClr val="1E7A45"/>
                </a:solidFill>
                <a:latin typeface="Times New Roman"/>
              </a:rPr>
              <a:t>say how much each of them resembles a 3,</a:t>
            </a:r>
          </a:p>
          <a:p>
            <a:pPr algn="l"/>
            <a:r>
              <a:rPr sz="1600" b="1">
                <a:solidFill>
                  <a:srgbClr val="1E7A45"/>
                </a:solidFill>
                <a:latin typeface="Times New Roman"/>
              </a:rPr>
              <a:t>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r>
              <a:rPr sz="1600" b="0" i="0">
                <a:solidFill>
                  <a:srgbClr val="202020"/>
                </a:solidFill>
                <a:latin typeface="Times New Roman"/>
              </a:rPr>
              <a:t>Most of the errors are caused by the fact that the learned bias for the 3 class is much too low.</a:t>
            </a:r>
          </a:p>
          <a:p>
            <a:r>
              <a:rPr sz="16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c>
                  <a:txBody>
                    <a:bodyPr/>
                    <a:lstStyle/>
                    <a:p>
                      <a:pPr algn="ctr"/>
                      <a:r>
                        <a:rPr sz="1600" b="1">
                          <a:solidFill>
                            <a:srgbClr val="FFFFFF"/>
                          </a:solidFill>
                          <a:latin typeface="Times New Roman"/>
                        </a:rPr>
                        <a:t>WER</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r>
              <a:tr h="329184">
                <a:tc>
                  <a:txBody>
                    <a:bodyPr/>
                    <a:lstStyle/>
                    <a:p>
                      <a:pPr algn="ctr"/>
                      <a:r>
                        <a:rPr sz="1600" b="0">
                          <a:solidFill>
                            <a:srgbClr val="202020"/>
                          </a:solidFill>
                          <a:latin typeface="Times New Roman"/>
                        </a:rPr>
                        <a:t>10xEnsemble</a:t>
                      </a:r>
                    </a:p>
                  </a:txBody>
                  <a:tcPr marL="36576" marR="36576" marT="9144" marB="9144">
                    <a:solidFill>
                      <a:srgbClr val="FFFFFF"/>
                    </a:solidFill>
                  </a:tcPr>
                </a:tc>
                <a:tc>
                  <a:txBody>
                    <a:bodyPr/>
                    <a:lstStyle/>
                    <a:p>
                      <a:pPr algn="ctr"/>
                      <a:r>
                        <a:rPr sz="1600" b="0">
                          <a:solidFill>
                            <a:srgbClr val="202020"/>
                          </a:solidFill>
                          <a:latin typeface="Times New Roman"/>
                        </a:rPr>
                        <a:t>61.1%</a:t>
                      </a:r>
                    </a:p>
                  </a:txBody>
                  <a:tcPr marL="36576" marR="36576" marT="9144" marB="9144">
                    <a:solidFill>
                      <a:srgbClr val="FFFFFF"/>
                    </a:solidFill>
                  </a:tcPr>
                </a:tc>
                <a:tc>
                  <a:txBody>
                    <a:bodyPr/>
                    <a:lstStyle/>
                    <a:p>
                      <a:pPr algn="ctr"/>
                      <a:r>
                        <a:rPr sz="1600" b="0">
                          <a:solidFill>
                            <a:srgbClr val="202020"/>
                          </a:solidFill>
                          <a:latin typeface="Times New Roman"/>
                        </a:rPr>
                        <a:t>10.7%</a:t>
                      </a:r>
                    </a:p>
                  </a:txBody>
                  <a:tcPr marL="36576" marR="36576" marT="9144" marB="9144">
                    <a:solidFill>
                      <a:srgbClr val="FFFFFF"/>
                    </a:solidFill>
                  </a:tcPr>
                </a:tc>
              </a:tr>
              <a:tr h="329184">
                <a:tc>
                  <a:txBody>
                    <a:bodyPr/>
                    <a:lstStyle/>
                    <a:p>
                      <a:pPr algn="ctr"/>
                      <a:r>
                        <a:rPr sz="1600" b="0">
                          <a:solidFill>
                            <a:srgbClr val="202020"/>
                          </a:solidFill>
                          <a:latin typeface="Times New Roman"/>
                        </a:rPr>
                        <a:t>Distilled single model</a:t>
                      </a:r>
                    </a:p>
                  </a:txBody>
                  <a:tcPr marL="36576" marR="36576" marT="9144" marB="9144">
                    <a:solidFill>
                      <a:srgbClr val="FFFFFF"/>
                    </a:solidFill>
                  </a:tcPr>
                </a:tc>
                <a:tc>
                  <a:txBody>
                    <a:bodyPr/>
                    <a:lstStyle/>
                    <a:p>
                      <a:pPr algn="ctr"/>
                      <a:r>
                        <a:rPr sz="1600" b="0">
                          <a:solidFill>
                            <a:srgbClr val="202020"/>
                          </a:solidFill>
                          <a:latin typeface="Times New Roman"/>
                        </a:rPr>
                        <a:t>60.8%</a:t>
                      </a:r>
                    </a:p>
                  </a:txBody>
                  <a:tcPr marL="36576" marR="36576" marT="9144" marB="9144">
                    <a:solidFill>
                      <a:srgbClr val="FFF3CD"/>
                    </a:solidFill>
                  </a:tcPr>
                </a:tc>
                <a:tc>
                  <a:txBody>
                    <a:bodyPr/>
                    <a:lstStyle/>
                    <a:p>
                      <a:pPr algn="ctr"/>
                      <a:r>
                        <a:rPr sz="16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r>
              <a:rPr sz="1500" b="0" i="0">
                <a:solidFill>
                  <a:srgbClr val="202020"/>
                </a:solidFill>
                <a:latin typeface="Times New Roman"/>
              </a:rPr>
              <a:t>Acoustic model of Android voice search: more than 80%</a:t>
            </a:r>
          </a:p>
          <a:p>
            <a:r>
              <a:rPr sz="1500" b="0" i="0">
                <a:solidFill>
                  <a:srgbClr val="202020"/>
                </a:solidFill>
                <a:latin typeface="Times New Roman"/>
              </a:rPr>
              <a:t>of the improvement in frame accuracy achieved by the</a:t>
            </a:r>
          </a:p>
          <a:p>
            <a:r>
              <a:rPr sz="1500" b="0" i="0">
                <a:solidFill>
                  <a:srgbClr val="202020"/>
                </a:solidFill>
                <a:latin typeface="Times New Roman"/>
              </a:rPr>
              <a:t>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Training set</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100%</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44.5%</a:t>
                      </a:r>
                    </a:p>
                  </a:txBody>
                  <a:tcPr marL="36576" marR="36576" marT="9144" marB="9144">
                    <a:solidFill>
                      <a:srgbClr val="FFFFFF"/>
                    </a:solidFill>
                  </a:tcPr>
                </a:tc>
              </a:tr>
              <a:tr h="329184">
                <a:tc>
                  <a:txBody>
                    <a:bodyPr/>
                    <a:lstStyle/>
                    <a:p>
                      <a:pPr algn="ctr"/>
                      <a:r>
                        <a:rPr sz="1600" b="0">
                          <a:solidFill>
                            <a:srgbClr val="202020"/>
                          </a:solidFill>
                          <a:latin typeface="Times New Roman"/>
                        </a:rPr>
                        <a:t>Soft targets</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r>
              <a:rPr sz="1500" b="0" i="0">
                <a:solidFill>
                  <a:srgbClr val="202020"/>
                </a:solidFill>
                <a:latin typeface="Times New Roman"/>
              </a:rPr>
              <a:t>Soft targets allow a new model to generalize well from</a:t>
            </a:r>
          </a:p>
          <a:p>
            <a:r>
              <a:rPr sz="1500" b="0" i="0">
                <a:solidFill>
                  <a:srgbClr val="202020"/>
                </a:solidFill>
                <a:latin typeface="Times New Roman"/>
              </a:rPr>
              <a:t>only 3% of the training set; with hard targets the model</a:t>
            </a:r>
          </a:p>
          <a:p>
            <a:r>
              <a:rPr sz="1500" b="0" i="0">
                <a:solidFill>
                  <a:srgbClr val="202020"/>
                </a:solidFill>
                <a:latin typeface="Times New Roman"/>
              </a:rPr>
              <a:t>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0">
                <a:solidFill>
                  <a:srgbClr val="1F4E79"/>
                </a:solidFill>
                <a:latin typeface="Times New Roman"/>
              </a:rPr>
              <a:t>Specialist models: on JFT (100 million labeled images, 15,000 labels), 61 specialist models, each trained on a</a:t>
            </a:r>
          </a:p>
          <a:p>
            <a:pPr algn="l"/>
            <a:r>
              <a:rPr sz="1600" b="0">
                <a:solidFill>
                  <a:srgbClr val="1F4E79"/>
                </a:solidFill>
                <a:latin typeface="Times New Roman"/>
              </a:rPr>
              <a:t>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r>
              <a:rPr sz="15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Exercise 1  At T = 2, what are the soft targets for v = (8, 4, 0)? Use the four steps of slide 6</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r>
              <a:rPr sz="16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