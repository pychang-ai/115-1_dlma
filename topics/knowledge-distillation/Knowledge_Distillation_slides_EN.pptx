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Knowledge Distillation (KD)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Based on Hinton, Vinyals, and Dean (2015), Distilling the Knowledge in a Neural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Calibri"/>
              </a:rPr>
              <a:t>Outline of this module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71957"/>
                <a:gridCol w="7518030"/>
                <a:gridCol w="79137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Key points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1  Why distill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Large models for training, small models for deployment; wrong answers carry information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2–3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2  Soft targets and temperature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Four-step softmax at temperature T; T = 1 compared with T = 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4–7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3  Distillation loss and gradient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Step-by-step L = α T² C_soft + (1 − α) C_hard; the gradient; why multiply by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8–12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4  MNIST experiments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Distilled students make fewer errors; small students need medium T; a student that never saw a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13–17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Summary and exercises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Three key points and three exercises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749039"/>
            <a:ext cx="10881360" cy="13258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After this module, you will be able to:</a:t>
            </a:r>
          </a:p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1. compute the softmax at temperature T by hand and explain what soft targets add to hard targets</a:t>
            </a:r>
          </a:p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2. write the distillation loss and compute the loss and its gradient step by step</a:t>
            </a:r>
          </a:p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3. train teacher and student models in Colab and interpret the effect of the 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Calibri"/>
              </a:rPr>
              <a:t>Accompanied by the Colab program knowledge_distillation_en.ipynb and the data file kd_mnist.npz.</a:t>
            </a:r>
          </a:p>
          <a:p>
            <a:r>
              <a:rPr sz="1500" b="0">
                <a:solidFill>
                  <a:srgbClr val="59636E"/>
                </a:solidFill>
                <a:latin typeface="Calibri"/>
              </a:rPr>
              <a:t>Every number in Part 3 can be recomputed in Sections 2 and 3 of the program; Part 4 is the output of the same program.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1. Training and deployment have different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Section 1 of the paper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8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5412"/>
                <a:gridCol w="2284133"/>
                <a:gridCol w="228413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Amount of data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very large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one input at a time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Time limit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may run for days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real-time response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many GPUs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phone or server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Suitable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large model or ensemble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small model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4E79"/>
                </a:solidFill>
                <a:latin typeface="Calibri"/>
              </a:rPr>
              <a:t>Teacher model</a:t>
            </a:r>
          </a:p>
          <a:p>
            <a:pPr algn="ctr"/>
            <a:r>
              <a:rPr sz="1600" b="0">
                <a:solidFill>
                  <a:srgbClr val="1F4E79"/>
                </a:solidFill>
                <a:latin typeface="Calibri"/>
              </a:rPr>
              <a:t>large, trained, accurate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E7A45"/>
                </a:solidFill>
                <a:latin typeface="Calibri"/>
              </a:rPr>
              <a:t>soft targets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7A45"/>
                </a:solidFill>
                <a:latin typeface="Calibri"/>
              </a:rPr>
              <a:t>Student model</a:t>
            </a:r>
          </a:p>
          <a:p>
            <a:pPr algn="ctr"/>
            <a:r>
              <a:rPr sz="1600" b="0">
                <a:solidFill>
                  <a:srgbClr val="1E7A45"/>
                </a:solidFill>
                <a:latin typeface="Calibri"/>
              </a:rPr>
              <a:t>small, fast, for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Calibri"/>
              </a:rPr>
              <a:t>Distillation: train the large model first,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Calibri"/>
              </a:rPr>
              <a:t>then transfer its knowledge to a small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Calibri"/>
              </a:rPr>
              <a:t>The knowledge of a model is commonly identified with its parameters; under this view, the knowledge is lost when the architecture changes.</a:t>
            </a:r>
          </a:p>
          <a:p>
            <a:r>
              <a:rPr sz="1800" b="0">
                <a:solidFill>
                  <a:srgbClr val="202020"/>
                </a:solidFill>
                <a:latin typeface="Calibri"/>
              </a:rPr>
              <a:t>The paper takes another view: knowledge is the mapping from inputs to outputs that the model has learned.</a:t>
            </a:r>
          </a:p>
          <a:p>
            <a:r>
              <a:rPr sz="1800" b="0">
                <a:solidFill>
                  <a:srgbClr val="202020"/>
                </a:solidFill>
                <a:latin typeface="Calibri"/>
              </a:rPr>
              <a:t>Under this view, the knowledge has been transferred once the small model gives outputs similar to the large model for every input.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1. The probabilities of wrong answers carry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Examples from Section 1 of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Calibri"/>
              </a:rPr>
              <a:t>A trained classifier assigns a probability not only to the correct class but also to every wrong class. These probabilities differ in size and reflect how the model views the input.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75840"/>
                <a:gridCol w="1991359"/>
                <a:gridCol w="2133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 photo of a BMW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mistaken for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probability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a garbage truck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very small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a carrot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many times smaller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0040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75840"/>
                <a:gridCol w="1991359"/>
                <a:gridCol w="2133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 handwritten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mistaken for 3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mistaken for 7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written one way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written another way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1920240"/>
            <a:ext cx="4114800" cy="2286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The first 2 looks more like a 3;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the second looks more like a 7.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/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This similarity between data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cannot be obtained from the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correct answers alone.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Calibri"/>
              </a:rPr>
              <a:t>Problem: 10⁻⁶ and 10⁻⁹ are so close to 0 that they hardly affect the ordinary cross-entropy loss of the student.</a:t>
            </a:r>
          </a:p>
          <a:p>
            <a:pPr algn="l"/>
            <a:r>
              <a:rPr sz="1800" b="1">
                <a:solidFill>
                  <a:srgbClr val="C03030"/>
                </a:solidFill>
                <a:latin typeface="Calibri"/>
              </a:rPr>
              <a:t>Solution: raise the temperature of the softmax so that these small probabilities become larger (Part 2).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Worked example: a handwritten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Used from this slide to slide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Calibri"/>
              </a:rPr>
              <a:t>The last layer of a neural network outputs numbers called logits; the softmax converts them into probabilities.</a:t>
            </a:r>
          </a:p>
          <a:p>
            <a:r>
              <a:rPr sz="1700" b="0">
                <a:solidFill>
                  <a:srgbClr val="202020"/>
                </a:solidFill>
                <a:latin typeface="Calibri"/>
              </a:rPr>
              <a:t>To allow hand calculation, only the three classes "2, 3, 7" are used.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574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0611"/>
                <a:gridCol w="1506070"/>
                <a:gridCol w="1506070"/>
                <a:gridCol w="16136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Teacher logit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Student logit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Correct answer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675120" y="2057400"/>
            <a:ext cx="493776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Calibri"/>
              </a:rPr>
              <a:t>The teacher is sure it is a 2</a:t>
            </a:r>
          </a:p>
          <a:p>
            <a:pPr algn="l"/>
            <a:r>
              <a:rPr sz="1900" b="1">
                <a:solidFill>
                  <a:srgbClr val="1F4E79"/>
                </a:solidFill>
                <a:latin typeface="Calibri"/>
              </a:rPr>
              <a:t>and considers 3 more likely than 7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3520440"/>
            <a:ext cx="493776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59636E"/>
                </a:solidFill>
                <a:latin typeface="Calibri"/>
              </a:rPr>
              <a:t>The student is not yet trained:</a:t>
            </a:r>
          </a:p>
          <a:p>
            <a:pPr algn="l"/>
            <a:r>
              <a:rPr sz="1900" b="1">
                <a:solidFill>
                  <a:srgbClr val="59636E"/>
                </a:solidFill>
                <a:latin typeface="Calibri"/>
              </a:rPr>
              <a:t>it identifies the 2 but treats 3 and 7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Calibri"/>
              </a:rPr>
              <a:t>These numbers are made up for hand calculation; they are not the output of a real model.</a:t>
            </a:r>
          </a:p>
          <a:p>
            <a:r>
              <a:rPr sz="1700" b="0">
                <a:solidFill>
                  <a:srgbClr val="59636E"/>
                </a:solidFill>
                <a:latin typeface="Calibri"/>
              </a:rPr>
              <a:t>The temperature T and the weight α are introduced when they are first used.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2. Softmax step by step: 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Equation (1) of the paper; T = 1 is the ordinary softmax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Calibri"/>
              </a:rPr>
              <a:t>T is called the temperature. Every logit is first divided by T;</a:t>
            </a:r>
          </a:p>
          <a:p>
            <a:r>
              <a:rPr sz="1700" b="0">
                <a:solidFill>
                  <a:srgbClr val="202020"/>
                </a:solidFill>
                <a:latin typeface="Calibri"/>
              </a:rPr>
              <a:t>then the ordinary softmax is applied: exponentiate and divide by the sum.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Teacher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Step 1 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Step 2 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Step 3  sum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Step 4 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Calibri"/>
              </a:rPr>
              <a:t>The probabilities of 3 and 7 are 0.0180 and 0.0003, both close to 0.</a:t>
            </a:r>
          </a:p>
          <a:p>
            <a:pPr algn="l"/>
            <a:r>
              <a:rPr sz="1800" b="1">
                <a:solidFill>
                  <a:srgbClr val="C03030"/>
                </a:solidFill>
                <a:latin typeface="Calibri"/>
              </a:rPr>
              <a:t>The information "3 is more likely than 7" is present but hardly affects the cross entropy.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Calibri"/>
              </a:rPr>
              <a:t>Check: exp(8) = 2980.9580, exp(4) = 54.5982, exp(0) = 1; their sum is 3036.5561.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2. Softmax step by step: 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The same teacher logits, with the temperature changed to 4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Calibri"/>
              </a:rPr>
              <a:t>Dividing by 4 in step 1 shrinks the differences between</a:t>
            </a:r>
          </a:p>
          <a:p>
            <a:r>
              <a:rPr sz="1700" b="0">
                <a:solidFill>
                  <a:srgbClr val="202020"/>
                </a:solidFill>
                <a:latin typeface="Calibri"/>
              </a:rPr>
              <a:t>the logits to a quarter, and so shrinks the exponentials.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Teacher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Step 1 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Step 2 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Step 3  sum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Step 4 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The probabilities of 3 and 7 become 0.2447 and 0.0900.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At the higher temperature, the probabilities of the wrong classes are large enough to affect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Calibri"/>
              </a:rPr>
              <a:t>Check: exp(2) = 7.3891, exp(1) = 2.7183, exp(0) = 1; their sum is 11.1073.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2. Soft targets and hard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The same 2 at two temperatures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P(3) ÷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Calibri"/>
              </a:rPr>
              <a:t>The ratio equals exp((4 − 0)/T):</a:t>
            </a:r>
          </a:p>
          <a:p>
            <a:r>
              <a:rPr sz="1500" b="0">
                <a:solidFill>
                  <a:srgbClr val="59636E"/>
                </a:solidFill>
                <a:latin typeface="Calibri"/>
              </a:rPr>
              <a:t>e⁴ = 54.60 at T = 1 and e¹ = 2.72 at T = 4.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Calibri"/>
              </a:rPr>
              <a:t>Soft targets: the teacher's probabilities at a high temperature, e.g.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Hard target: the correct answer itself, 1 for class 2 and 0 elsewhere, i.e.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Calibri"/>
              </a:rPr>
              <a:t>Soft targets carry more information than hard targets, and the gradient varies less between training cases; the paper notes that the student can therefore be trained on less data with a higher learning rate.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3. The distillation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Section 2 of the paper: a weighted average of two objective functions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01168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Calibri"/>
              </a:rPr>
              <a:t>Soft-target term: the teacher's p and the student's q are both computed at the same temperature T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Calibri"/>
              </a:rPr>
              <a:t>Hard-target term: the negative log of the student's probability of the correct class at T =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Calibri"/>
              </a:rPr>
              <a:t>α: weight of the soft-target term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Calibri"/>
              </a:rPr>
              <a:t>The paper reports that a low weight on the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Calibri"/>
              </a:rPr>
              <a:t>hard-target term works best; here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79476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C03030"/>
                </a:solidFill>
                <a:latin typeface="Calibri"/>
              </a:rPr>
              <a:t>T²: the soft-target gradients scale as 1/T²;</a:t>
            </a:r>
          </a:p>
          <a:p>
            <a:pPr algn="l"/>
            <a:r>
              <a:rPr sz="1700" b="0">
                <a:solidFill>
                  <a:srgbClr val="C03030"/>
                </a:solidFill>
                <a:latin typeface="Calibri"/>
              </a:rPr>
              <a:t>multiplying by T² keeps the balance of the two</a:t>
            </a:r>
          </a:p>
          <a:p>
            <a:pPr algn="l"/>
            <a:r>
              <a:rPr sz="1700" b="0">
                <a:solidFill>
                  <a:srgbClr val="C03030"/>
                </a:solidFill>
                <a:latin typeface="Calibri"/>
              </a:rPr>
              <a:t>terms when T changes (verified on slide 12)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E7A45"/>
                </a:solidFill>
                <a:latin typeface="Calibri"/>
              </a:rPr>
              <a:t>After training, the student is used at T = 1.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3. Computing C_soft step by step: 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Apply the softmax to the student's z = (4, 2, 2), then take the cross entropy with the teacher's 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Student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sum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Student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Calibri"/>
              </a:rPr>
              <a:t>At T = 4 the student</a:t>
            </a:r>
          </a:p>
          <a:p>
            <a:r>
              <a:rPr sz="1500" b="0">
                <a:solidFill>
                  <a:srgbClr val="59636E"/>
                </a:solidFill>
                <a:latin typeface="Calibri"/>
              </a:rPr>
              <a:t>gives 3 and 7 the</a:t>
            </a:r>
          </a:p>
          <a:p>
            <a:r>
              <a:rPr sz="1500" b="0">
                <a:solidFill>
                  <a:srgbClr val="59636E"/>
                </a:solidFill>
                <a:latin typeface="Calibri"/>
              </a:rPr>
              <a:t>same probability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Teacher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Calibri"/>
              </a:rPr>
              <a:t>Sum of the three rows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Calibri"/>
              </a:rPr>
              <a:t>C_soft = −(sum)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Calibri"/>
              </a:rPr>
              <a:t>log is the natural logarithm. Each entry is rounded to four decimal places; the sum uses the unrounded values.</a:t>
            </a:r>
          </a:p>
          <a:p>
            <a:r>
              <a:rPr sz="1600" b="0">
                <a:solidFill>
                  <a:srgbClr val="202020"/>
                </a:solidFill>
                <a:latin typeface="Calibri"/>
              </a:rPr>
              <a:t>C_soft is smallest when the student's q equals the teacher's p, and grows as they differ.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3. Computing C_hard and the total loss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C_hard is computed at T = 1; α = 0.9, 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Student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sum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Calibr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Student q (T=1)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E7A45"/>
                </a:solidFill>
                <a:latin typeface="Calibri"/>
              </a:rPr>
              <a:t>The correct answer is 2</a:t>
            </a:r>
          </a:p>
          <a:p>
            <a:pPr algn="ctr"/>
            <a:r>
              <a:rPr sz="1700" b="1">
                <a:solidFill>
                  <a:srgbClr val="1E7A45"/>
                </a:solidFill>
                <a:latin typeface="Calibri"/>
              </a:rPr>
              <a:t>C_hard = −log 0.7870</a:t>
            </a:r>
          </a:p>
          <a:p>
            <a:pPr algn="ctr"/>
            <a:r>
              <a:rPr sz="1700" b="1">
                <a:solidFill>
                  <a:srgbClr val="1E7A45"/>
                </a:solidFill>
                <a:latin typeface="Calibr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08092"/>
                <a:gridCol w="5265174"/>
                <a:gridCol w="280809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Expression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Soft-target term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Hard-target term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Total loss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sum of the two terms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alibri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Calibri"/>
              </a:rPr>
              <a:t>The soft-target term is multiplied by T² = 16, so its value is larger than the hard-target term; the contribution of each term to the gradient is on the next slide.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3. Computing the gradient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Equation (2): gradient of the soft-target term with respect to the student logits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Calibri"/>
              </a:rPr>
              <a:t>The gradient of the hard-target term is that of the ordinary cross entropy: 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÷ T (eq. 2)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Total gradient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Calibri"/>
              </a:rPr>
              <a:t>Gradient descent moves against the gradient: the logit of 2 increases, the logit of 7 decreases most, and the logit of 3 decreases slightly.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Calibri"/>
              </a:rPr>
              <a:t>The student thus moves toward the teacher's view: "2 most likely, 3 second, 7 least likely".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Calibri"/>
              </a:rPr>
              <a:t>Section 3 of the Colab program recomputes these values with TensorFlow's automatic differentiation (GradientTape)</a:t>
            </a:r>
          </a:p>
          <a:p>
            <a:r>
              <a:rPr sz="1600" b="0">
                <a:solidFill>
                  <a:srgbClr val="59636E"/>
                </a:solidFill>
                <a:latin typeface="Calibri"/>
              </a:rPr>
              <a:t>and obtains the same loss, 13.8732, and the same total gradient.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3. Why multiply by T², and the high-temperature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Equations (2) to (4) of the paper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largest |gradient|, eq. (2)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times T²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Calibri"/>
              </a:rPr>
              <a:t>From T = 4 to T = 20 the gradient shrinks about 20 times,</a:t>
            </a:r>
          </a:p>
          <a:p>
            <a:r>
              <a:rPr sz="1500" b="0">
                <a:solidFill>
                  <a:srgbClr val="202020"/>
                </a:solidFill>
                <a:latin typeface="Calibri"/>
              </a:rPr>
              <a:t>close to (20/4)² = 25. After multiplying by T²</a:t>
            </a:r>
          </a:p>
          <a:p>
            <a:r>
              <a:rPr sz="1500" b="0">
                <a:solidFill>
                  <a:srgbClr val="202020"/>
                </a:solidFill>
                <a:latin typeface="Calibri"/>
              </a:rPr>
              <a:t>the values are 0.85 and 1.05, of similar size.</a:t>
            </a:r>
          </a:p>
          <a:p>
            <a:r>
              <a:rPr sz="1500" b="0">
                <a:solidFill>
                  <a:srgbClr val="202020"/>
                </a:solidFill>
                <a:latin typeface="Calibri"/>
              </a:rPr>
              <a:t>The 1/T² scaling is a high-temperature approximation;</a:t>
            </a:r>
          </a:p>
          <a:p>
            <a:r>
              <a:rPr sz="1500" b="0">
                <a:solidFill>
                  <a:srgbClr val="202020"/>
                </a:solidFill>
                <a:latin typeface="Calibri"/>
              </a:rPr>
              <a:t>T = 1 is outside its range.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Calibri"/>
              </a:rPr>
              <a:t>Conditions: logits zero-meaned and T much larger than</a:t>
            </a:r>
          </a:p>
          <a:p>
            <a:r>
              <a:rPr sz="1500" b="0">
                <a:solidFill>
                  <a:srgbClr val="202020"/>
                </a:solidFill>
                <a:latin typeface="Calibri"/>
              </a:rPr>
              <a:t>the logits. N is the number of classes. This minimizes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Eq. (2), exact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Eq. (4), approx.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9636E"/>
                </a:solidFill>
                <a:latin typeface="Calibri"/>
              </a:rPr>
              <a:t>T = 20; zero-meaned z = (1.33, −0.67, −0.67), 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Calibri"/>
              </a:rPr>
              <a:t>At high temperature, distillation makes the student's logits match the teacher's; at lower temperature, very negative logits need not match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New data: MNIST handwritten digits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From this slide to the end, the results come from the Colab program knowledge_distillation_en.ipynb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Section 3 of the paper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Colab program of this module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Training data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60,000 images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10,000 images (1,000 of each digit)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Test data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10,000 images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10,000 images (the same test set)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Teacher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1200-1200, Dropout, 2-pixel shifts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1200-1200, Dropout, 2-pixel shifts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800-800, no regularization; also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100-100, no regularization; also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20 (and several others)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1, 2, 4, 8, 20; 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Calibri"/>
              </a:rPr>
              <a:t>1200-1200 means two hidden layers with 1,200 units each.</a:t>
            </a:r>
          </a:p>
          <a:p>
            <a:r>
              <a:rPr sz="1600" b="0">
                <a:solidFill>
                  <a:srgbClr val="202020"/>
                </a:solidFill>
                <a:latin typeface="Calibri"/>
              </a:rPr>
              <a:t>The data and the models are smaller than in the paper, so the error counts differ; the question is whether the three trends agree.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4. Result 1: the distilled student makes fewer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Number of errors on the 10,000 test images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2165"/>
                <a:gridCol w="1518557"/>
                <a:gridCol w="151855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This module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Teacher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Student, hard labels only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Student, distilled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74 (T = 20)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alibri"/>
                        </a:rPr>
                        <a:t>319 (T = 20)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Calibri"/>
              </a:rPr>
              <a:t>This module: distillation narrows the gap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Calibri"/>
              </a:rPr>
              <a:t>between student and teacher from 198 to 97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Calibri"/>
              </a:rPr>
              <a:t>In the paper, the teacher was trained on shifted images,</a:t>
            </a:r>
          </a:p>
          <a:p>
            <a:r>
              <a:rPr sz="1600" b="0">
                <a:solidFill>
                  <a:srgbClr val="202020"/>
                </a:solidFill>
                <a:latin typeface="Calibri"/>
              </a:rPr>
              <a:t>while the student's transfer set had no shifted images.</a:t>
            </a:r>
          </a:p>
          <a:p>
            <a:r>
              <a:rPr sz="1600" b="0">
                <a:solidFill>
                  <a:srgbClr val="202020"/>
                </a:solidFill>
                <a:latin typeface="Calibri"/>
              </a:rPr>
              <a:t>The student still learned how the teacher handles shifts,</a:t>
            </a:r>
          </a:p>
          <a:p>
            <a:r>
              <a:rPr sz="1600" b="0">
                <a:solidFill>
                  <a:srgbClr val="202020"/>
                </a:solidFill>
                <a:latin typeface="Calibri"/>
              </a:rPr>
              <a:t>because this information is contained in the soft targets.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636E"/>
                </a:solidFill>
                <a:latin typeface="Calibri"/>
              </a:rPr>
              <a:t>Blue line: student 100-100. At every temperature it makes fewer errors than the dashed line (hard labels only).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4. Result 2: a very small student needs a medium temperature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The student is reduced to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8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40940"/>
                <a:gridCol w="1814169"/>
                <a:gridCol w="181416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Student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Student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hard labels only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Paper: with ≥ 300 units per layer, all T above 8 give similar results; with 30 units, T = 2.5 to 4 is clearly best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Calibri"/>
              </a:rPr>
              <a:t>This module: 30-30 is best at T = 4 (498 errors); at T = 20 it is worse than with hard labels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Calibri"/>
              </a:rPr>
              <a:t>Explanation: a higher temperature is closer to logit matching, which also requires matching very negative logits; a student with too little capacity is hurt by this.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4. Result 3: a student that has never seen 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All 3s removed from the transfer set (9,000 images left here); the test set has 1,010 threes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87389"/>
                <a:gridCol w="1837112"/>
                <a:gridCol w="2119745"/>
                <a:gridCol w="183711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Total errors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Errors on 3s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3s correct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This module: hard labels only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This module: distilled,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This module: distilled, 3.0 added to the logit of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Paper: distilled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Paper: distilled, bias of 3 increased by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59636E"/>
                </a:solidFill>
                <a:latin typeface="Calibri"/>
              </a:rPr>
              <a:t>Hard labels only: no training image has the</a:t>
            </a:r>
          </a:p>
          <a:p>
            <a:pPr algn="l"/>
            <a:r>
              <a:rPr sz="1600" b="1">
                <a:solidFill>
                  <a:srgbClr val="59636E"/>
                </a:solidFill>
                <a:latin typeface="Calibri"/>
              </a:rPr>
              <a:t>answer 3, so the student can never answer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Distillation: the teacher's soft targets contain</a:t>
            </a:r>
          </a:p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information such as "this 8 looks a little like a 3",</a:t>
            </a:r>
          </a:p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from which the student learns the features of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Calibri"/>
              </a:rPr>
              <a:t>Most misclassified 3s are caused by a learned bias for class 3 that is too low: no training image has the answer 3.</a:t>
            </a:r>
          </a:p>
          <a:p>
            <a:r>
              <a:rPr sz="1600" b="0">
                <a:solidFill>
                  <a:srgbClr val="202020"/>
                </a:solidFill>
                <a:latin typeface="Calibri"/>
              </a:rPr>
              <a:t>The paper chose the correction on the test set, and this module does the same; the corrected numbers are therefore optimistic.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Other results of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Calibri"/>
              </a:rPr>
              <a:t>Section 4 speech recognition, Section 5 specialist models, Section 6 soft targets as regularizers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97480"/>
                <a:gridCol w="1573530"/>
                <a:gridCol w="112395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Frame accuracy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Single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Ensemble of 10 models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Distilled single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020"/>
                </a:solidFill>
                <a:latin typeface="Calibri"/>
              </a:rPr>
              <a:t>Acoustic model of Android voice search: more than 80% of</a:t>
            </a:r>
          </a:p>
          <a:p>
            <a:r>
              <a:rPr sz="1400" b="0">
                <a:solidFill>
                  <a:srgbClr val="202020"/>
                </a:solidFill>
                <a:latin typeface="Calibri"/>
              </a:rPr>
              <a:t>the ensemble's improvement is transferred to one model of</a:t>
            </a:r>
          </a:p>
          <a:p>
            <a:r>
              <a:rPr sz="1400" b="0">
                <a:solidFill>
                  <a:srgbClr val="202020"/>
                </a:solidFill>
                <a:latin typeface="Calibri"/>
              </a:rPr>
              <a:t>the same size.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658389"/>
                <a:gridCol w="17768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Training data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Test accuracy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Hard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Hard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Soft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alibri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020"/>
                </a:solidFill>
                <a:latin typeface="Calibri"/>
              </a:rPr>
              <a:t>With only 3% of the data, soft targets come close to the</a:t>
            </a:r>
          </a:p>
          <a:p>
            <a:r>
              <a:rPr sz="1400" b="0">
                <a:solidFill>
                  <a:srgbClr val="202020"/>
                </a:solidFill>
                <a:latin typeface="Calibri"/>
              </a:rPr>
              <a:t>result of the full data; hard targets overfit severely</a:t>
            </a:r>
          </a:p>
          <a:p>
            <a:r>
              <a:rPr sz="1400" b="0">
                <a:solidFill>
                  <a:srgbClr val="202020"/>
                </a:solidFill>
                <a:latin typeface="Calibri"/>
              </a:rPr>
              <a:t>and need early stopping.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0">
                <a:solidFill>
                  <a:srgbClr val="1F4E79"/>
                </a:solidFill>
                <a:latin typeface="Calibri"/>
              </a:rPr>
              <a:t>Specialist models: on JFT (100 million images, 15,000 classes), 61 extra models, each specializing in a group of</a:t>
            </a:r>
          </a:p>
          <a:p>
            <a:pPr algn="l"/>
            <a:r>
              <a:rPr sz="1600" b="0">
                <a:solidFill>
                  <a:srgbClr val="1F4E79"/>
                </a:solidFill>
                <a:latin typeface="Calibri"/>
              </a:rPr>
              <a:t>easily confused classes, are used with the original model; test accuracy rises from 25.0% to 26.1%.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636E"/>
                </a:solidFill>
                <a:latin typeface="Calibri"/>
              </a:rPr>
              <a:t>These numbers are taken from Tables 1, 3, and 5 of the paper; this module does not repeat these experiments.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Calibri"/>
              </a:rPr>
              <a:t>Summary and exercises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1  The higher the temperature T, the more even the softmax, and the more visible the information in the wrong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2  Loss = α T² × soft-target cross entropy + (1 − α) × hard-target cross entropy; T² cancels the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3  At high temperature the limit is logit matching; a very small student works best at a medium temperature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C03030"/>
                </a:solidFill>
                <a:latin typeface="Calibri"/>
              </a:rPr>
              <a:t>Exercise 1  At T = 2, what are the soft targets of the teacher logits v = (8, 4, 0)? Use the four steps of slide 5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C03030"/>
                </a:solidFill>
                <a:latin typeface="Calibri"/>
              </a:rPr>
              <a:t>Exercise 2  Change the student logits to z = (8, 4, 0), identical to the teacher. What is the gradient in eq. (2), and why?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C03030"/>
                </a:solidFill>
                <a:latin typeface="Calibri"/>
              </a:rPr>
              <a:t>Exercise 3  In Section 7 of the Colab program, remove the digit 7 instead, and record the share of 7s classified correctly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9636E"/>
                </a:solidFill>
                <a:latin typeface="Calibri"/>
              </a:rPr>
              <a:t>Exercise 1 can be checked in Section 2 of the program with T = 2; Exercise 2 in Section 3.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