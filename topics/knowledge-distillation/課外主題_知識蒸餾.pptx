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ver_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051560"/>
            <a:ext cx="5760720" cy="42793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737360"/>
            <a:ext cx="5303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Microsoft JhengHei"/>
              </a:rPr>
              <a:t>知識蒸餾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43200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Microsoft JhengHei"/>
              </a:rPr>
              <a:t>Knowledge Distillation (KD)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611880"/>
            <a:ext cx="2743200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840480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7D6E5"/>
                </a:solidFill>
                <a:latin typeface="Microsoft JhengHei"/>
              </a:rPr>
              <a:t>依據 Hinton、Vinyals、Dean（2015）</a:t>
            </a:r>
          </a:p>
          <a:p>
            <a:pPr algn="l"/>
            <a:r>
              <a:rPr sz="1700" b="0">
                <a:solidFill>
                  <a:srgbClr val="C7D6E5"/>
                </a:solidFill>
                <a:latin typeface="Microsoft JhengHei"/>
              </a:rPr>
              <a:t>Distilling the Knowledge in a Neural Network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08076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7D6E5"/>
                </a:solidFill>
                <a:latin typeface="Microsoft JhengHei"/>
              </a:rPr>
              <a:t>© 2026 海事AI實驗室 Maritime AI Lab　版權所有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什麼是知識蒸餾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依據 Hinton、Vinyals、Dean（2015）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2588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35000"/>
              </a:lnSpc>
            </a:pPr>
            <a:r>
              <a:rPr sz="2100" b="0">
                <a:solidFill>
                  <a:srgbClr val="202020"/>
                </a:solidFill>
                <a:latin typeface="Microsoft JhengHei"/>
              </a:rPr>
              <a:t>為了讓準確的模型能部署給大量使用者即時使用，必須解決一個矛盾：訓練時，笨重模型最能從資料中學到規律，例如多個模型的組合，或以強正則化訓練的大型網路；部署時，需要的卻是小而快的模型；而直接以正確標籤訓練小模型，又學不到笨重模型的類推方式。因此，先訓練好笨重模型，並把它的知識視為從輸入到輸出的對應，而非特定的參數值。接著提高 softmax 的溫度，讓笨重模型對每一個類別給出較平均的機率，稱為軟目標；軟目標保留了錯誤類別之間的相對機率，例如某個 2 像 3 的程度高於像 7。最後讓小模型在同樣的溫度下學習軟目標，同時學習正確標籤，使它能以較少的資料，學到與笨重模型相近的類推方式。這個把笨重模型的知識移轉到小模型的訓練過程，稱之為</a:t>
            </a:r>
            <a:r>
              <a:rPr sz="7200" b="1">
                <a:solidFill>
                  <a:srgbClr val="C03030"/>
                </a:solidFill>
                <a:latin typeface="Microsoft JhengHei"/>
              </a:rPr>
              <a:t>知識蒸餾</a:t>
            </a:r>
            <a:r>
              <a:rPr sz="2100" b="0">
                <a:solidFill>
                  <a:srgbClr val="202020"/>
                </a:solidFill>
                <a:latin typeface="Microsoft JhengHei"/>
              </a:rPr>
              <a:t>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知識蒸餾的過程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把上一頁的一段話拆成步驟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097280"/>
            <a:ext cx="11109960" cy="96012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800" b="1">
                <a:solidFill>
                  <a:srgbClr val="C03030"/>
                </a:solidFill>
                <a:latin typeface="Microsoft JhengHei"/>
              </a:rPr>
              <a:t>問題：訓練時笨重模型最能從資料中學到規律，部署時卻需要小而快的模型；直接以正確標籤訓練小模型，又學不到笨重模型的類推方式。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31720"/>
            <a:ext cx="2468880" cy="2240280"/>
          </a:xfrm>
          <a:prstGeom prst="roundRect">
            <a:avLst/>
          </a:prstGeom>
          <a:solidFill>
            <a:srgbClr val="DAE6F2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900" b="1">
                <a:solidFill>
                  <a:srgbClr val="1F4E79"/>
                </a:solidFill>
                <a:latin typeface="Microsoft JhengHei"/>
              </a:rPr>
              <a:t>① 訓練笨重模型</a:t>
            </a:r>
          </a:p>
          <a:p>
            <a:pPr algn="just"/>
            <a:r>
              <a:rPr sz="1500" b="0">
                <a:solidFill>
                  <a:srgbClr val="202020"/>
                </a:solidFill>
                <a:latin typeface="Microsoft JhengHei"/>
              </a:rPr>
              <a:t>多個模型的組合，或以強正則化訓練的大型網路；知識視為從輸入到輸出的對應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044952" y="3451860"/>
            <a:ext cx="356616" cy="0"/>
          </a:xfrm>
          <a:prstGeom prst="line">
            <a:avLst/>
          </a:prstGeom>
          <a:ln w="38100">
            <a:solidFill>
              <a:srgbClr val="1E7A4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429000" y="2331720"/>
            <a:ext cx="2468880" cy="2240280"/>
          </a:xfrm>
          <a:prstGeom prst="roundRect">
            <a:avLst/>
          </a:prstGeom>
          <a:solidFill>
            <a:srgbClr val="DAE6F2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900" b="1">
                <a:solidFill>
                  <a:srgbClr val="1F4E79"/>
                </a:solidFill>
                <a:latin typeface="Microsoft JhengHei"/>
              </a:rPr>
              <a:t>② 產生軟目標</a:t>
            </a:r>
          </a:p>
          <a:p>
            <a:pPr algn="just"/>
            <a:r>
              <a:rPr sz="1500" b="0">
                <a:solidFill>
                  <a:srgbClr val="202020"/>
                </a:solidFill>
                <a:latin typeface="Microsoft JhengHei"/>
              </a:rPr>
              <a:t>提高 softmax 的溫度，得到較平均的類別機率，保留錯誤類別之間的相對機率，例如某個 2 像 3 多於像 7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25312" y="3451860"/>
            <a:ext cx="356616" cy="0"/>
          </a:xfrm>
          <a:prstGeom prst="line">
            <a:avLst/>
          </a:prstGeom>
          <a:ln w="38100">
            <a:solidFill>
              <a:srgbClr val="1E7A4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309360" y="2331720"/>
            <a:ext cx="2468880" cy="2240280"/>
          </a:xfrm>
          <a:prstGeom prst="roundRect">
            <a:avLst/>
          </a:prstGeom>
          <a:solidFill>
            <a:srgbClr val="DAE6F2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900" b="1">
                <a:solidFill>
                  <a:srgbClr val="1F4E79"/>
                </a:solidFill>
                <a:latin typeface="Microsoft JhengHei"/>
              </a:rPr>
              <a:t>③ 訓練小模型</a:t>
            </a:r>
          </a:p>
          <a:p>
            <a:pPr algn="just"/>
            <a:r>
              <a:rPr sz="1500" b="0">
                <a:solidFill>
                  <a:srgbClr val="202020"/>
                </a:solidFill>
                <a:latin typeface="Microsoft JhengHei"/>
              </a:rPr>
              <a:t>在同樣的溫度下學習軟目標，同時學習正確標籤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805672" y="3451860"/>
            <a:ext cx="356616" cy="0"/>
          </a:xfrm>
          <a:prstGeom prst="line">
            <a:avLst/>
          </a:prstGeom>
          <a:ln w="38100">
            <a:solidFill>
              <a:srgbClr val="1E7A4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189720" y="2331720"/>
            <a:ext cx="2468880" cy="2240280"/>
          </a:xfrm>
          <a:prstGeom prst="roundRect">
            <a:avLst/>
          </a:prstGeom>
          <a:solidFill>
            <a:srgbClr val="DCF0E4"/>
          </a:solidFill>
          <a:ln w="25400">
            <a:solidFill>
              <a:srgbClr val="1E7A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900" b="1">
                <a:solidFill>
                  <a:srgbClr val="1E7A45"/>
                </a:solidFill>
                <a:latin typeface="Microsoft JhengHei"/>
              </a:rPr>
              <a:t>結果</a:t>
            </a:r>
          </a:p>
          <a:p>
            <a:pPr algn="just"/>
            <a:r>
              <a:rPr sz="1500" b="0">
                <a:solidFill>
                  <a:srgbClr val="202020"/>
                </a:solidFill>
                <a:latin typeface="Microsoft JhengHei"/>
              </a:rPr>
              <a:t>小模型以較少的資料，學到與笨重模型相近的類推方式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92040"/>
            <a:ext cx="1110996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0">
                <a:solidFill>
                  <a:srgbClr val="202020"/>
                </a:solidFill>
                <a:latin typeface="Microsoft JhengHei"/>
              </a:rPr>
              <a:t>這個訓練過程稱之為　</a:t>
            </a:r>
            <a:r>
              <a:rPr sz="5400" b="1">
                <a:solidFill>
                  <a:srgbClr val="C03030"/>
                </a:solidFill>
                <a:latin typeface="Microsoft JhengHei"/>
              </a:rPr>
              <a:t>知識蒸餾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本教材大綱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依據 Hinton、Vinyals、Dean（2015）Distilling the Knowledge in a Neural Network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10881358" cy="197510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67937"/>
                <a:gridCol w="7403811"/>
                <a:gridCol w="100961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重點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頁次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一　緒論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訓練與部署的需求不同；錯誤答案的相對機率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5–6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二　軟目標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帶溫度的 softmax 四步計算；T = 1 與 T = 4 的比較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7–10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三　蒸餾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L = α T² C_soft + (1 − α) C_hard 逐步計算；梯度；為什麼乘 T²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11–15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四　MNIST 初步實驗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測試錯誤數較少；很小的網路取中間溫度；未曾見過的數字 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16–20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整理與練習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三個要點與三題練習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21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31520" y="3429000"/>
            <a:ext cx="10881360" cy="146304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700" b="1">
                <a:solidFill>
                  <a:srgbClr val="1E7A45"/>
                </a:solidFill>
                <a:latin typeface="Microsoft JhengHei"/>
              </a:rPr>
              <a:t>學完本教材，能夠：</a:t>
            </a:r>
          </a:p>
          <a:p>
            <a:pPr algn="just"/>
            <a:r>
              <a:rPr sz="1700" b="1">
                <a:solidFill>
                  <a:srgbClr val="1E7A45"/>
                </a:solidFill>
                <a:latin typeface="Microsoft JhengHei"/>
              </a:rPr>
              <a:t>1. 手算帶溫度的 softmax，說明軟目標比硬目標多傳遞了什麼資訊</a:t>
            </a:r>
          </a:p>
          <a:p>
            <a:pPr algn="just"/>
            <a:r>
              <a:rPr sz="1700" b="1">
                <a:solidFill>
                  <a:srgbClr val="1E7A45"/>
                </a:solidFill>
                <a:latin typeface="Microsoft JhengHei"/>
              </a:rPr>
              <a:t>2. 寫出蒸餾的目標函數，逐步算出其值與梯度</a:t>
            </a:r>
          </a:p>
          <a:p>
            <a:pPr algn="just"/>
            <a:r>
              <a:rPr sz="1700" b="1">
                <a:solidFill>
                  <a:srgbClr val="1E7A45"/>
                </a:solidFill>
                <a:latin typeface="Microsoft JhengHei"/>
              </a:rPr>
              <a:t>3. 在 Colab 訓練笨重模型與蒸餾模型，並解讀溫度的影響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1663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600" b="0">
                <a:solidFill>
                  <a:srgbClr val="59636E"/>
                </a:solidFill>
                <a:latin typeface="Microsoft JhengHei"/>
              </a:rPr>
              <a:t>附 Colab 程式 knowledge_distillation.ipynb 與資料檔 kd_mnist.npz。</a:t>
            </a:r>
          </a:p>
          <a:p>
            <a:pPr algn="just"/>
            <a:r>
              <a:rPr sz="1600" b="0">
                <a:solidFill>
                  <a:srgbClr val="59636E"/>
                </a:solidFill>
                <a:latin typeface="Microsoft JhengHei"/>
              </a:rPr>
              <a:t>第三部分的每一個數字都可以在 Colab 第 2、3 段重算；第四部分是同一份程式的輸出。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P spid="8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一、緒論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訓練階段與部署階段的需求大不相同（論文第 1 節）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88720"/>
          <a:ext cx="6583679" cy="164592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31234"/>
                <a:gridCol w="2719346"/>
                <a:gridCol w="2433099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訓練階段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部署階段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資料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非常大、高度重複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一次一筆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時間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不必即時完成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延遲要求嚴格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計算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可使用大量運算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運算資源有限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模型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笨重模型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小模型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863840" y="1188720"/>
            <a:ext cx="3566160" cy="1051560"/>
          </a:xfrm>
          <a:prstGeom prst="roundRect">
            <a:avLst/>
          </a:prstGeom>
          <a:solidFill>
            <a:srgbClr val="DAE6F2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F4E79"/>
                </a:solidFill>
                <a:latin typeface="Microsoft JhengHei"/>
              </a:rPr>
              <a:t>笨重模型 cumbersome model</a:t>
            </a:r>
          </a:p>
          <a:p>
            <a:pPr algn="ctr"/>
            <a:r>
              <a:rPr sz="1400" b="0">
                <a:solidFill>
                  <a:srgbClr val="1F4E79"/>
                </a:solidFill>
                <a:latin typeface="Microsoft JhengHei"/>
              </a:rPr>
              <a:t>多個模型的組合，或強正則化的大網路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646920" y="2286000"/>
            <a:ext cx="0" cy="777240"/>
          </a:xfrm>
          <a:prstGeom prst="line">
            <a:avLst/>
          </a:prstGeom>
          <a:ln w="38100">
            <a:solidFill>
              <a:srgbClr val="1E7A4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829800" y="24231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800" b="1">
                <a:solidFill>
                  <a:srgbClr val="1E7A45"/>
                </a:solidFill>
                <a:latin typeface="Microsoft JhengHei"/>
              </a:rPr>
              <a:t>軟目標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3108960"/>
            <a:ext cx="3566160" cy="1051560"/>
          </a:xfrm>
          <a:prstGeom prst="roundRect">
            <a:avLst/>
          </a:prstGeom>
          <a:solidFill>
            <a:srgbClr val="DCF0E4"/>
          </a:solidFill>
          <a:ln w="25400">
            <a:solidFill>
              <a:srgbClr val="1E7A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E7A45"/>
                </a:solidFill>
                <a:latin typeface="Microsoft JhengHei"/>
              </a:rPr>
              <a:t>蒸餾模型 distilled model</a:t>
            </a:r>
          </a:p>
          <a:p>
            <a:pPr algn="ctr"/>
            <a:r>
              <a:rPr sz="1400" b="0">
                <a:solidFill>
                  <a:srgbClr val="1E7A45"/>
                </a:solidFill>
                <a:latin typeface="Microsoft JhengHei"/>
              </a:rPr>
              <a:t>小、適合部署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154680"/>
            <a:ext cx="6583680" cy="100584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900" b="1">
                <a:solidFill>
                  <a:srgbClr val="1E7A45"/>
                </a:solidFill>
                <a:latin typeface="Microsoft JhengHei"/>
              </a:rPr>
              <a:t>蒸餾 distillation：另一種訓練方式，</a:t>
            </a:r>
          </a:p>
          <a:p>
            <a:pPr algn="just"/>
            <a:r>
              <a:rPr sz="1900" b="1">
                <a:solidFill>
                  <a:srgbClr val="1E7A45"/>
                </a:solidFill>
                <a:latin typeface="Microsoft JhengHei"/>
              </a:rPr>
              <a:t>把笨重模型的知識移轉到適合部署的小模型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43484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800" b="0">
                <a:solidFill>
                  <a:srgbClr val="202020"/>
                </a:solidFill>
                <a:latin typeface="Microsoft JhengHei"/>
              </a:rPr>
              <a:t>我們往往把一個訓練好的模型的知識，等同於它學到的參數值；這使人難以看出，如何改變模型的形式而保留同樣的知識。</a:t>
            </a:r>
          </a:p>
          <a:p>
            <a:pPr algn="just"/>
            <a:r>
              <a:rPr sz="1800" b="0">
                <a:solidFill>
                  <a:srgbClr val="202020"/>
                </a:solidFill>
                <a:latin typeface="Microsoft JhengHei"/>
              </a:rPr>
              <a:t>一個較抽象、不綁定特定模型的看法是：知識是模型學到的、從輸入向量到輸出向量的對應。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一、錯誤答案的相對機率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論文第 1 節的例子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800" b="0">
                <a:solidFill>
                  <a:srgbClr val="202020"/>
                </a:solidFill>
                <a:latin typeface="Microsoft JhengHei"/>
              </a:rPr>
              <a:t>學習的副作用是：訓練好的模型會給所有錯誤答案一個機率。這些機率即使很小，彼此仍可相差許多倍，並透露模型傾向如何類推。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2011680"/>
          <a:ext cx="6400799" cy="987552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381693"/>
                <a:gridCol w="1935125"/>
                <a:gridCol w="2083981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一張 BMW 的影像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被誤認為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機會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垃圾車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很小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紅蘿蔔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還要小很多倍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3246120"/>
          <a:ext cx="6400799" cy="987552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381693"/>
                <a:gridCol w="1935125"/>
                <a:gridCol w="2083981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某種寫法的 2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是 3 的機率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是 7 的機率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一種寫法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10⁻⁶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10⁻⁹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另一種寫法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10⁻⁹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10⁻⁶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498079" y="2011680"/>
            <a:ext cx="4114800" cy="224028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900" b="1">
                <a:solidFill>
                  <a:srgbClr val="1E7A45"/>
                </a:solidFill>
                <a:latin typeface="Microsoft JhengHei"/>
              </a:rPr>
              <a:t>這定義了資料之間豐富的相似結構：</a:t>
            </a:r>
          </a:p>
          <a:p>
            <a:pPr algn="just"/>
            <a:r>
              <a:rPr sz="1900" b="1">
                <a:solidFill>
                  <a:srgbClr val="1E7A45"/>
                </a:solidFill>
                <a:latin typeface="Microsoft JhengHei"/>
              </a:rPr>
              <a:t>哪些 2 像 3、哪些 2 像 7。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572000"/>
            <a:ext cx="10881360" cy="118872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800" b="1">
                <a:solidFill>
                  <a:srgbClr val="C03030"/>
                </a:solidFill>
                <a:latin typeface="Microsoft JhengHei"/>
              </a:rPr>
              <a:t>問題：這些機率太接近 0，在移轉階段對交叉熵代價函數幾乎沒有影響。</a:t>
            </a:r>
          </a:p>
          <a:p>
            <a:pPr algn="just"/>
            <a:r>
              <a:rPr sz="1800" b="1">
                <a:solidFill>
                  <a:srgbClr val="C03030"/>
                </a:solidFill>
                <a:latin typeface="Microsoft JhengHei"/>
              </a:rPr>
              <a:t>論文的解法：提高最後一層 softmax 的溫度，直到笨重模型產生夠軟的目標（第二部分）。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Graphic spid="7" grpId="0">
        <p:bldAsOne/>
      </p:bldGraphic>
      <p:bldGraphic spid="8" grpId="0">
        <p:bldAsOne/>
      </p:bldGraphic>
      <p:bldP spid="9" grpId="0" animBg="1"/>
      <p:bldP spid="10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示範資料：一張手寫的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從這一頁到第 15 頁都用這一組數字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900" b="0">
                <a:solidFill>
                  <a:srgbClr val="202020"/>
                </a:solidFill>
                <a:latin typeface="Microsoft JhengHei"/>
              </a:rPr>
              <a:t>logit 是最後一層 softmax 的輸入。為了能手算，只考慮 2、3、7 三個類別。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965960"/>
          <a:ext cx="5852159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900332"/>
                <a:gridCol w="1688123"/>
                <a:gridCol w="1688123"/>
                <a:gridCol w="1575581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笨重模型 v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蒸餾模型 z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正確標籤 y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858000" y="1965960"/>
            <a:ext cx="4754880" cy="1325880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900" b="1">
                <a:solidFill>
                  <a:srgbClr val="1F4E79"/>
                </a:solidFill>
                <a:latin typeface="Microsoft JhengHei"/>
              </a:rPr>
              <a:t>笨重模型確定這是 2，</a:t>
            </a:r>
          </a:p>
          <a:p>
            <a:pPr algn="just"/>
            <a:r>
              <a:rPr sz="1900" b="1">
                <a:solidFill>
                  <a:srgbClr val="1F4E79"/>
                </a:solidFill>
                <a:latin typeface="Microsoft JhengHei"/>
              </a:rPr>
              <a:t>並認為 3 比 7 像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0" y="3429000"/>
            <a:ext cx="4754880" cy="132588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900" b="1">
                <a:solidFill>
                  <a:srgbClr val="59636E"/>
                </a:solidFill>
                <a:latin typeface="Microsoft JhengHei"/>
              </a:rPr>
              <a:t>蒸餾模型尚未訓練：</a:t>
            </a:r>
          </a:p>
          <a:p>
            <a:pPr algn="just"/>
            <a:r>
              <a:rPr sz="1900" b="1">
                <a:solidFill>
                  <a:srgbClr val="59636E"/>
                </a:solidFill>
                <a:latin typeface="Microsoft JhengHei"/>
              </a:rPr>
              <a:t>分得出 2，但 3 與 7 給相同的 logit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1663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700" b="0">
                <a:solidFill>
                  <a:srgbClr val="59636E"/>
                </a:solidFill>
                <a:latin typeface="Microsoft JhengHei"/>
              </a:rPr>
              <a:t>這組 logit 是為手算而選的，不是訓練好的模型的輸出。</a:t>
            </a:r>
          </a:p>
          <a:p>
            <a:pPr algn="just"/>
            <a:r>
              <a:rPr sz="1700" b="0">
                <a:solidFill>
                  <a:srgbClr val="59636E"/>
                </a:solidFill>
                <a:latin typeface="Microsoft JhengHei"/>
              </a:rPr>
              <a:t>溫度 T 與權重 α 在第一次用到時介紹。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Graphic spid="7" grpId="0">
        <p:bldAsOne/>
      </p:bldGraphic>
      <p:bldP spid="8" grpId="0" animBg="1"/>
      <p:bldP spid="9" grpId="0" animBg="1"/>
      <p:bldP spid="10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二、帶溫度的 softmax：T =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論文式 (1)；T 通常設為 1</a:t>
            </a:r>
          </a:p>
        </p:txBody>
      </p:sp>
      <p:pic>
        <p:nvPicPr>
          <p:cNvPr id="6" name="Picture 5" descr="m_softma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51560"/>
            <a:ext cx="1867014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54880" y="1097280"/>
            <a:ext cx="6949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800" b="0">
                <a:solidFill>
                  <a:srgbClr val="202020"/>
                </a:solidFill>
                <a:latin typeface="Microsoft JhengHei"/>
              </a:rPr>
              <a:t>softmax 把每個類別算出的 logit z_i 與其他 logit 比較，</a:t>
            </a:r>
          </a:p>
          <a:p>
            <a:pPr algn="just"/>
            <a:r>
              <a:rPr sz="1800" b="0">
                <a:solidFill>
                  <a:srgbClr val="202020"/>
                </a:solidFill>
                <a:latin typeface="Microsoft JhengHei"/>
              </a:rPr>
              <a:t>轉成機率 q_i；T 是溫度。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2240280"/>
          <a:ext cx="118872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887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057400" y="2240280"/>
          <a:ext cx="14630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v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0" y="2240280"/>
          <a:ext cx="19659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659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第 1 步 ÷ T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8.0000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4.0000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60720" y="2240280"/>
          <a:ext cx="2240279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40279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第 2 步 exp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2980.9580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54.5982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8138160" y="2240280"/>
            <a:ext cx="1737360" cy="1316736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第 3 步 加總</a:t>
            </a:r>
          </a:p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3036.5561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0012680" y="2240280"/>
          <a:ext cx="178308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830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第 4 步 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0.9817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0.0180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0.0003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731520" y="3931920"/>
            <a:ext cx="10881360" cy="105156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800" b="1">
                <a:solidFill>
                  <a:srgbClr val="C03030"/>
                </a:solidFill>
                <a:latin typeface="Microsoft JhengHei"/>
              </a:rPr>
              <a:t>3 和 7 的機率是 0.0180 與 0.0003。「這個 2 比較像 3、不像 7」的資訊雖然存在，</a:t>
            </a:r>
          </a:p>
          <a:p>
            <a:pPr algn="just"/>
            <a:r>
              <a:rPr sz="1800" b="1">
                <a:solidFill>
                  <a:srgbClr val="C03030"/>
                </a:solidFill>
                <a:latin typeface="Microsoft JhengHei"/>
              </a:rPr>
              <a:t>對交叉熵代價函數卻幾乎沒有影響。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16636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700" b="0">
                <a:solidFill>
                  <a:srgbClr val="59636E"/>
                </a:solidFill>
                <a:latin typeface="Microsoft JhengHei"/>
              </a:rPr>
              <a:t>核對：exp(8) = 2980.9580，exp(4) = 54.5982，exp(0) = 1，三者相加 3036.5561。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Graphic spid="8" grpId="0">
        <p:bldAsOne/>
      </p:bldGraphic>
      <p:bldGraphic spid="9" grpId="0">
        <p:bldAsOne/>
      </p:bldGraphic>
      <p:bldGraphic spid="10" grpId="0">
        <p:bldAsOne/>
      </p:bldGraphic>
      <p:bldGraphic spid="11" grpId="0">
        <p:bldAsOne/>
      </p:bldGraphic>
      <p:bldP spid="12" grpId="0" animBg="1"/>
      <p:bldGraphic spid="13" grpId="0">
        <p:bldAsOne/>
      </p:bldGraphic>
      <p:bldP spid="14" grpId="0" animBg="1"/>
      <p:bldP spid="15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二、帶溫度的 softmax：T =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同一組笨重模型的 logit，改用較高的溫度</a:t>
            </a:r>
          </a:p>
        </p:txBody>
      </p:sp>
      <p:pic>
        <p:nvPicPr>
          <p:cNvPr id="6" name="Picture 5" descr="m_softma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51560"/>
            <a:ext cx="1867014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54880" y="1097280"/>
            <a:ext cx="6949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800" b="0">
                <a:solidFill>
                  <a:srgbClr val="202020"/>
                </a:solidFill>
                <a:latin typeface="Microsoft JhengHei"/>
              </a:rPr>
              <a:t>T 取較大的值，類別上的機率分布較軟：</a:t>
            </a:r>
          </a:p>
          <a:p>
            <a:pPr algn="just"/>
            <a:r>
              <a:rPr sz="1800" b="0">
                <a:solidFill>
                  <a:srgbClr val="202020"/>
                </a:solidFill>
                <a:latin typeface="Microsoft JhengHei"/>
              </a:rPr>
              <a:t>第 1 步把 logit 之間的差距縮小為四分之一。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2240280"/>
          <a:ext cx="118872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887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057400" y="2240280"/>
          <a:ext cx="14630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v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0" y="2240280"/>
          <a:ext cx="19659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659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第 1 步 ÷ T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60720" y="2240280"/>
          <a:ext cx="2240279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40279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第 2 步 exp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7.3891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2.7183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8138160" y="2240280"/>
            <a:ext cx="1737360" cy="1316736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第 3 步 加總</a:t>
            </a:r>
          </a:p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11.1073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0012680" y="2240280"/>
          <a:ext cx="178308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830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第 4 步 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0.6652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0.2447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0.0900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731520" y="3931920"/>
            <a:ext cx="10881360" cy="105156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800" b="1">
                <a:solidFill>
                  <a:srgbClr val="1E7A45"/>
                </a:solidFill>
                <a:latin typeface="Microsoft JhengHei"/>
              </a:rPr>
              <a:t>3 和 7 的機率變成 0.2447 與 0.0900。</a:t>
            </a:r>
          </a:p>
          <a:p>
            <a:pPr algn="just"/>
            <a:r>
              <a:rPr sz="1800" b="1">
                <a:solidFill>
                  <a:srgbClr val="1E7A45"/>
                </a:solidFill>
                <a:latin typeface="Microsoft JhengHei"/>
              </a:rPr>
              <a:t>在這個溫度下，錯誤類別的相對機率大到足以影響學習。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16636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700" b="0">
                <a:solidFill>
                  <a:srgbClr val="59636E"/>
                </a:solidFill>
                <a:latin typeface="Microsoft JhengHei"/>
              </a:rPr>
              <a:t>核對：exp(2) = 7.3891，exp(1) = 2.7183，exp(0) = 1，三者相加 11.1073。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Graphic spid="8" grpId="0">
        <p:bldAsOne/>
      </p:bldGraphic>
      <p:bldGraphic spid="9" grpId="0">
        <p:bldAsOne/>
      </p:bldGraphic>
      <p:bldGraphic spid="10" grpId="0">
        <p:bldAsOne/>
      </p:bldGraphic>
      <p:bldGraphic spid="11" grpId="0">
        <p:bldAsOne/>
      </p:bldGraphic>
      <p:bldP spid="12" grpId="0" animBg="1"/>
      <p:bldGraphic spid="13" grpId="0">
        <p:bldAsOne/>
      </p:bldGraphic>
      <p:bldP spid="14" grpId="0" animBg="1"/>
      <p:bldP spid="15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二、軟目標與硬目標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同一個 2，兩種溫度</a:t>
            </a:r>
          </a:p>
        </p:txBody>
      </p:sp>
      <p:pic>
        <p:nvPicPr>
          <p:cNvPr id="6" name="Picture 5" descr="f_so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51560"/>
            <a:ext cx="6400800" cy="25781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223760" y="1143000"/>
          <a:ext cx="4480558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650732"/>
                <a:gridCol w="1414913"/>
                <a:gridCol w="1414913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T = 1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T = 4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P(3)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0.0180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0.2447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P(7)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0.0003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0.0900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P(3) / P(7)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54.60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2.72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223760" y="2606040"/>
            <a:ext cx="4480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600" b="0">
                <a:solidFill>
                  <a:srgbClr val="59636E"/>
                </a:solidFill>
                <a:latin typeface="Microsoft JhengHei"/>
              </a:rPr>
              <a:t>比值等於 exp((4 − 0)/T)：</a:t>
            </a:r>
          </a:p>
          <a:p>
            <a:pPr algn="just"/>
            <a:r>
              <a:rPr sz="1600" b="0">
                <a:solidFill>
                  <a:srgbClr val="59636E"/>
                </a:solidFill>
                <a:latin typeface="Microsoft JhengHei"/>
              </a:rPr>
              <a:t>T = 1 是 e⁴ = 54.60，T = 4 是 e¹ = 2.72。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977639"/>
            <a:ext cx="10881360" cy="73152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900" b="1">
                <a:solidFill>
                  <a:srgbClr val="1E7A45"/>
                </a:solidFill>
                <a:latin typeface="Microsoft JhengHei"/>
              </a:rPr>
              <a:t>軟目標：笨重模型在高溫下產生的類別機率，例如 (0.6652, 0.2447, 0.0900)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800600"/>
            <a:ext cx="10881360" cy="73152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900" b="1">
                <a:solidFill>
                  <a:srgbClr val="1F4E79"/>
                </a:solidFill>
                <a:latin typeface="Microsoft JhengHei"/>
              </a:rPr>
              <a:t>硬目標：正確標籤，此例為 (1, 0, 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66928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600" b="0">
                <a:solidFill>
                  <a:srgbClr val="202020"/>
                </a:solidFill>
                <a:latin typeface="Microsoft JhengHei"/>
              </a:rPr>
              <a:t>軟目標的熵較高時，每個訓練樣本提供的資訊比硬目標多得多，訓練樣本之間的梯度變異也小得多；</a:t>
            </a:r>
          </a:p>
          <a:p>
            <a:pPr algn="just"/>
            <a:r>
              <a:rPr sz="1600" b="0">
                <a:solidFill>
                  <a:srgbClr val="202020"/>
                </a:solidFill>
                <a:latin typeface="Microsoft JhengHei"/>
              </a:rPr>
              <a:t>因此小模型常可用比笨重模型少得多的資料、高得多的學習率訓練。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Graphic spid="7" grpId="0">
        <p:bldAsOne/>
      </p:bldGraphic>
      <p:bldP spid="8" grpId="0" animBg="1"/>
      <p:bldP spid="9" grpId="0" animBg="1"/>
      <p:bldP spid="10" grpId="0" animBg="1"/>
      <p:bldP spid="11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三、蒸餾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論文第 2 節：兩個目標函數的加權平均</a:t>
            </a:r>
          </a:p>
        </p:txBody>
      </p:sp>
      <p:pic>
        <p:nvPicPr>
          <p:cNvPr id="6" name="Picture 5" descr="m_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43000"/>
            <a:ext cx="5518871" cy="566928"/>
          </a:xfrm>
          <a:prstGeom prst="rect">
            <a:avLst/>
          </a:prstGeom>
        </p:spPr>
      </p:pic>
      <p:pic>
        <p:nvPicPr>
          <p:cNvPr id="7" name="Picture 6" descr="m_cso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965960"/>
            <a:ext cx="2629506" cy="6583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120640" y="196596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700" b="0">
                <a:solidFill>
                  <a:srgbClr val="202020"/>
                </a:solidFill>
                <a:latin typeface="Microsoft JhengHei"/>
              </a:rPr>
              <a:t>與軟目標的交叉熵：蒸餾模型的 softmax 使用與產生軟目標時相同的高溫</a:t>
            </a:r>
          </a:p>
        </p:txBody>
      </p:sp>
      <p:pic>
        <p:nvPicPr>
          <p:cNvPr id="9" name="Picture 8" descr="m_ch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2880360"/>
            <a:ext cx="3631404" cy="5669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20640" y="288036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700" b="0">
                <a:solidFill>
                  <a:srgbClr val="202020"/>
                </a:solidFill>
                <a:latin typeface="Microsoft JhengHei"/>
              </a:rPr>
              <a:t>與正確標籤的交叉熵：使用蒸餾模型完全相同的 logit，但溫度為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840480"/>
            <a:ext cx="5303520" cy="1188720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700" b="0">
                <a:solidFill>
                  <a:srgbClr val="1F4E79"/>
                </a:solidFill>
                <a:latin typeface="Microsoft JhengHei"/>
              </a:rPr>
              <a:t>α：論文發現，第二個目標函數的權重</a:t>
            </a:r>
          </a:p>
          <a:p>
            <a:pPr algn="just"/>
            <a:r>
              <a:rPr sz="1700" b="0">
                <a:solidFill>
                  <a:srgbClr val="1F4E79"/>
                </a:solidFill>
                <a:latin typeface="Microsoft JhengHei"/>
              </a:rPr>
              <a:t>取得低很多時，結果通常最好；</a:t>
            </a:r>
          </a:p>
          <a:p>
            <a:pPr algn="just"/>
            <a:r>
              <a:rPr sz="1700" b="0">
                <a:solidFill>
                  <a:srgbClr val="1F4E79"/>
                </a:solidFill>
                <a:latin typeface="Microsoft JhengHei"/>
              </a:rPr>
              <a:t>本教材取 α = 0.9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3840480"/>
            <a:ext cx="5303520" cy="118872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700" b="0">
                <a:solidFill>
                  <a:srgbClr val="C03030"/>
                </a:solidFill>
                <a:latin typeface="Microsoft JhengHei"/>
              </a:rPr>
              <a:t>T²：軟目標產生的梯度大小與 1/T² 成正比，</a:t>
            </a:r>
          </a:p>
          <a:p>
            <a:pPr algn="just"/>
            <a:r>
              <a:rPr sz="1700" b="0">
                <a:solidFill>
                  <a:srgbClr val="C03030"/>
                </a:solidFill>
                <a:latin typeface="Microsoft JhengHei"/>
              </a:rPr>
              <a:t>因此乘上 T²，換溫度時兩項的相對貢獻</a:t>
            </a:r>
          </a:p>
          <a:p>
            <a:pPr algn="just"/>
            <a:r>
              <a:rPr sz="1700" b="0">
                <a:solidFill>
                  <a:srgbClr val="C03030"/>
                </a:solidFill>
                <a:latin typeface="Microsoft JhengHei"/>
              </a:rPr>
              <a:t>大致不變（第 15 頁驗證）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2578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900" b="1">
                <a:solidFill>
                  <a:srgbClr val="1E7A45"/>
                </a:solidFill>
                <a:latin typeface="Microsoft JhengHei"/>
              </a:rPr>
              <a:t>蒸餾模型訓練完成後，使用時溫度為 1。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三、逐步計算 C_soft：T =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蒸餾模型 z = (4, 2, 2) 的 softmax，再與軟目標 p 算交叉熵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10058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828800" y="1143000"/>
          <a:ext cx="118872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887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z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108960" y="1143000"/>
          <a:ext cx="137160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37160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z ÷ 4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0.5000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0.5000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0" y="1143000"/>
          <a:ext cx="14630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exp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2.7183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1.6487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1.6487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126480" y="1143000"/>
            <a:ext cx="1554480" cy="1316736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加總</a:t>
            </a:r>
          </a:p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6.0157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772400" y="1143000"/>
          <a:ext cx="14630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q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0.4519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0.2741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0.2741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9418320" y="1234440"/>
            <a:ext cx="2377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600" b="0">
                <a:solidFill>
                  <a:srgbClr val="59636E"/>
                </a:solidFill>
                <a:latin typeface="Microsoft JhengHei"/>
              </a:rPr>
              <a:t>T = 4 時，蒸餾模型</a:t>
            </a:r>
          </a:p>
          <a:p>
            <a:pPr algn="just"/>
            <a:r>
              <a:rPr sz="1600" b="0">
                <a:solidFill>
                  <a:srgbClr val="59636E"/>
                </a:solidFill>
                <a:latin typeface="Microsoft JhengHei"/>
              </a:rPr>
              <a:t>給 3 與 7 相同的機率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31520" y="2880360"/>
          <a:ext cx="10058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1828800" y="2880360"/>
          <a:ext cx="164592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6459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0.6652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0.2447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0.0900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566160" y="2880360"/>
          <a:ext cx="164592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6459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log q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-0.7944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-1.2944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-1.2944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303520" y="2880360"/>
          <a:ext cx="182880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82880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p × log q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-0.5285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-0.3168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-0.1165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Rectangle 16"/>
          <p:cNvSpPr/>
          <p:nvPr/>
        </p:nvSpPr>
        <p:spPr>
          <a:xfrm>
            <a:off x="7223760" y="2880360"/>
            <a:ext cx="4389120" cy="1316736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1E7A45"/>
                </a:solidFill>
                <a:latin typeface="Microsoft JhengHei"/>
              </a:rPr>
              <a:t>三列加總 = -0.9618</a:t>
            </a:r>
          </a:p>
          <a:p>
            <a:pPr algn="ctr"/>
            <a:r>
              <a:rPr sz="1900" b="1">
                <a:solidFill>
                  <a:srgbClr val="1E7A45"/>
                </a:solidFill>
                <a:latin typeface="Microsoft JhengHei"/>
              </a:rPr>
              <a:t>C_soft = −(加總) = 0.9618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43484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700" b="0">
                <a:solidFill>
                  <a:srgbClr val="202020"/>
                </a:solidFill>
                <a:latin typeface="Microsoft JhengHei"/>
              </a:rPr>
              <a:t>log 為自然對數。各格四捨五入到小數第 4 位，加總以未進位的值計算。</a:t>
            </a:r>
          </a:p>
          <a:p>
            <a:pPr algn="just"/>
            <a:r>
              <a:rPr sz="1700" b="0">
                <a:solidFill>
                  <a:srgbClr val="202020"/>
                </a:solidFill>
                <a:latin typeface="Microsoft JhengHei"/>
              </a:rPr>
              <a:t>q 與 p 相同時 C_soft 最小，兩者差得越多 C_soft 越大。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Graphic spid="7" grpId="0">
        <p:bldAsOne/>
      </p:bldGraphic>
      <p:bldGraphic spid="8" grpId="0">
        <p:bldAsOne/>
      </p:bldGraphic>
      <p:bldGraphic spid="9" grpId="0">
        <p:bldAsOne/>
      </p:bldGraphic>
      <p:bldP spid="10" grpId="0" animBg="1"/>
      <p:bldGraphic spid="11" grpId="0">
        <p:bldAsOne/>
      </p:bldGraphic>
      <p:bldP spid="12" grpId="0" animBg="1"/>
      <p:bldGraphic spid="13" grpId="0">
        <p:bldAsOne/>
      </p:bldGraphic>
      <p:bldGraphic spid="14" grpId="0">
        <p:bldAsOne/>
      </p:bldGraphic>
      <p:bldGraphic spid="15" grpId="0">
        <p:bldAsOne/>
      </p:bldGraphic>
      <p:bldGraphic spid="16" grpId="0">
        <p:bldAsOne/>
      </p:bldGraphic>
      <p:bldP spid="17" grpId="0" animBg="1"/>
      <p:bldP spid="18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三、逐步計算 C_hard 與目標函數 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C_hard 在溫度 1 下計算；α = 0.9，T = 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10058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828800" y="1143000"/>
          <a:ext cx="118872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887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z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108960" y="1143000"/>
          <a:ext cx="155448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5544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exp(z)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54.5982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7.3891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7.3891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754880" y="1143000"/>
            <a:ext cx="1554480" cy="1316736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加總</a:t>
            </a:r>
          </a:p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69.3763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0" y="1143000"/>
          <a:ext cx="17373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373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T = 1 的 q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0.7870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0.1065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0.1065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8321040" y="1143000"/>
            <a:ext cx="3291840" cy="1316736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E7A45"/>
                </a:solidFill>
                <a:latin typeface="Microsoft JhengHei"/>
              </a:rPr>
              <a:t>正確標籤是 2</a:t>
            </a:r>
          </a:p>
          <a:p>
            <a:pPr algn="ctr"/>
            <a:r>
              <a:rPr sz="1800" b="1">
                <a:solidFill>
                  <a:srgbClr val="1E7A45"/>
                </a:solidFill>
                <a:latin typeface="Microsoft JhengHei"/>
              </a:rPr>
              <a:t>C_hard = −log 0.7870</a:t>
            </a:r>
          </a:p>
          <a:p>
            <a:pPr algn="ctr"/>
            <a:r>
              <a:rPr sz="1800" b="1">
                <a:solidFill>
                  <a:srgbClr val="1E7A45"/>
                </a:solidFill>
                <a:latin typeface="Microsoft JhengHei"/>
              </a:rPr>
              <a:t>= 0.2395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31520" y="2926080"/>
          <a:ext cx="108813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538984"/>
                <a:gridCol w="5440680"/>
                <a:gridCol w="2901696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</a:rPr>
                        <a:t>項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</a:rPr>
                        <a:t>算式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</a:rPr>
                        <a:t>值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軟目標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0.9 × 4² × 0.9618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13.8493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硬目標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0.1 × 0.2395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0.0240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目標函數 L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兩項相加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13.8732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731520" y="443484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700" b="0">
                <a:solidFill>
                  <a:srgbClr val="59636E"/>
                </a:solidFill>
                <a:latin typeface="Microsoft JhengHei"/>
              </a:rPr>
              <a:t>軟目標項乘了 T² = 16，所以遠大於硬目標項；兩項各自對梯度的貢獻見下一頁。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Graphic spid="7" grpId="0">
        <p:bldAsOne/>
      </p:bldGraphic>
      <p:bldGraphic spid="8" grpId="0">
        <p:bldAsOne/>
      </p:bldGraphic>
      <p:bldP spid="9" grpId="0" animBg="1"/>
      <p:bldGraphic spid="10" grpId="0">
        <p:bldAsOne/>
      </p:bldGraphic>
      <p:bldP spid="11" grpId="0" animBg="1"/>
      <p:bldGraphic spid="12" grpId="0">
        <p:bldAsOne/>
      </p:bldGraphic>
      <p:bldP spid="13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三、逐步計算梯度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論文式 (2)：對蒸餾模型每個 logit 的交叉熵梯度</a:t>
            </a:r>
          </a:p>
        </p:txBody>
      </p:sp>
      <p:pic>
        <p:nvPicPr>
          <p:cNvPr id="6" name="Picture 5" descr="m_gr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05840"/>
            <a:ext cx="3713441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120640" y="1143000"/>
            <a:ext cx="6583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800" b="0">
                <a:solidFill>
                  <a:srgbClr val="202020"/>
                </a:solidFill>
                <a:latin typeface="Microsoft JhengHei"/>
              </a:rPr>
              <a:t>硬目標項的梯度即一般交叉熵的梯度：q(T=1) − y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2148840"/>
          <a:ext cx="8229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8229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645920" y="2148840"/>
          <a:ext cx="12801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2801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q − 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-0.2134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0.0293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0.1840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017520" y="2148840"/>
          <a:ext cx="14630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÷ T（式 2）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-0.0533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0.0073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0.0460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0" y="2148840"/>
          <a:ext cx="155448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5544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× α T² = 14.4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-0.7682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0.1056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0.6625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217920" y="2148840"/>
          <a:ext cx="14630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q(T=1) − y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-0.2130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0.1065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0.1065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772400" y="2148840"/>
          <a:ext cx="155448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5544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× (1 − α) = 0.1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-0.0213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0.0107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0.0107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9418320" y="2148840"/>
          <a:ext cx="201168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0116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總梯度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-0.7895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0.1163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0.6732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731520" y="3749039"/>
            <a:ext cx="10881360" cy="91440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800" b="1">
                <a:solidFill>
                  <a:srgbClr val="1E7A45"/>
                </a:solidFill>
                <a:latin typeface="Microsoft JhengHei"/>
              </a:rPr>
              <a:t>梯度下降使 2 的 logit 上升、7 的 logit 下降最多、3 的 logit 只略為下降，</a:t>
            </a:r>
          </a:p>
          <a:p>
            <a:pPr algn="just"/>
            <a:r>
              <a:rPr sz="1800" b="1">
                <a:solidFill>
                  <a:srgbClr val="1E7A45"/>
                </a:solidFill>
                <a:latin typeface="Microsoft JhengHei"/>
              </a:rPr>
              <a:t>蒸餾模型因而往笨重模型的看法靠近：先是 2，其次是 3，最後是 7。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8920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700" b="0">
                <a:solidFill>
                  <a:srgbClr val="59636E"/>
                </a:solidFill>
                <a:latin typeface="Microsoft JhengHei"/>
              </a:rPr>
              <a:t>Colab 第 3 段以自動微分（TensorFlow GradientTape）重算，</a:t>
            </a:r>
          </a:p>
          <a:p>
            <a:pPr algn="just"/>
            <a:r>
              <a:rPr sz="1700" b="0">
                <a:solidFill>
                  <a:srgbClr val="59636E"/>
                </a:solidFill>
                <a:latin typeface="Microsoft JhengHei"/>
              </a:rPr>
              <a:t>得到相同的目標函數值 13.8732 與相同的梯度。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Graphic spid="8" grpId="0">
        <p:bldAsOne/>
      </p:bldGraphic>
      <p:bldGraphic spid="9" grpId="0">
        <p:bldAsOne/>
      </p:bldGraphic>
      <p:bldGraphic spid="10" grpId="0">
        <p:bldAsOne/>
      </p:bldGraphic>
      <p:bldGraphic spid="11" grpId="0">
        <p:bldAsOne/>
      </p:bldGraphic>
      <p:bldGraphic spid="12" grpId="0">
        <p:bldAsOne/>
      </p:bldGraphic>
      <p:bldGraphic spid="13" grpId="0">
        <p:bldAsOne/>
      </p:bldGraphic>
      <p:bldGraphic spid="14" grpId="0">
        <p:bldAsOne/>
      </p:bldGraphic>
      <p:bldP spid="15" grpId="0" animBg="1"/>
      <p:bldP spid="16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三、為什麼乘 T²，以及比對 logit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論文式 (2) 至式 (4)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5486398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866273"/>
                <a:gridCol w="2887578"/>
                <a:gridCol w="1732547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T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式 (2) 梯度最大絕對值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乘 T² 後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0.194704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0.1947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0.053345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0.8535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20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0.002637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1.0547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2606040"/>
            <a:ext cx="5486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600" b="0">
                <a:solidFill>
                  <a:srgbClr val="202020"/>
                </a:solidFill>
                <a:latin typeface="Microsoft JhengHei"/>
              </a:rPr>
              <a:t>T 從 4 升到 20，梯度縮小約 20 倍，接近 (20/4)² = 25 倍；</a:t>
            </a:r>
          </a:p>
          <a:p>
            <a:pPr algn="just"/>
            <a:r>
              <a:rPr sz="1600" b="0">
                <a:solidFill>
                  <a:srgbClr val="202020"/>
                </a:solidFill>
                <a:latin typeface="Microsoft JhengHei"/>
              </a:rPr>
              <a:t>乘上 T² 後是 0.85 與 1.05，大小相近。</a:t>
            </a:r>
          </a:p>
          <a:p>
            <a:pPr algn="just"/>
            <a:r>
              <a:rPr sz="1600" b="0">
                <a:solidFill>
                  <a:srgbClr val="202020"/>
                </a:solidFill>
                <a:latin typeface="Microsoft JhengHei"/>
              </a:rPr>
              <a:t>1/T² 的比例在高溫極限下成立，T = 1 不在此範圍。</a:t>
            </a:r>
          </a:p>
        </p:txBody>
      </p:sp>
      <p:pic>
        <p:nvPicPr>
          <p:cNvPr id="8" name="Picture 7" descr="m_log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097280"/>
            <a:ext cx="4025748" cy="868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675120" y="205740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600" b="0">
                <a:solidFill>
                  <a:srgbClr val="202020"/>
                </a:solidFill>
                <a:latin typeface="Microsoft JhengHei"/>
              </a:rPr>
              <a:t>若溫度遠大於 logit，且 logit 對每個移轉樣本</a:t>
            </a:r>
          </a:p>
          <a:p>
            <a:pPr algn="just"/>
            <a:r>
              <a:rPr sz="1600" b="0">
                <a:solidFill>
                  <a:srgbClr val="202020"/>
                </a:solidFill>
                <a:latin typeface="Microsoft JhengHei"/>
              </a:rPr>
              <a:t>各自減去平均（N 為類別數），蒸餾等於最小化</a:t>
            </a:r>
          </a:p>
        </p:txBody>
      </p:sp>
      <p:pic>
        <p:nvPicPr>
          <p:cNvPr id="10" name="Picture 9" descr="m_squ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0" y="2606040"/>
            <a:ext cx="1655219" cy="548640"/>
          </a:xfrm>
          <a:prstGeom prst="rect">
            <a:avLst/>
          </a:prstGeom>
        </p:spPr>
      </p:pic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675120" y="3291840"/>
          <a:ext cx="49377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987552"/>
                <a:gridCol w="1975104"/>
                <a:gridCol w="1975104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式 (2) 精確值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式 (4) 近似值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-0.00229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-0.00222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-0.00034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-0.00056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0.00264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0.00278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675120" y="470916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400" b="0">
                <a:solidFill>
                  <a:srgbClr val="59636E"/>
                </a:solidFill>
                <a:latin typeface="Microsoft JhengHei"/>
              </a:rPr>
              <a:t>T = 20；減去平均後 z = (1.33, −0.67, −0.67)，v = (4, 0, −4)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5394960"/>
            <a:ext cx="10881360" cy="91440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800" b="1">
                <a:solidFill>
                  <a:srgbClr val="1E7A45"/>
                </a:solidFill>
                <a:latin typeface="Microsoft JhengHei"/>
              </a:rPr>
              <a:t>比對 logit 是蒸餾的特例。溫度較低時，蒸餾對「比平均負很多的 logit」的比對注意得少得多。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P spid="8" grpId="0" animBg="1"/>
      <p:bldP spid="9" grpId="0" animBg="1"/>
      <p:bldP spid="10" grpId="0" animBg="1"/>
      <p:bldGraphic spid="11" grpId="0">
        <p:bldAsOne/>
      </p:bldGraphic>
      <p:bldP spid="12" grpId="0" animBg="1"/>
      <p:bldP spid="13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MNIST 初步實驗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從這一頁起，結果都來自 Colab 程式 knowledge_distillation.ipynb</a:t>
            </a:r>
          </a:p>
        </p:txBody>
      </p:sp>
      <p:pic>
        <p:nvPicPr>
          <p:cNvPr id="6" name="Picture 5" descr="f_dig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10698480" cy="1530744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2606040"/>
          <a:ext cx="10881360" cy="197510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20240"/>
                <a:gridCol w="4160520"/>
                <a:gridCol w="480060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論文第 3 節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本教材的 Colab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訓練樣本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60,000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10,000（每個數字 1000 張）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測試樣本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10,000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10,000（同一個測試集）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笨重模型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1200-1200，dropout，平移最多 2 像素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1200-1200，dropout，平移最多 2 像素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小網路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800-800，無正則化；另試 30-30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100-100，無正則化；另試 30-30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溫度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20（另試多種）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1、2、4、8、20；α = 0.9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475488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700" b="0">
                <a:solidFill>
                  <a:srgbClr val="202020"/>
                </a:solidFill>
                <a:latin typeface="Microsoft JhengHei"/>
              </a:rPr>
              <a:t>1200-1200 表示兩個隱藏層，各有 1200 個整流線性單元。</a:t>
            </a:r>
          </a:p>
          <a:p>
            <a:pPr algn="just"/>
            <a:r>
              <a:rPr sz="1700" b="0">
                <a:solidFill>
                  <a:srgbClr val="202020"/>
                </a:solidFill>
                <a:latin typeface="Microsoft JhengHei"/>
              </a:rPr>
              <a:t>訓練集與網路都比論文小，測試錯誤數不會相同；要看的是三個效應是否重現。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Graphic spid="7" grpId="0">
        <p:bldAsOne/>
      </p:bldGraphic>
      <p:bldP spid="8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四、蒸餾使測試錯誤數減少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測試集 10,000 個樣本的錯誤數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5669279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29691"/>
                <a:gridCol w="1619794"/>
                <a:gridCol w="1619794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模型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論文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本教材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笨重模型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67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222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小網路，只用硬目標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146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420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小網路，蒸餾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74（T = 20）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319（T = 20）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_te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097280"/>
            <a:ext cx="5120640" cy="27203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31520" y="2697480"/>
            <a:ext cx="5669280" cy="114300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800" b="1">
                <a:solidFill>
                  <a:srgbClr val="1E7A45"/>
                </a:solidFill>
                <a:latin typeface="Microsoft JhengHei"/>
              </a:rPr>
              <a:t>本教材：蒸餾把小網路與笨重模型的差距</a:t>
            </a:r>
          </a:p>
          <a:p>
            <a:pPr algn="just"/>
            <a:r>
              <a:rPr sz="1800" b="1">
                <a:solidFill>
                  <a:srgbClr val="1E7A45"/>
                </a:solidFill>
                <a:latin typeface="Microsoft JhengHei"/>
              </a:rPr>
              <a:t>從 198 個錯誤縮小到 97 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069080"/>
            <a:ext cx="56692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700" b="0">
                <a:solidFill>
                  <a:srgbClr val="202020"/>
                </a:solidFill>
                <a:latin typeface="Microsoft JhengHei"/>
              </a:rPr>
              <a:t>論文指出：軟目標能把大量知識移轉給蒸餾模型，</a:t>
            </a:r>
          </a:p>
          <a:p>
            <a:pPr algn="just"/>
            <a:r>
              <a:rPr sz="1700" b="0">
                <a:solidFill>
                  <a:srgbClr val="202020"/>
                </a:solidFill>
                <a:latin typeface="Microsoft JhengHei"/>
              </a:rPr>
              <a:t>包括從平移過的訓練資料學到的類推方式，</a:t>
            </a:r>
          </a:p>
          <a:p>
            <a:pPr algn="just"/>
            <a:r>
              <a:rPr sz="1700" b="0">
                <a:solidFill>
                  <a:srgbClr val="202020"/>
                </a:solidFill>
                <a:latin typeface="Microsoft JhengHei"/>
              </a:rPr>
              <a:t>即使移轉集裡沒有任何平移過的影像。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3931920"/>
            <a:ext cx="5120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500" b="0">
                <a:solidFill>
                  <a:srgbClr val="59636E"/>
                </a:solidFill>
                <a:latin typeface="Microsoft JhengHei"/>
              </a:rPr>
              <a:t>藍線：小網路 100-100。每個溫度下，蒸餾的測試錯誤數都少於只用硬目標（虛線）。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P spid="8" grpId="0" animBg="1"/>
      <p:bldP spid="9" grpId="0" animBg="1"/>
      <p:bldP spid="10" grpId="0" animBg="1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四、很小的網路取中間溫度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小網路縮小為 30-30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5669280" cy="230428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T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小網路 100-100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小網路 30-30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只用硬目標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420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568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397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522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343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545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327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498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322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554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20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319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599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_te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097280"/>
            <a:ext cx="5120640" cy="27203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31520" y="3886200"/>
            <a:ext cx="10881360" cy="91440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700" b="1">
                <a:solidFill>
                  <a:srgbClr val="1F4E79"/>
                </a:solidFill>
                <a:latin typeface="Microsoft JhengHei"/>
              </a:rPr>
              <a:t>論文：每層 300 個以上單元時，8 以上的溫度結果相當接近；每層縮減為 30 個時，</a:t>
            </a:r>
          </a:p>
          <a:p>
            <a:pPr algn="just"/>
            <a:r>
              <a:rPr sz="1700" b="1">
                <a:solidFill>
                  <a:srgbClr val="1F4E79"/>
                </a:solidFill>
                <a:latin typeface="Microsoft JhengHei"/>
              </a:rPr>
              <a:t>2.5 至 4 的溫度明顯優於更高或更低的溫度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892040"/>
            <a:ext cx="10881360" cy="91440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800" b="1">
                <a:solidFill>
                  <a:srgbClr val="1E7A45"/>
                </a:solidFill>
                <a:latin typeface="Microsoft JhengHei"/>
              </a:rPr>
              <a:t>本教材：30-30 在 T = 4 最好（498 個錯誤），T = 20 反而比只用硬目標還差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89788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600" b="0">
                <a:solidFill>
                  <a:srgbClr val="59636E"/>
                </a:solidFill>
                <a:latin typeface="Microsoft JhengHei"/>
              </a:rPr>
              <a:t>蒸餾模型小到無法容納笨重模型全部的知識時，忽略那些很負的 logit 反而有幫助。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P spid="8" grpId="0" animBg="1"/>
      <p:bldP spid="9" grpId="0" animBg="1"/>
      <p:bldP spid="10" grpId="0" animBg="1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四、未曾見過的數字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移轉集拿掉所有的 3（本教材剩 9000 個樣本）；測試集有 1010 個 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10881358" cy="197510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804756"/>
                <a:gridCol w="1837112"/>
                <a:gridCol w="2119745"/>
                <a:gridCol w="2119745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模型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測試錯誤數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其中 3 的錯誤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測試集 3 答對率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本教材：只用硬目標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1372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1010 / 1010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0.0%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本教材：蒸餾 T = 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727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457 / 1010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54.8%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本教材：蒸餾，3 的偏差值加 3.0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442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104 / 1010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89.7%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論文：蒸餾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206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133 / 1010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86.8%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論文：蒸餾，3 的偏差值加 3.5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14 / 1010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98.6%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31520" y="3337560"/>
            <a:ext cx="5303520" cy="146304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700" b="1">
                <a:solidFill>
                  <a:srgbClr val="59636E"/>
                </a:solidFill>
                <a:latin typeface="Microsoft JhengHei"/>
              </a:rPr>
              <a:t>只用硬目標：沒有任何訓練樣本的標籤是 3，</a:t>
            </a:r>
          </a:p>
          <a:p>
            <a:pPr algn="just"/>
            <a:r>
              <a:rPr sz="1700" b="1">
                <a:solidFill>
                  <a:srgbClr val="59636E"/>
                </a:solidFill>
                <a:latin typeface="Microsoft JhengHei"/>
              </a:rPr>
              <a:t>網路永遠不會輸出 3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3337560"/>
            <a:ext cx="5303520" cy="146304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700" b="1">
                <a:solidFill>
                  <a:srgbClr val="1E7A45"/>
                </a:solidFill>
                <a:latin typeface="Microsoft JhengHei"/>
              </a:rPr>
              <a:t>蒸餾：其他數字的軟目標說明了它們各自</a:t>
            </a:r>
          </a:p>
          <a:p>
            <a:pPr algn="just"/>
            <a:r>
              <a:rPr sz="1700" b="1">
                <a:solidFill>
                  <a:srgbClr val="1E7A45"/>
                </a:solidFill>
                <a:latin typeface="Microsoft JhengHei"/>
              </a:rPr>
              <a:t>有幾分像 3，蒸餾模型由此學到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98348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700" b="0">
                <a:solidFill>
                  <a:srgbClr val="202020"/>
                </a:solidFill>
                <a:latin typeface="Microsoft JhengHei"/>
              </a:rPr>
              <a:t>大部分錯誤來自 3 這一類學到的偏差值太低。</a:t>
            </a:r>
          </a:p>
          <a:p>
            <a:pPr algn="just"/>
            <a:r>
              <a:rPr sz="1700" b="0">
                <a:solidFill>
                  <a:srgbClr val="202020"/>
                </a:solidFill>
                <a:latin typeface="Microsoft JhengHei"/>
              </a:rPr>
              <a:t>與論文相同，偏差值加多少是以測試集上的整體表現挑選的，因此修正後的數字偏樂觀。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P spid="8" grpId="0" animBg="1"/>
      <p:bldP spid="9" grpId="0" animBg="1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論文的其他結果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第 4 節語音辨識、第 5 節專家模型、第 6 節軟目標作為正則化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5394959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72690"/>
                <a:gridCol w="1798320"/>
                <a:gridCol w="1123949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系統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測試框架準確率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WER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基準模型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58.9%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10.9%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 個模型的組合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61.1%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10.7%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蒸餾的單一模型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60.8%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10.7%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2560320"/>
            <a:ext cx="5394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500" b="0">
                <a:solidFill>
                  <a:srgbClr val="202020"/>
                </a:solidFill>
                <a:latin typeface="Microsoft JhengHei"/>
              </a:rPr>
              <a:t>Android 語音搜尋的聲學模型：組合模型在框架分類準確率上</a:t>
            </a:r>
          </a:p>
          <a:p>
            <a:pPr algn="just"/>
            <a:r>
              <a:rPr sz="1500" b="0">
                <a:solidFill>
                  <a:srgbClr val="202020"/>
                </a:solidFill>
                <a:latin typeface="Microsoft JhengHei"/>
              </a:rPr>
              <a:t>的進步，超過 80% 移轉到蒸餾模型。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1143000"/>
          <a:ext cx="5212079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76845"/>
                <a:gridCol w="1421476"/>
                <a:gridCol w="2013758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系統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訓練集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測試框架準確率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基準模型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100%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58.9%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基準模型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44.5%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軟目標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57.0%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0" y="2560320"/>
            <a:ext cx="5212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500" b="0">
                <a:solidFill>
                  <a:srgbClr val="202020"/>
                </a:solidFill>
                <a:latin typeface="Microsoft JhengHei"/>
              </a:rPr>
              <a:t>軟目標讓新模型只用 3% 的訓練集就能良好類推；</a:t>
            </a:r>
          </a:p>
          <a:p>
            <a:pPr algn="just"/>
            <a:r>
              <a:rPr sz="1500" b="0">
                <a:solidFill>
                  <a:srgbClr val="202020"/>
                </a:solidFill>
                <a:latin typeface="Microsoft JhengHei"/>
              </a:rPr>
              <a:t>只用硬目標則嚴重過擬合，需要提前停止。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931920"/>
            <a:ext cx="10881360" cy="128016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700" b="0">
                <a:solidFill>
                  <a:srgbClr val="1F4E79"/>
                </a:solidFill>
                <a:latin typeface="Microsoft JhengHei"/>
              </a:rPr>
              <a:t>專家模型：在 JFT（1 億張有標籤影像、15,000 個標籤）上，另訓練 61 個專家模型，各自負責一群</a:t>
            </a:r>
          </a:p>
          <a:p>
            <a:pPr algn="just"/>
            <a:r>
              <a:rPr sz="1700" b="0">
                <a:solidFill>
                  <a:srgbClr val="1F4E79"/>
                </a:solidFill>
                <a:latin typeface="Microsoft JhengHei"/>
              </a:rPr>
              <a:t>容易混淆的類別，與通用模型合用，測試準確率由 25.0% 提高到 26.1%。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44068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500" b="0">
                <a:solidFill>
                  <a:srgbClr val="59636E"/>
                </a:solidFill>
                <a:latin typeface="Microsoft JhengHei"/>
              </a:rPr>
              <a:t>以上數字取自論文表 1、表 3、表 5，本教材沒有重做。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Graphic spid="8" grpId="0">
        <p:bldAsOne/>
      </p:bldGraphic>
      <p:bldP spid="9" grpId="0" animBg="1"/>
      <p:bldP spid="10" grpId="0" animBg="1"/>
      <p:bldP spid="11" grpId="0" animBg="1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整理與練習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97280"/>
            <a:ext cx="10881360" cy="64008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900" b="1">
                <a:solidFill>
                  <a:srgbClr val="1F4E79"/>
                </a:solidFill>
                <a:latin typeface="Microsoft JhengHei"/>
              </a:rPr>
              <a:t>1　溫度越高，分布越軟，錯誤類別的相對機率越能被看見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10881360" cy="64008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900" b="1">
                <a:solidFill>
                  <a:srgbClr val="1F4E79"/>
                </a:solidFill>
                <a:latin typeface="Microsoft JhengHei"/>
              </a:rPr>
              <a:t>2　L = α T² × 與軟目標的交叉熵 + (1 − α) × 與硬目標的交叉熵；T² 抵銷 1/T²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560320"/>
            <a:ext cx="10881360" cy="64008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900" b="1">
                <a:solidFill>
                  <a:srgbClr val="1F4E79"/>
                </a:solidFill>
                <a:latin typeface="Microsoft JhengHei"/>
              </a:rPr>
              <a:t>3　比對 logit 是高溫極限；很小的網路在中間溫度最好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474720"/>
            <a:ext cx="10881360" cy="68580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800" b="1">
                <a:solidFill>
                  <a:srgbClr val="C03030"/>
                </a:solidFill>
                <a:latin typeface="Microsoft JhengHei"/>
              </a:rPr>
              <a:t>練習一　T = 2 時，v = (8, 4, 0) 的軟目標是多少？依第 8 頁的四步計算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251960"/>
            <a:ext cx="10881360" cy="68580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800" b="1">
                <a:solidFill>
                  <a:srgbClr val="C03030"/>
                </a:solidFill>
                <a:latin typeface="Microsoft JhengHei"/>
              </a:rPr>
              <a:t>練習二　蒸餾模型的 logit 設為 z = (8, 4, 0)，與 v 相同。式 (2) 的梯度是多少？為什麼？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5029200"/>
            <a:ext cx="10881360" cy="68580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800" b="1">
                <a:solidFill>
                  <a:srgbClr val="C03030"/>
                </a:solidFill>
                <a:latin typeface="Microsoft JhengHei"/>
              </a:rPr>
              <a:t>練習三　在 Colab 第 7 段改成拿掉數字 7，記錄測試集 7 的答對率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89788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700" b="1">
                <a:solidFill>
                  <a:srgbClr val="59636E"/>
                </a:solidFill>
                <a:latin typeface="Microsoft JhengHei"/>
              </a:rPr>
              <a:t>練習一可在 Colab 第 2 段把 T 改成 2 核對；練習二可在第 3 段核對。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