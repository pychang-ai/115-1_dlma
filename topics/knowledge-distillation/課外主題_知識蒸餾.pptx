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課外主題｜知識蒸餾 Knowledge Distillation（KD）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115-1 深度學習於海事應用｜依據 Hinton、Vinyals、Dean（2015）Distilling the Knowledge in a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一　為什麼要蒸餾：訓練用大模型，部署用小模型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二　軟目標與溫度：把錯誤類別的機率放大到看得見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24912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三　蒸餾的損失函數與梯度：一張手寫 2 的逐步計算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93008"/>
            <a:ext cx="10515600" cy="676656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四　MNIST 實驗：重做論文第 3 節的三個結果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本主題附 Colab 程式 knowledge_distillation.ipynb 與資料檔 kd_mnist.npz。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第三部分的每一個數字，都可以在 Colab 第 2、3 段重算一次；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第四部分的結果，是同一份程式在 10,000 張訓練影像上的輸出。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一、訓練與部署的需求不同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論文第 1 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6583679" cy="1645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95549"/>
                <a:gridCol w="2394065"/>
                <a:gridCol w="2394065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訓練階段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部署階段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資料量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很大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一次一筆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時間限制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可以算幾天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要即時回應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計算資源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大量 GPU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手機、伺服器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適合的模型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大模型或多個模型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小模型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188720"/>
            <a:ext cx="3566160" cy="1051560"/>
          </a:xfrm>
          <a:prstGeom prst="roundRect">
            <a:avLst/>
          </a:prstGeom>
          <a:solidFill>
            <a:srgbClr val="DAE6F2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JhengHei"/>
              </a:rPr>
              <a:t>老師模型</a:t>
            </a:r>
          </a:p>
          <a:p>
            <a:pPr algn="ctr"/>
            <a:r>
              <a:rPr sz="1600" b="0">
                <a:solidFill>
                  <a:srgbClr val="1F4E79"/>
                </a:solidFill>
                <a:latin typeface="Microsoft JhengHei"/>
              </a:rPr>
              <a:t>大、訓練好、準確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46920" y="2286000"/>
            <a:ext cx="0" cy="777240"/>
          </a:xfrm>
          <a:prstGeom prst="line">
            <a:avLst/>
          </a:prstGeom>
          <a:ln w="38100">
            <a:solidFill>
              <a:srgbClr val="1E7A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82980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7A45"/>
                </a:solidFill>
                <a:latin typeface="Microsoft JhengHei"/>
              </a:rPr>
              <a:t>軟目標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108960"/>
            <a:ext cx="3566160" cy="1051560"/>
          </a:xfrm>
          <a:prstGeom prst="roundRect">
            <a:avLst/>
          </a:prstGeom>
          <a:solidFill>
            <a:srgbClr val="DCF0E4"/>
          </a:solidFill>
          <a:ln w="254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E7A45"/>
                </a:solidFill>
                <a:latin typeface="Microsoft JhengHei"/>
              </a:rPr>
              <a:t>學生模型</a:t>
            </a:r>
          </a:p>
          <a:p>
            <a:pPr algn="ctr"/>
            <a:r>
              <a:rPr sz="1600" b="0">
                <a:solidFill>
                  <a:srgbClr val="1E7A45"/>
                </a:solidFill>
                <a:latin typeface="Microsoft JhengHei"/>
              </a:rPr>
              <a:t>小、快、準備部署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6583680" cy="100584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蒸餾 distillation：先訓練好大模型，</a:t>
            </a:r>
          </a:p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再把它的知識移轉給小模型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一個模型的知識，通常被認為就是它的參數。依這個看法，換了模型的架構，知識就帶不走。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論文採用另一個看法：知識是模型學到的「輸入到輸出的對應」。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依這個看法，只要小模型對每一個輸入給出和大模型相近的輸出，知識就移轉過去了。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一、錯誤答案的機率也有資訊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論文第 1 節舉的例子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訓練好的分類模型，除了正確類別，也會給每個錯誤類別一個機率。這些機率大小不同，反映模型怎麼看待輸入。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6400798" cy="9875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/>
                <a:gridCol w="1981199"/>
                <a:gridCol w="1981199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一張 BMW 的照片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被認為是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機率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垃圾車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很小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紅蘿蔔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小很多倍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6400798" cy="9875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/>
                <a:gridCol w="1981199"/>
                <a:gridCol w="1981199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一張手寫的 2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被認為是 3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被認為是 7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第一種寫法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10⁻⁶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10⁻⁹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第二種寫法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10⁻⁹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10⁻⁶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920240"/>
            <a:ext cx="4114800" cy="22860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第一種寫法比較像 3，</a:t>
            </a:r>
          </a:p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第二種寫法比較像 7。</a:t>
            </a:r>
          </a:p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/>
            </a:r>
          </a:p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這是資料之間的相似關係，</a:t>
            </a:r>
          </a:p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只看正確答案得不到。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881360" cy="118872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問題：10⁻⁶ 與 10⁻⁹ 都太接近 0，用一般的交叉熵訓練學生時，這兩個數字幾乎不影響損失。</a:t>
            </a:r>
          </a:p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解法：提高 softmax 的溫度，讓這些小機率變大，見下一部分。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Graphic spid="8" grpId="0">
        <p:bldAsOne/>
      </p:bldGraphic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示範資料：一張手寫的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從這一頁到第 12 頁都用這一組數字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神經網路最後一層輸出的數字稱為 logit。softmax 把 logit 轉成機率。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為了能手算，只取「2、3、7」三個類別。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57400"/>
          <a:ext cx="5486398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54156"/>
                <a:gridCol w="1550504"/>
                <a:gridCol w="1550504"/>
                <a:gridCol w="143123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老師 logit v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logit z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正確答案 y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75120" y="2057400"/>
            <a:ext cx="4937760" cy="13258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老師很確定是 2，</a:t>
            </a:r>
          </a:p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也認為 3 比 7 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3520440"/>
            <a:ext cx="4937760" cy="13258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59636E"/>
                </a:solidFill>
                <a:latin typeface="Microsoft JhengHei"/>
              </a:rPr>
              <a:t>學生還沒學好：</a:t>
            </a:r>
          </a:p>
          <a:p>
            <a:pPr algn="l"/>
            <a:r>
              <a:rPr sz="2000" b="1">
                <a:solidFill>
                  <a:srgbClr val="59636E"/>
                </a:solidFill>
                <a:latin typeface="Microsoft JhengHei"/>
              </a:rPr>
              <a:t>分得出 2，但 3 和 7 一樣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636E"/>
                </a:solidFill>
                <a:latin typeface="Microsoft JhengHei"/>
              </a:rPr>
              <a:t>這組數字是為了手算而自訂的，不是實際模型的輸出。</a:t>
            </a:r>
          </a:p>
          <a:p>
            <a:r>
              <a:rPr sz="1800" b="0">
                <a:solidFill>
                  <a:srgbClr val="59636E"/>
                </a:solidFill>
                <a:latin typeface="Microsoft JhengHei"/>
              </a:rPr>
              <a:t>溫度 T、權重 α 等參數在用到時再介紹。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二、softmax 逐步計算：T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論文式 (1)；T = 1 就是一般的 softmax</a:t>
            </a:r>
          </a:p>
        </p:txBody>
      </p:sp>
      <p:pic>
        <p:nvPicPr>
          <p:cNvPr id="6" name="Picture 5" descr="m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867014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11430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T 稱為溫度 temperature。分子分母的每個 logit 都先除以 T，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再照一般 softmax 計算：取指數，除以總和。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240280"/>
          <a:ext cx="11887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57400" y="224028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老師 v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0" y="2240280"/>
          <a:ext cx="19659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59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1 步 ÷ T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8.0000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0" y="2240280"/>
          <a:ext cx="2240279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0279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2 步 exp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2980.9580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54.5982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138160" y="2240280"/>
            <a:ext cx="1737360" cy="1316736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第 3 步 加總</a:t>
            </a:r>
          </a:p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3036.5561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012680" y="2240280"/>
          <a:ext cx="17830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4 步 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0.9817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0.0180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0.0003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3931920"/>
            <a:ext cx="10881360" cy="105156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3 和 7 的機率是 0.0180 與 0.0003，都接近 0。</a:t>
            </a:r>
          </a:p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「3 比 7 像」這個資訊雖然在，但對交叉熵幾乎沒有影響。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636E"/>
                </a:solidFill>
                <a:latin typeface="Microsoft JhengHei"/>
              </a:rPr>
              <a:t>核對：exp(8) = 2980.9580，exp(4) = 54.5982，exp(0) = 1；三者相加 3036.5561。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Graphic spid="8" grpId="0">
        <p:bldAsOne/>
      </p:bldGraphic>
      <p:bldGraphic spid="9" grpId="0">
        <p:bldAsOne/>
      </p:bldGraphic>
      <p:bldGraphic spid="10" grpId="0">
        <p:bldAsOne/>
      </p:bldGraphic>
      <p:bldGraphic spid="11" grpId="0">
        <p:bldAsOne/>
      </p:bldGraphic>
      <p:bldP spid="12" grpId="0" animBg="1"/>
      <p:bldGraphic spid="13" grpId="0">
        <p:bldAsOne/>
      </p:bldGraphic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二、softmax 逐步計算：T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同一組老師 logit，只把溫度改成 4</a:t>
            </a:r>
          </a:p>
        </p:txBody>
      </p:sp>
      <p:pic>
        <p:nvPicPr>
          <p:cNvPr id="6" name="Picture 5" descr="m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867014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11430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第 1 步除以 4 之後，logit 之間的差距縮小到原來的四分之一，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取指數後的差距也跟著縮小。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240280"/>
          <a:ext cx="11887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57400" y="224028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老師 v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0" y="2240280"/>
          <a:ext cx="19659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59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1 步 ÷ T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0" y="2240280"/>
          <a:ext cx="2240279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0279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2 步 exp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7.3891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2.7183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138160" y="2240280"/>
            <a:ext cx="1737360" cy="1316736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第 3 步 加總</a:t>
            </a:r>
          </a:p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11.1073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012680" y="2240280"/>
          <a:ext cx="17830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第 4 步 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0.6652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0.2447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0.0900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3931920"/>
            <a:ext cx="10881360" cy="105156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3 和 7 的機率變成 0.2447 與 0.0900。</a:t>
            </a:r>
          </a:p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提高溫度之後，錯誤類別的機率大到足以影響訓練。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636E"/>
                </a:solidFill>
                <a:latin typeface="Microsoft JhengHei"/>
              </a:rPr>
              <a:t>核對：exp(2) = 7.3891，exp(1) = 2.7183，exp(0) = 1；三者相加 11.1073。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Graphic spid="8" grpId="0">
        <p:bldAsOne/>
      </p:bldGraphic>
      <p:bldGraphic spid="9" grpId="0">
        <p:bldAsOne/>
      </p:bldGraphic>
      <p:bldGraphic spid="10" grpId="0">
        <p:bldAsOne/>
      </p:bldGraphic>
      <p:bldGraphic spid="11" grpId="0">
        <p:bldAsOne/>
      </p:bldGraphic>
      <p:bldP spid="12" grpId="0" animBg="1"/>
      <p:bldGraphic spid="13" grpId="0">
        <p:bldAsOne/>
      </p:bldGraphic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二、軟目標 soft targets 與硬目標 hard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同一張 2，兩種溫度並排</a:t>
            </a:r>
          </a:p>
        </p:txBody>
      </p:sp>
      <p:pic>
        <p:nvPicPr>
          <p:cNvPr id="6" name="Picture 5" descr="f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400800" cy="25781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143000"/>
          <a:ext cx="4480558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0732"/>
                <a:gridCol w="1414913"/>
                <a:gridCol w="1414913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T = 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T = 4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P(3)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0.0180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0.2447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P(7)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0.0003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0.0900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P(3) ÷ P(7)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54.60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2.72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260604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636E"/>
                </a:solidFill>
                <a:latin typeface="Microsoft JhengHei"/>
              </a:rPr>
              <a:t>兩者的比值等於 exp((4 − 0)/T)：</a:t>
            </a:r>
          </a:p>
          <a:p>
            <a:r>
              <a:rPr sz="1600" b="0">
                <a:solidFill>
                  <a:srgbClr val="59636E"/>
                </a:solidFill>
                <a:latin typeface="Microsoft JhengHei"/>
              </a:rPr>
              <a:t>T = 1 是 e⁴ = 54.60，T = 4 是 e¹ = 2.72。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10881360" cy="73152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軟目標：老師在高溫下給出的機率，例如 (0.6652, 0.2447, 0.0900)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00600"/>
            <a:ext cx="1088136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硬目標：正確答案本身，2 的位置是 1，其餘是 0，即 (1, 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軟目標的資訊量比硬目標多，各筆訓練資料之間的梯度變異也比較小；論文指出學生因此可以用較少的資料、較大的學習率訓練。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三、蒸餾的損失函數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論文第 2 節：兩個目標函數的加權平均</a:t>
            </a:r>
          </a:p>
        </p:txBody>
      </p:sp>
      <p:pic>
        <p:nvPicPr>
          <p:cNvPr id="6" name="Picture 5" descr="m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5518871" cy="566928"/>
          </a:xfrm>
          <a:prstGeom prst="rect">
            <a:avLst/>
          </a:prstGeom>
        </p:spPr>
      </p:pic>
      <p:pic>
        <p:nvPicPr>
          <p:cNvPr id="7" name="Picture 6" descr="m_c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2629506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0116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軟目標項：老師的 p 與學生的 q 都在同一個溫度 T 下計算</a:t>
            </a:r>
          </a:p>
        </p:txBody>
      </p:sp>
      <p:pic>
        <p:nvPicPr>
          <p:cNvPr id="9" name="Picture 8" descr="m_c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3631404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0" y="28803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硬目標項：學生在 T = 1 下對正確類別的機率，取負對數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5303520" cy="118872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4E79"/>
                </a:solidFill>
                <a:latin typeface="Microsoft JhengHei"/>
              </a:rPr>
              <a:t>α：軟目標項的權重</a:t>
            </a:r>
          </a:p>
          <a:p>
            <a:pPr algn="l"/>
            <a:r>
              <a:rPr sz="1800" b="0">
                <a:solidFill>
                  <a:srgbClr val="1F4E79"/>
                </a:solidFill>
                <a:latin typeface="Microsoft JhengHei"/>
              </a:rPr>
              <a:t>論文指出硬目標項的權重取小較好，</a:t>
            </a:r>
          </a:p>
          <a:p>
            <a:pPr algn="l"/>
            <a:r>
              <a:rPr sz="1800" b="0">
                <a:solidFill>
                  <a:srgbClr val="1F4E79"/>
                </a:solidFill>
                <a:latin typeface="Microsoft JhengHei"/>
              </a:rPr>
              <a:t>本主題取 α = 0.9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794760"/>
            <a:ext cx="5303520" cy="118872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C03030"/>
                </a:solidFill>
                <a:latin typeface="Microsoft JhengHei"/>
              </a:rPr>
              <a:t>T²：軟目標項的梯度與 1/T² 成正比，</a:t>
            </a:r>
          </a:p>
          <a:p>
            <a:pPr algn="l"/>
            <a:r>
              <a:rPr sz="1800" b="0">
                <a:solidFill>
                  <a:srgbClr val="C03030"/>
                </a:solidFill>
                <a:latin typeface="Microsoft JhengHei"/>
              </a:rPr>
              <a:t>乘上 T² 後，換溫度時兩項的比重不變</a:t>
            </a:r>
          </a:p>
          <a:p>
            <a:pPr algn="l"/>
            <a:r>
              <a:rPr sz="1800" b="0">
                <a:solidFill>
                  <a:srgbClr val="C03030"/>
                </a:solidFill>
                <a:latin typeface="Microsoft JhengHei"/>
              </a:rPr>
              <a:t>（第 12 頁驗證）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E7A45"/>
                </a:solidFill>
                <a:latin typeface="Microsoft JhengHei"/>
              </a:rPr>
              <a:t>訓練完成後，學生使用時溫度回到 T = 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三、逐步計算 C_soft：T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學生 z = (4, 2, 2) 先做 softmax，再和老師的 p 算交叉熵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10058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143000"/>
          <a:ext cx="11887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z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0" y="1143000"/>
          <a:ext cx="137160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z ÷ 4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0.5000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0.5000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14300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exp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2.7183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1.6487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1.6487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1143000"/>
            <a:ext cx="1554480" cy="1316736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加總</a:t>
            </a:r>
          </a:p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6.0157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0" y="114300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q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0.4519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0.2741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0.2741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12344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636E"/>
                </a:solidFill>
                <a:latin typeface="Microsoft JhengHei"/>
              </a:rPr>
              <a:t>學生在 T = 4 下，</a:t>
            </a:r>
          </a:p>
          <a:p>
            <a:r>
              <a:rPr sz="1600" b="0">
                <a:solidFill>
                  <a:srgbClr val="59636E"/>
                </a:solidFill>
                <a:latin typeface="Microsoft JhengHei"/>
              </a:rPr>
              <a:t>3 和 7 的機率相同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880360"/>
          <a:ext cx="10058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28800" y="2880360"/>
          <a:ext cx="16459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老師 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0.6652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0.2447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0.0900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566160" y="2880360"/>
          <a:ext cx="16459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log q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-0.7944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-1.2944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-1.2944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03520" y="2880360"/>
          <a:ext cx="182880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p × log q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-0.5285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-0.3168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-0.1165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223760" y="2880360"/>
            <a:ext cx="4389120" cy="1316736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7A45"/>
                </a:solidFill>
                <a:latin typeface="Microsoft JhengHei"/>
              </a:rPr>
              <a:t>三列加總 = -0.9618</a:t>
            </a:r>
          </a:p>
          <a:p>
            <a:pPr algn="ctr"/>
            <a:r>
              <a:rPr sz="1900" b="1">
                <a:solidFill>
                  <a:srgbClr val="1E7A45"/>
                </a:solidFill>
                <a:latin typeface="Microsoft JhengHei"/>
              </a:rPr>
              <a:t>C_soft = −(加總) = 0.9618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log 是自然對數。各格四捨五入到小數第 4 位，加總用的是未進位的值。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如果學生的 q 和老師的 p 完全相同，C_soft 達到最小值；差得越多，C_soft 越大。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8" grpId="0">
        <p:bldAsOne/>
      </p:bldGraphic>
      <p:bldGraphic spid="9" grpId="0">
        <p:bldAsOne/>
      </p:bldGraphic>
      <p:bldP spid="10" grpId="0" animBg="1"/>
      <p:bldGraphic spid="11" grpId="0">
        <p:bldAsOne/>
      </p:bldGraphic>
      <p:bldP spid="12" grpId="0" animBg="1"/>
      <p:bldGraphic spid="13" grpId="0">
        <p:bldAsOne/>
      </p:bldGraphic>
      <p:bldGraphic spid="14" grpId="0">
        <p:bldAsOne/>
      </p:bldGraphic>
      <p:bldGraphic spid="15" grpId="0">
        <p:bldAsOne/>
      </p:bldGraphic>
      <p:bldGraphic spid="16" grpId="0">
        <p:bldAsOne/>
      </p:bldGraphic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三、逐步計算 C_hard 與總損失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C_hard 在 T = 1 下計算；α = 0.9，T =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10058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143000"/>
          <a:ext cx="118872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z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0" y="1143000"/>
          <a:ext cx="15544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exp(z)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54.5982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7.3891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7.3891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0" y="1143000"/>
            <a:ext cx="1554480" cy="1316736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加總</a:t>
            </a:r>
          </a:p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69.3763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143000"/>
          <a:ext cx="17373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q (T=1)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0.7870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0.1065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0.1065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21040" y="1143000"/>
            <a:ext cx="3291840" cy="1316736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E7A45"/>
                </a:solidFill>
                <a:latin typeface="Microsoft JhengHei"/>
              </a:rPr>
              <a:t>正確答案是 2</a:t>
            </a:r>
          </a:p>
          <a:p>
            <a:pPr algn="ctr"/>
            <a:r>
              <a:rPr sz="1800" b="1">
                <a:solidFill>
                  <a:srgbClr val="1E7A45"/>
                </a:solidFill>
                <a:latin typeface="Microsoft JhengHei"/>
              </a:rPr>
              <a:t>C_hard = −log 0.7870</a:t>
            </a:r>
          </a:p>
          <a:p>
            <a:pPr algn="ctr"/>
            <a:r>
              <a:rPr sz="1800" b="1">
                <a:solidFill>
                  <a:srgbClr val="1E7A45"/>
                </a:solidFill>
                <a:latin typeface="Microsoft JhengHei"/>
              </a:rPr>
              <a:t>= 0.2395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926080"/>
          <a:ext cx="108813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38984"/>
                <a:gridCol w="5440680"/>
                <a:gridCol w="2901696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項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算式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軟目標項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0.9 × 4² × 0.9618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13.8493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硬目標項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0.1 × 0.2395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0.0240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總損失 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兩項相加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020"/>
                          </a:solidFill>
                          <a:latin typeface="Consolas"/>
                        </a:rPr>
                        <a:t>13.8732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4348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636E"/>
                </a:solidFill>
                <a:latin typeface="Microsoft JhengHei"/>
              </a:rPr>
              <a:t>軟目標項乘了 T² = 16，所以數值比硬目標項大；兩項各自對梯度的貢獻，見下一頁。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8" grpId="0">
        <p:bldAsOne/>
      </p:bldGraphic>
      <p:bldP spid="9" grpId="0" animBg="1"/>
      <p:bldGraphic spid="10" grpId="0">
        <p:bldAsOne/>
      </p:bldGraphic>
      <p:bldP spid="11" grpId="0" animBg="1"/>
      <p:bldGraphic spid="12" grpId="0">
        <p:bldAsOne/>
      </p:bldGraphic>
      <p:bldP spid="13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三、逐步計算梯度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論文式 (2)：軟目標項對學生 logit 的梯度</a:t>
            </a:r>
          </a:p>
        </p:txBody>
      </p:sp>
      <p:pic>
        <p:nvPicPr>
          <p:cNvPr id="6" name="Picture 5" descr="m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713441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11430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硬目標項的梯度是一般交叉熵的結果：q(T=1) − 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48840"/>
          <a:ext cx="8229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45920" y="2148840"/>
          <a:ext cx="12801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q − p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-0.2134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0.0293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0.1840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017520" y="214884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÷ T（式 2）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-0.0533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0.0073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0.0460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0" y="2148840"/>
          <a:ext cx="15544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× α T² = 14.4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-0.7682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0.1056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0.6625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148840"/>
          <a:ext cx="146304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q(T=1) − y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-0.2130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0.1065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0.1065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0" y="2148840"/>
          <a:ext cx="15544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× (1 − α) = 0.1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-0.0213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0.0107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0.0107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418320" y="2148840"/>
          <a:ext cx="201168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總梯度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-0.7895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0.1163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0.6732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3749039"/>
            <a:ext cx="10881360" cy="9144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梯度下降往梯度的反方向更新：2 的 logit 會變大，7 的 logit 變小最多，3 只小幅下降。</a:t>
            </a:r>
          </a:p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學生因此往老師的看法「2 最像、3 其次、7 最不像」靠近。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636E"/>
                </a:solidFill>
                <a:latin typeface="Microsoft JhengHei"/>
              </a:rPr>
              <a:t>Colab 第 3 段用 TensorFlow 的自動微分 GradientTape 重算一次，</a:t>
            </a:r>
          </a:p>
          <a:p>
            <a:r>
              <a:rPr sz="1700" b="0">
                <a:solidFill>
                  <a:srgbClr val="59636E"/>
                </a:solidFill>
                <a:latin typeface="Microsoft JhengHei"/>
              </a:rPr>
              <a:t>得到相同的損失 13.8732 與相同的總梯度。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Graphic spid="8" grpId="0">
        <p:bldAsOne/>
      </p:bldGraphic>
      <p:bldGraphic spid="9" grpId="0">
        <p:bldAsOne/>
      </p:bldGraphic>
      <p:bldGraphic spid="10" grpId="0">
        <p:bldAsOne/>
      </p:bldGraphic>
      <p:bldGraphic spid="11" grpId="0">
        <p:bldAsOne/>
      </p:bldGraphic>
      <p:bldGraphic spid="12" grpId="0">
        <p:bldAsOne/>
      </p:bldGraphic>
      <p:bldGraphic spid="13" grpId="0">
        <p:bldAsOne/>
      </p:bldGraphic>
      <p:bldGraphic spid="14" grpId="0">
        <p:bldAsOne/>
      </p:bldGraphic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三、為什麼乘 T²，以及高溫下的極限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論文式 (2) 到式 (4)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5486398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66273"/>
                <a:gridCol w="2887578"/>
                <a:gridCol w="1732547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T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式 (2) 梯度最大絕對值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乘 T² 後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0.194704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0.1947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0.053345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0.8535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0.002637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1.0547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26060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02020"/>
                </a:solidFill>
                <a:latin typeface="Microsoft JhengHei"/>
              </a:rPr>
              <a:t>T 從 4 升到 20，梯度縮小約 20 倍，接近 (20/4)² = 25 倍。</a:t>
            </a:r>
          </a:p>
          <a:p>
            <a:r>
              <a:rPr sz="1600" b="0">
                <a:solidFill>
                  <a:srgbClr val="202020"/>
                </a:solidFill>
                <a:latin typeface="Microsoft JhengHei"/>
              </a:rPr>
              <a:t>乘上 T² 之後是 0.85 與 1.05，大小相近。</a:t>
            </a:r>
          </a:p>
          <a:p>
            <a:r>
              <a:rPr sz="1600" b="0">
                <a:solidFill>
                  <a:srgbClr val="202020"/>
                </a:solidFill>
                <a:latin typeface="Microsoft JhengHei"/>
              </a:rPr>
              <a:t>1/T² 的比例是高溫下的近似，T = 1 不在這個範圍內。</a:t>
            </a:r>
          </a:p>
        </p:txBody>
      </p:sp>
      <p:pic>
        <p:nvPicPr>
          <p:cNvPr id="8" name="Picture 7" descr="m_lo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4025748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02020"/>
                </a:solidFill>
                <a:latin typeface="Microsoft JhengHei"/>
              </a:rPr>
              <a:t>條件：logit 各自減去平均值，且 T 遠大於 logit。</a:t>
            </a:r>
          </a:p>
          <a:p>
            <a:r>
              <a:rPr sz="1600" b="0">
                <a:solidFill>
                  <a:srgbClr val="202020"/>
                </a:solidFill>
                <a:latin typeface="Microsoft JhengHei"/>
              </a:rPr>
              <a:t>N 是類別數。這等於最小化</a:t>
            </a:r>
          </a:p>
        </p:txBody>
      </p:sp>
      <p:pic>
        <p:nvPicPr>
          <p:cNvPr id="10" name="Picture 9" descr="m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606040"/>
            <a:ext cx="1655219" cy="54864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3291840"/>
          <a:ext cx="4937760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87552"/>
                <a:gridCol w="1975104"/>
                <a:gridCol w="197510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式 (2) 精確值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式 (4) 近似值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-0.00229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-0.00222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-0.00034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-0.00056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0.00264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0.00278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636E"/>
                </a:solidFill>
                <a:latin typeface="Microsoft JhengHei"/>
              </a:rPr>
              <a:t>T = 20；減去平均後 z = (1.33, −0.67, −0.67)，v = (4, 0, −4)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60"/>
            <a:ext cx="10881360" cy="9144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高溫時，蒸餾等於讓學生的 logit 直接貼齊老師的 logit；溫度較低時，非常負的 logit 不必貼齊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Graphic spid="11" grpId="0">
        <p:bldAsOne/>
      </p:bldGraphic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換資料：MNIST 手寫數字實驗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從這一頁到最後，都用 Colab 程式 knowledge_distillation.ipynb 的輸出</a:t>
            </a:r>
          </a:p>
        </p:txBody>
      </p:sp>
      <p:pic>
        <p:nvPicPr>
          <p:cNvPr id="6" name="Picture 5" descr="f_dig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153074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606040"/>
          <a:ext cx="10881360" cy="19751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0240"/>
                <a:gridCol w="4160520"/>
                <a:gridCol w="48006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論文第 3 節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本主題的 Colab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訓練資料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60,000 張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10,000 張（0 到 9 各 1,000 張）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測試資料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10,000 張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10,000 張（同一個測試集）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老師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1200-1200，Dropout，平移 2 像素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1200-1200，Dropout，平移 2 像素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學生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800-800，無正則化；另試 30-30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100-100，無正則化；另試 30-30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蒸餾溫度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20（另試多種）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1、2、4、8、20；α = 0.9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548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數字 1200-1200 表示兩個隱藏層、每層 1,200 個神經元。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資料和模型都比論文小，答錯張數不會相同；要看的是三個趨勢是否一致。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7" grpId="0">
        <p:bldAsOne/>
      </p:bldGraphic>
      <p:bldP spid="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四、結果一：蒸餾的學生答錯較少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測試集 10,000 張的答錯張數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5669279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29691"/>
                <a:gridCol w="1619794"/>
                <a:gridCol w="161979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論文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本主題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老師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67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222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學生，只學正確答案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146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420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學生，蒸餾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74（T = 20）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02020"/>
                          </a:solidFill>
                          <a:latin typeface="Consolas"/>
                        </a:rPr>
                        <a:t>319（T = 20）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120640" cy="27203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2697480"/>
            <a:ext cx="5669280" cy="11430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本主題：蒸餾把學生和老師之間的差距</a:t>
            </a:r>
          </a:p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從 198 張縮小到 97 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論文的老師用平移過的影像訓練，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學生的移轉集則沒有平移過的影像。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學生仍學到了老師對平移的處理方式，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因為這個資訊包含在軟目標裡。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9636E"/>
                </a:solidFill>
                <a:latin typeface="Microsoft JhengHei"/>
              </a:rPr>
              <a:t>藍線：學生 100-100。各溫度都比虛線（只學正確答案）少錯。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四、結果二：學生很小時，溫度取中間值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學生縮小為 30-30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5669280" cy="2304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T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100-100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 30-30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只學正確答案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397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522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343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545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327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498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322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554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319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599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120640" cy="27203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3886200"/>
            <a:ext cx="1088136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JhengHei"/>
              </a:rPr>
              <a:t>論文：每層 300 個以上時，8 以上的溫度結果相近；每層 30 個時，2.5 到 4 明顯最好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92040"/>
            <a:ext cx="10881360" cy="9144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E7A45"/>
                </a:solidFill>
                <a:latin typeface="Microsoft JhengHei"/>
              </a:rPr>
              <a:t>本主題：30-30 在 T = 4 最少（498 張），T = 20 反而比只學正確答案還多錯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636E"/>
                </a:solidFill>
                <a:latin typeface="Microsoft JhengHei"/>
              </a:rPr>
              <a:t>解釋：溫度越高越接近比對 logit，連非常負的 logit 也要貼齊；太小的學生容量不夠，學這些反而有害。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四、結果三：學生從沒看過數字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移轉集拿掉所有的 3（本主題剩 9,000 張）；測試集有 1,010 張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10881359" cy="19751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32883"/>
                <a:gridCol w="1886102"/>
                <a:gridCol w="2176272"/>
                <a:gridCol w="188610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總共答錯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其中 3 答錯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3 的答對率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本主題：只學正確答案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1372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1010 / 1010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0.0%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本主題：蒸餾 T = 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727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457 / 1010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54.8%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本主題：蒸餾，3 的 logit 加 3.0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442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104 / 1010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89.7%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論文：蒸餾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206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133 / 1010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86.8%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論文：蒸餾，3 的偏差值加 3.5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14 / 1010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98.6%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337560"/>
            <a:ext cx="5303520" cy="14630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59636E"/>
                </a:solidFill>
                <a:latin typeface="Microsoft JhengHei"/>
              </a:rPr>
              <a:t>只學正確答案：訓練時沒有任何一張的答案是 3，</a:t>
            </a:r>
          </a:p>
          <a:p>
            <a:pPr algn="l"/>
            <a:r>
              <a:rPr sz="1700" b="1">
                <a:solidFill>
                  <a:srgbClr val="59636E"/>
                </a:solidFill>
                <a:latin typeface="Microsoft JhengHei"/>
              </a:rPr>
              <a:t>不可能答出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337560"/>
            <a:ext cx="5303520" cy="146304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1E7A45"/>
                </a:solidFill>
                <a:latin typeface="Microsoft JhengHei"/>
              </a:rPr>
              <a:t>蒸餾：老師的軟目標包含「這張 8 有一點像 3」</a:t>
            </a:r>
          </a:p>
          <a:p>
            <a:pPr algn="l"/>
            <a:r>
              <a:rPr sz="1700" b="1">
                <a:solidFill>
                  <a:srgbClr val="1E7A45"/>
                </a:solidFill>
                <a:latin typeface="Microsoft JhengHei"/>
              </a:rPr>
              <a:t>這類資訊，學生由此學到 3 的特徵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答錯的 3 大多是因為 3 這一類的偏差值學得太低：訓練時從來沒有一張圖的答案是 3。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論文用測試集挑選加多少，本主題照做；因為用了測試集，加偏差值後的數字偏樂觀。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論文的其他結果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第 4 節語音辨識、第 5 節專家模型、第 6 節軟目標當作正則化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43000"/>
          <a:ext cx="5394958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25300"/>
                <a:gridCol w="1492222"/>
                <a:gridCol w="1377436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系統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框架準確率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詞錯誤率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單一模型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58.9%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10.9%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 個模型的組合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61.1%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10.7%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蒸餾的單一模型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60.8%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10.7%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25603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JhengHei"/>
              </a:rPr>
              <a:t>Android 語音搜尋的聲學模型：10 個模型組合帶來的進步，</a:t>
            </a:r>
          </a:p>
          <a:p>
            <a:r>
              <a:rPr sz="1500" b="0">
                <a:solidFill>
                  <a:srgbClr val="202020"/>
                </a:solidFill>
                <a:latin typeface="Microsoft JhengHei"/>
              </a:rPr>
              <a:t>超過 80% 移轉到同樣大小的單一模型。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143000"/>
          <a:ext cx="5212079" cy="1316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18167"/>
                <a:gridCol w="1575745"/>
                <a:gridCol w="1818167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訓練方式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訓練資料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測試準確率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硬目標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58.9%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硬目標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44.5%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軟目標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3%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02020"/>
                          </a:solidFill>
                          <a:latin typeface="Consolas"/>
                        </a:rPr>
                        <a:t>57.0%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25603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JhengHei"/>
              </a:rPr>
              <a:t>只用 3% 的資料，軟目標仍接近用全部資料的結果；</a:t>
            </a:r>
          </a:p>
          <a:p>
            <a:r>
              <a:rPr sz="1500" b="0">
                <a:solidFill>
                  <a:srgbClr val="202020"/>
                </a:solidFill>
                <a:latin typeface="Microsoft JhengHei"/>
              </a:rPr>
              <a:t>硬目標則嚴重過擬合，需要提前停止。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881360" cy="12801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F4E79"/>
                </a:solidFill>
                <a:latin typeface="Microsoft JhengHei"/>
              </a:rPr>
              <a:t>專家模型 specialist models：在 1 億張、15,000 類的 JFT 資料集上，</a:t>
            </a:r>
          </a:p>
          <a:p>
            <a:pPr algn="l"/>
            <a:r>
              <a:rPr sz="1700" b="0">
                <a:solidFill>
                  <a:srgbClr val="1F4E79"/>
                </a:solidFill>
                <a:latin typeface="Microsoft JhengHei"/>
              </a:rPr>
              <a:t>另訓練 61 個各自專精一群易混淆類別的模型，與原模型合用，測試準確率由 25.0% 提高到 26.1%。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9636E"/>
                </a:solidFill>
                <a:latin typeface="Microsoft JhengHei"/>
              </a:rPr>
              <a:t>以上數字取自論文表 1、表 3、表 5，本主題沒有重做。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Graphic spid="8" grpId="0">
        <p:bldAsOne/>
      </p:bldGraphic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整理與練習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881360" cy="6400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1　溫度 T 越高，softmax 的機率越平均，錯誤類別的資訊越看得到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881360" cy="6400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2　損失 = α T² × 軟目標交叉熵 + (1 − α) × 硬目標交叉熵；乘 T² 是為了抵銷 1/T²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0881360" cy="64008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3　高溫的極限等於比對 logit；學生很小時，中間的溫度較好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881360" cy="6858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03030"/>
                </a:solidFill>
                <a:latin typeface="Microsoft JhengHei"/>
              </a:rPr>
              <a:t>練習一　T = 2 時，老師 v = (8, 4, 0) 的軟目標是多少？依第 5 頁的四步計算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51960"/>
            <a:ext cx="10881360" cy="6858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03030"/>
                </a:solidFill>
                <a:latin typeface="Microsoft JhengHei"/>
              </a:rPr>
              <a:t>練習二　學生 z 改成 (8, 4, 0)，和老師相同。式 (2) 的梯度是多少？為什麼？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881360" cy="6858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03030"/>
                </a:solidFill>
                <a:latin typeface="Microsoft JhengHei"/>
              </a:rPr>
              <a:t>練習三　在 Colab 第 7 段改成拿掉數字 7，重做一次，記錄 7 的答對率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9636E"/>
                </a:solidFill>
                <a:latin typeface="Microsoft JhengHei"/>
              </a:rPr>
              <a:t>練習一可以在 Colab 第 2 段把 T 改成 2 核對；練習二可以在第 3 段核對。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