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Microsoft JhengHei"/>
              </a:rPr>
              <a:t>知識蒸餾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FFFFFF"/>
                </a:solidFill>
                <a:latin typeface="Microsoft JhengHei"/>
              </a:rPr>
              <a:t>Knowledge Distillation（KD）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611880"/>
            <a:ext cx="27432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  <a:p>
            <a:r>
              <a:rPr sz="1800" b="0">
                <a:solidFill>
                  <a:srgbClr val="C7D6E5"/>
                </a:solidFill>
                <a:latin typeface="Microsoft JhengHei"/>
              </a:rPr>
              <a:t>Distilling the Knowledge in a Neural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D6E5"/>
                </a:solidFill>
                <a:latin typeface="Microsoft JhengHei"/>
              </a:rPr>
              <a:t>© 2026 海事AI實驗室 Maritime AI Lab　版權所有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本教材大綱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一　緒論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訓練與部署的需求不同；錯誤答案的相對機率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3–4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二　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帶溫度的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5–8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　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L = α T² C_soft + (1 − α) C_hard 逐步計算；梯度；為什麼乘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9–13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四　MNIST 初步實驗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測試錯誤數較少；很小的網路取中間溫度；未曾見過的數字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14–18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三個要點與三題練習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429000"/>
            <a:ext cx="1088136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1. 手算帶溫度的 softmax，說明軟目標比硬目標多傳遞了什麼資訊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2. 寫出蒸餾的目標函數，逐步算出其值與梯度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3. 在 Colab 訓練笨重模型與蒸餾模型，並解讀溫度的影響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一、緒論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訓練階段與部署階段的需求大不相同（論文第 1 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31234"/>
                <a:gridCol w="2719346"/>
                <a:gridCol w="24330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非常大、高度重複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不必即時完成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延遲要求嚴格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可使用大量運算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運算資源有限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JhengHei"/>
              </a:rPr>
              <a:t>笨重模型 cumbersome model</a:t>
            </a:r>
          </a:p>
          <a:p>
            <a:pPr algn="ctr"/>
            <a:r>
              <a:rPr sz="1400" b="0">
                <a:solidFill>
                  <a:srgbClr val="1F4E79"/>
                </a:solidFill>
                <a:latin typeface="Microsoft JhengHei"/>
              </a:rPr>
              <a:t>多個模型的組合，或強正則化的大網路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蒸餾模型 distilled model</a:t>
            </a:r>
          </a:p>
          <a:p>
            <a:pPr algn="ctr"/>
            <a:r>
              <a:rPr sz="1400" b="0">
                <a:solidFill>
                  <a:srgbClr val="1E7A45"/>
                </a:solidFill>
                <a:latin typeface="Microsoft JhengHei"/>
              </a:rPr>
              <a:t>小、適合部署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蒸餾 distillation：另一種訓練方式，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把笨重模型的知識移轉到適合部署的小模型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我們往往把一個訓練好的模型的知識，等同於它學到的參數值；這使人難以看出，如何改變模型的形式而保留同樣的知識。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一個較抽象、不綁定特定模型的看法是：知識是模型學到的、從輸入向量到輸出向量的對應。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一、錯誤答案的相對機率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1 節的例子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學習的副作用是：訓練好的模型會給所有錯誤答案一個機率。這些機率即使很小，彼此仍可相差許多倍，並透露模型傾向如何類推。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1168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的影像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被誤認為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機會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還要小很多倍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4612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某種寫法的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3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7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另一種寫法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2011680"/>
            <a:ext cx="4114800" cy="22402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這定義了資料之間豐富的相似結構：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哪些 2 像 3、哪些 2 像 7。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問題：這些機率太接近 0，在移轉階段對交叉熵代價函數幾乎沒有影響。</a:t>
            </a:r>
          </a:p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論文的解法：提高最後一層 softmax 的溫度，直到笨重模型產生夠軟的目標（第二部分）。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13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logit 是最後一層 softmax 的輸入。為了能手算，只考慮 2、3、7 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65960"/>
          <a:ext cx="58521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00332"/>
                <a:gridCol w="1688123"/>
                <a:gridCol w="1688123"/>
                <a:gridCol w="15755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笨重模型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蒸餾模型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正確標籤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965960"/>
            <a:ext cx="475488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笨重模型確定這是 2，</a:t>
            </a:r>
          </a:p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並認為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429000"/>
            <a:ext cx="475488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59636E"/>
                </a:solidFill>
                <a:latin typeface="Microsoft JhengHei"/>
              </a:rPr>
              <a:t>蒸餾模型尚未訓練：</a:t>
            </a:r>
          </a:p>
          <a:p>
            <a:pPr algn="l"/>
            <a:r>
              <a:rPr sz="1900" b="1">
                <a:solidFill>
                  <a:srgbClr val="59636E"/>
                </a:solidFill>
                <a:latin typeface="Microsoft JhengHei"/>
              </a:rPr>
              <a:t>分得出 2，但 3 與 7 給相同的 logit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這組 logit 是為手算而選的，不是訓練好的模型的輸出。</a:t>
            </a:r>
          </a:p>
          <a:p>
            <a:r>
              <a:rPr sz="1700" b="0">
                <a:solidFill>
                  <a:srgbClr val="59636E"/>
                </a:solidFill>
                <a:latin typeface="Microsoft JhengHei"/>
              </a:rPr>
              <a:t>溫度 T 與權重 α 在第一次用到時介紹。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通常設為 1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softmax 把每個類別算出的 logit z_i 與其他 logit 比較，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轉成機率 q_i；T 是溫度。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3 和 7 的機率是 0.0180 與 0.0003。「這個 2 比較像 3、不像 7」的資訊雖然存在，</a:t>
            </a:r>
          </a:p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對交叉熵代價函數卻幾乎沒有影響。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1，三者相加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同一組笨重模型的 logit，改用較高的溫度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T 取較大的值，類別上的機率分布較軟：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第 1 步把 logit 之間的差距縮小為四分之一。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在這個溫度下，錯誤類別的相對機率大到足以影響學習。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1，三者相加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二、軟目標與硬目標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同一個 2，兩種溫度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/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比值等於 exp((4 − 0)/T)：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軟目標：笨重模型在高溫下產生的類別機率，例如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硬目標：正確標籤，此例為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軟目標的熵較高時，每個訓練樣本提供的資訊比硬目標多得多，訓練樣本之間的梯度變異也小得多；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因此小模型常可用比笨重模型少得多的資料、高得多的學習率訓練。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19659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與軟目標的交叉熵：蒸餾模型的 softmax 使用與產生軟目標時相同的高溫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與正確標籤的交叉熵：使用蒸餾模型完全相同的 logit，但溫度為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α：論文發現，第二個目標函數的權重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取得低很多時，結果通常最好；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本教材取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C03030"/>
                </a:solidFill>
                <a:latin typeface="Microsoft JhengHei"/>
              </a:rPr>
              <a:t>T²：軟目標產生的梯度大小與 1/T² 成正比，</a:t>
            </a:r>
          </a:p>
          <a:p>
            <a:pPr algn="l"/>
            <a:r>
              <a:rPr sz="1700" b="0">
                <a:solidFill>
                  <a:srgbClr val="C03030"/>
                </a:solidFill>
                <a:latin typeface="Microsoft JhengHei"/>
              </a:rPr>
              <a:t>因此乘上 T²，換溫度時兩項的相對貢獻</a:t>
            </a:r>
          </a:p>
          <a:p>
            <a:pPr algn="l"/>
            <a:r>
              <a:rPr sz="1700" b="0">
                <a:solidFill>
                  <a:srgbClr val="C03030"/>
                </a:solidFill>
                <a:latin typeface="Microsoft JhengHei"/>
              </a:rPr>
              <a:t>大致不變（第 13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E7A45"/>
                </a:solidFill>
                <a:latin typeface="Microsoft JhengHei"/>
              </a:rPr>
              <a:t>蒸餾模型訓練完成後，使用時溫度為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蒸餾模型 z = (4, 2, 2) 的 softmax，再與軟目標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T = 4 時，蒸餾模型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給 3 與 7 相同的機率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log 為自然對數。各格四捨五入到小數第 4 位，加總以未進位的值計算。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q 與 p 相同時 C_soft 最小，兩者差得越多 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與目標函數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C_hard 在溫度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 的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正確標籤是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目標函數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16，所以遠大於硬目標項；兩項各自對梯度的貢獻見下一頁。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(2)：對蒸餾模型每個 logit 的交叉熵梯度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硬目標項的梯度即一般交叉熵的梯度：q(T=1)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梯度下降使 2 的 logit 上升、7 的 logit 下降最多、3 的 logit 只略為下降，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蒸餾模型因而往笨重模型的看法靠近：先是 2，其次是 3，最後是 7。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Colab 第 3 段以自動微分（TensorFlow GradientTape）重算，</a:t>
            </a:r>
          </a:p>
          <a:p>
            <a:r>
              <a:rPr sz="1700" b="0">
                <a:solidFill>
                  <a:srgbClr val="59636E"/>
                </a:solidFill>
                <a:latin typeface="Microsoft JhengHei"/>
              </a:rPr>
              <a:t>得到相同的目標函數值 13.8732 與相同的梯度。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T²，以及比對 logit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 至式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倍；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乘上 T² 後是 0.85 與 1.05，大小相近。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1/T² 的比例在高溫極限下成立，T = 1 不在此範圍。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若溫度遠大於 logit，且 logit 對每個移轉樣本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各自減去平均（N 為類別數），蒸餾等於最小化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比對 logit 是蒸餾的特例。溫度較低時，蒸餾對「比平均負很多的 logit」的比對注意得少得多。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MNIST 初步實驗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從這一頁起，結果都來自 Colab 程式 knowledge_distillation.ipynb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10,000（每個數字 1000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1200-1200 表示兩個隱藏層，各有 1200 個整流線性單元。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訓練集與網路都比論文小，測試錯誤數不會相同；要看的是三個效應是否重現。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四、蒸餾使測試錯誤數減少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個樣本的錯誤數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本教材：蒸餾把小網路與笨重模型的差距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從 198 個錯誤縮小到 97 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論文指出：軟目標能把大量知識移轉給蒸餾模型，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包括從平移過的訓練資料學到的類推方式，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即使移轉集裡沒有任何平移過的影像。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藍線：小網路 100-100。每個溫度下，蒸餾的測試錯誤數都少於只用硬目標（虛線）。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四、很小的網路取中間溫度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小網路縮小為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F4E79"/>
                </a:solidFill>
                <a:latin typeface="Microsoft JhengHei"/>
              </a:rPr>
              <a:t>論文：每層 300 個以上單元時，8 以上的溫度結果相當接近；每層縮減為 30 個時，</a:t>
            </a:r>
          </a:p>
          <a:p>
            <a:pPr algn="l"/>
            <a:r>
              <a:rPr sz="1700" b="1">
                <a:solidFill>
                  <a:srgbClr val="1F4E79"/>
                </a:solidFill>
                <a:latin typeface="Microsoft JhengHei"/>
              </a:rPr>
              <a:t>2.5 至 4 的溫度明顯優於更高或更低的溫度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本教材：30-30 在 T = 4 最好（498 個錯誤），T = 20 反而比只用硬目標還差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蒸餾模型小到無法容納笨重模型全部的知識時，忽略那些很負的 logit 反而有幫助。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四、未曾見過的數字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3（本教材剩 9000 個樣本）；測試集有 1010 個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804756"/>
                <a:gridCol w="1837112"/>
                <a:gridCol w="2119745"/>
                <a:gridCol w="211974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測試錯誤數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的錯誤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測試集 3 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本教材：蒸餾，3 的偏差值加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只用硬目標：沒有任何訓練樣本的標籤是 3，</a:t>
            </a:r>
          </a:p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網路永遠不會輸出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蒸餾：其他數字的軟目標說明了它們各自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有幾分像 3，蒸餾模型由此學到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大部分錯誤來自 3 這一類學到的偏差值太低。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與論文相同，偏差值加多少是以測試集上的整體表現挑選的，因此修正後的數字偏樂觀。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節軟目標作為正則化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72690"/>
                <a:gridCol w="1798320"/>
                <a:gridCol w="112394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WER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語音搜尋的聲學模型：組合模型在框架分類準確率上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的進步，超過 80% 移轉到蒸餾模型。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76845"/>
                <a:gridCol w="1421476"/>
                <a:gridCol w="2013758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軟目標讓新模型只用 3% 的訓練集就能良好類推；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只用硬目標則嚴重過擬合，需要提前停止。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專家模型：在 JFT（1 億張有標籤影像、15,000 個標籤）上，另訓練 61 個專家模型，各自負責一群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容易混淆的類別，與通用模型合用，測試準確率由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5，本教材沒有重做。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1　溫度越高，分布越軟，錯誤類別的相對機率越能被看見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2　L = α T² × 與軟目標的交叉熵 + (1 − α) × 與硬目標的交叉熵；T² 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3　比對 logit 是高溫極限；很小的網路在中間溫度最好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時，v = (8, 4, 0) 的軟目標是多少？依第 6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練習二　蒸餾模型的 logit 設為 z = (8, 4, 0)，與 v 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7，記錄測試集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59636E"/>
                </a:solidFill>
                <a:latin typeface="Microsoft JhengHei"/>
              </a:rPr>
              <a:t>練習一可在 Colab 第 2 段把 T 改成 2 核對；練習二可在第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