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課外主題｜梯度下降法 Gradient Descent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對應補充教材《深度學習 2023_0601_R2》第 30 至 39 頁；自主學習用，不排固定週次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515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一　學理：更新式、手算六步、學習率的影響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29968"/>
            <a:ext cx="10515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二　二維：等高線、法線方向，以及鋸齒是怎麼來的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25496"/>
            <a:ext cx="10515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三　程式：手寫 NumPy 版與 TensorFlow 2 框架版，數字必須一致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621024"/>
            <a:ext cx="10515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202020"/>
                </a:solidFill>
                <a:latin typeface="Microsoft JhengHei"/>
              </a:rPr>
              <a:t>四　AI 時代人類的角色：框架算錯不會報錯，誰來判斷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59636E"/>
                </a:solidFill>
                <a:latin typeface="Microsoft JhengHei"/>
              </a:rPr>
              <a:t>全份只用一個示範函數：L(w) = (w − 3)²，起點 w = 0，學習率 0.1。</a:t>
            </a:r>
          </a:p>
          <a:p>
            <a:r>
              <a:rPr sz="1900" b="0">
                <a:solidFill>
                  <a:srgbClr val="59636E"/>
                </a:solidFill>
                <a:latin typeface="Microsoft JhengHei"/>
              </a:rPr>
              <a:t>從頭到尾都是同一個例子，手算、畫圖、兩版程式算的都是它，數字可以互相核對。</a:t>
            </a:r>
          </a:p>
          <a:p>
            <a:r>
              <a:rPr sz="1900" b="0">
                <a:solidFill>
                  <a:srgbClr val="59636E"/>
                </a:solidFill>
                <a:latin typeface="Microsoft JhengHei"/>
              </a:rPr>
              <a:t>補充教材那十頁有公式與等高線圖，但沒有一個數字跑得出來，也沒有程式；本份補的就是這一段。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一、先看補充教材講了什麼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第 30 至 39 頁，共十頁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212080" cy="640080"/>
          </a:xfrm>
          <a:prstGeom prst="rect">
            <a:avLst/>
          </a:prstGeom>
          <a:solidFill>
            <a:srgbClr val="DAE6F2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F4E79"/>
                </a:solidFill>
                <a:latin typeface="Microsoft JhengHei"/>
              </a:rPr>
              <a:t>p30–p31　更新式與等高線的法線方向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212080" cy="640080"/>
          </a:xfrm>
          <a:prstGeom prst="rect">
            <a:avLst/>
          </a:prstGeom>
          <a:solidFill>
            <a:srgbClr val="DAE6F2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F4E79"/>
                </a:solidFill>
                <a:latin typeface="Microsoft JhengHei"/>
              </a:rPr>
              <a:t>p32–p33　三個參數各自 Compute 一次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5212080" cy="640080"/>
          </a:xfrm>
          <a:prstGeom prst="rect">
            <a:avLst/>
          </a:prstGeom>
          <a:solidFill>
            <a:srgbClr val="DAE6F2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F4E79"/>
                </a:solidFill>
                <a:latin typeface="Microsoft JhengHei"/>
              </a:rPr>
              <a:t>p34–p36　損失地形與 global minimum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5212080" cy="640080"/>
          </a:xfrm>
          <a:prstGeom prst="rect">
            <a:avLst/>
          </a:prstGeom>
          <a:solidFill>
            <a:srgbClr val="DAE6F2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F4E79"/>
                </a:solidFill>
                <a:latin typeface="Microsoft JhengHei"/>
              </a:rPr>
              <a:t>p37　　　Learning Rate 的影響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5212080" cy="640080"/>
          </a:xfrm>
          <a:prstGeom prst="rect">
            <a:avLst/>
          </a:prstGeom>
          <a:solidFill>
            <a:srgbClr val="DAE6F2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F4E79"/>
                </a:solidFill>
                <a:latin typeface="Microsoft JhengHei"/>
              </a:rPr>
              <a:t>p38–p39　總結，以及「這就是機器的學習」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120640" cy="64008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C03030"/>
                </a:solidFill>
                <a:latin typeface="Microsoft JhengHei"/>
              </a:rPr>
              <a:t>缺：任何一個算得出來的數字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5120640" cy="64008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C03030"/>
                </a:solidFill>
                <a:latin typeface="Microsoft JhengHei"/>
              </a:rPr>
              <a:t>缺：學習率太大到底會怎樣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651760"/>
            <a:ext cx="5120640" cy="64008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C03030"/>
                </a:solidFill>
                <a:latin typeface="Microsoft JhengHei"/>
              </a:rPr>
              <a:t>缺：鋸齒路徑長什麼樣子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383280"/>
            <a:ext cx="5120640" cy="64008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C03030"/>
                </a:solidFill>
                <a:latin typeface="Microsoft JhengHei"/>
              </a:rPr>
              <a:t>缺：對應的程式範例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114800"/>
            <a:ext cx="5120640" cy="64008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C03030"/>
                </a:solidFill>
                <a:latin typeface="Microsoft JhengHei"/>
              </a:rPr>
              <a:t>缺：框架版與手寫版的對照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20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03030"/>
                </a:solidFill>
                <a:latin typeface="Microsoft JhengHei"/>
              </a:rPr>
              <a:t>p39 寫「This is the "learning" of machines in deep learning」，</a:t>
            </a:r>
          </a:p>
          <a:p>
            <a:r>
              <a:rPr sz="2000" b="1">
                <a:solidFill>
                  <a:srgbClr val="C03030"/>
                </a:solidFill>
                <a:latin typeface="Microsoft JhengHei"/>
              </a:rPr>
              <a:t>但整段看完只看得到公式與示意圖，沒有一行能跑的東西可以對照。本份把右邊五項補起來。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二、問題設定：要最小化一個函數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示範函數選一個手算得出答案的，這樣才驗證得了程式有沒有寫對</a:t>
            </a:r>
          </a:p>
        </p:txBody>
      </p:sp>
      <p:pic>
        <p:nvPicPr>
          <p:cNvPr id="5" name="Picture 4" descr="m_loss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5852160" cy="780946"/>
          </a:xfrm>
          <a:prstGeom prst="rect">
            <a:avLst/>
          </a:prstGeom>
        </p:spPr>
      </p:pic>
      <p:pic>
        <p:nvPicPr>
          <p:cNvPr id="6" name="Picture 5" descr="f1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28800"/>
            <a:ext cx="4937760" cy="27774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1945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202020"/>
                </a:solidFill>
                <a:latin typeface="Microsoft JhengHei"/>
              </a:rPr>
              <a:t>最小值在 w = 3，一眼就看得出來。</a:t>
            </a:r>
          </a:p>
          <a:p>
            <a:r>
              <a:rPr sz="1900" b="0">
                <a:solidFill>
                  <a:srgbClr val="202020"/>
                </a:solidFill>
                <a:latin typeface="Microsoft JhengHei"/>
              </a:rPr>
              <a:t/>
            </a:r>
          </a:p>
          <a:p>
            <a:r>
              <a:rPr sz="1900" b="0">
                <a:solidFill>
                  <a:srgbClr val="202020"/>
                </a:solidFill>
                <a:latin typeface="Microsoft JhengHei"/>
              </a:rPr>
              <a:t>起點取 w⁽⁰⁾ = 0，學習率 η = 0.1。</a:t>
            </a:r>
          </a:p>
          <a:p>
            <a:r>
              <a:rPr sz="1900" b="0">
                <a:solidFill>
                  <a:srgbClr val="202020"/>
                </a:solidFill>
                <a:latin typeface="Microsoft JhengHei"/>
              </a:rPr>
              <a:t/>
            </a:r>
          </a:p>
          <a:p>
            <a:r>
              <a:rPr sz="1900" b="0">
                <a:solidFill>
                  <a:srgbClr val="202020"/>
                </a:solidFill>
                <a:latin typeface="Microsoft JhengHei"/>
              </a:rPr>
              <a:t>右圖的紅點是前三步的實際位置：</a:t>
            </a:r>
          </a:p>
          <a:p>
            <a:r>
              <a:rPr sz="1900" b="0">
                <a:solidFill>
                  <a:srgbClr val="202020"/>
                </a:solidFill>
                <a:latin typeface="Microsoft JhengHei"/>
              </a:rPr>
              <a:t>0.00 → 0.60 → 1.08 → 1.46。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617720"/>
            <a:ext cx="10881360" cy="749808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E7A45"/>
                </a:solidFill>
                <a:latin typeface="Microsoft JhengHei"/>
              </a:rPr>
              <a:t>梯度在 w = 0 處是 2(0 − 3) = −6，是負的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Microsoft JhengHei"/>
              </a:rPr>
              <a:t>所以 w 要往正的方向移動——往下坡走，不是往梯度的方向走。更新式的減號就是這個意思。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三、更新式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這一條就是整個梯度下降</a:t>
            </a:r>
          </a:p>
        </p:txBody>
      </p:sp>
      <p:pic>
        <p:nvPicPr>
          <p:cNvPr id="5" name="Picture 4" descr="m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234440"/>
            <a:ext cx="7589520" cy="86083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2651760"/>
            <a:ext cx="5120640" cy="566928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θ　　參數 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91840"/>
            <a:ext cx="5120640" cy="566928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L　　損失函數 loss function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651760"/>
            <a:ext cx="5120640" cy="566928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η　　學習率 learning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291840"/>
            <a:ext cx="5120640" cy="566928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∇L　 梯度，各參數偏微分組成的向量</a:t>
            </a:r>
          </a:p>
        </p:txBody>
      </p:sp>
      <p:pic>
        <p:nvPicPr>
          <p:cNvPr id="10" name="Picture 9" descr="m_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069080"/>
            <a:ext cx="6309360" cy="66250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22960" y="5166360"/>
            <a:ext cx="10515600" cy="749808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1E7A45"/>
                </a:solidFill>
                <a:latin typeface="Microsoft JhengHei"/>
              </a:rPr>
              <a:t>第 1 步：w⁽⁰⁾ = 0，梯度 −6，走 0.1 × 6 = 0.6，到 w⁽¹⁾ = 0.6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C03030"/>
                </a:solidFill>
                <a:latin typeface="Microsoft JhengHei"/>
              </a:rPr>
              <a:t>請先自己算一次這一步，再看下一頁程式印出來的值對不對得上。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四、手算六步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每一列都是「算梯度 → 乘學習率 → 減掉」，重複六次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5943600" cy="24140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60400"/>
                <a:gridCol w="1584960"/>
                <a:gridCol w="2113280"/>
                <a:gridCol w="158496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k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w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dL/dw = 2(w-3)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L(w)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0.000000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-6.000000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9.000000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0.600000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-4.800000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5.760000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1.080000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-3.840000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3.686400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1.464000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-3.072000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2.359296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1.771200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-2.457600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1.509949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2.016960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-1.966080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0.966368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2.213568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-1.572864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Consolas"/>
                        </a:rPr>
                        <a:t>0.618475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188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03030"/>
                </a:solidFill>
                <a:latin typeface="Microsoft JhengHei"/>
              </a:rPr>
              <a:t>黃色那兩格就是上一頁手算的起點</a:t>
            </a:r>
          </a:p>
        </p:txBody>
      </p:sp>
      <p:pic>
        <p:nvPicPr>
          <p:cNvPr id="7" name="Picture 6" descr="m_clo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37360"/>
            <a:ext cx="4206240" cy="5907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26517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02020"/>
                </a:solidFill>
                <a:latin typeface="Microsoft JhengHei"/>
              </a:rPr>
              <a:t>這個例子有閉式解可以反查：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每一步 w − 3 都乘上 (1 − 2η)。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/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η = 0.1 時係數是 0.80，也就是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每一步距離終點都只剩上一步的八成。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4572000"/>
            <a:ext cx="4846320" cy="68580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E7A45"/>
                </a:solidFill>
                <a:latin typeface="Microsoft JhengHei"/>
              </a:rPr>
              <a:t>程式迭代與閉式解差 4.4e-16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5943600" cy="68580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F4E79"/>
                </a:solidFill>
                <a:latin typeface="Microsoft JhengHei"/>
              </a:rPr>
              <a:t>六步後 w = 2.213568，還沒到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406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59636E"/>
                </a:solidFill>
                <a:latin typeface="Microsoft JhengHei"/>
              </a:rPr>
              <a:t>梯度下降不會一步到位，它是逐步逼近。損失從 9.000000 降到 0.618475，</a:t>
            </a:r>
          </a:p>
          <a:p>
            <a:r>
              <a:rPr sz="1900" b="0">
                <a:solidFill>
                  <a:srgbClr val="59636E"/>
                </a:solidFill>
                <a:latin typeface="Microsoft JhengHei"/>
              </a:rPr>
              <a:t>每一步的降幅也越來越小——因為越靠近最小值，梯度越小，步伐自然就變短。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五、學習率太小、剛好、太大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補充教材 p37 說它有影響，這裡把三種各跑五步</a:t>
            </a:r>
          </a:p>
        </p:txBody>
      </p:sp>
      <p:pic>
        <p:nvPicPr>
          <p:cNvPr id="5" name="Picture 4" descr="f2_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10241280" cy="28448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4023360"/>
          <a:ext cx="5486398" cy="21122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21894"/>
                <a:gridCol w="1588168"/>
                <a:gridCol w="1588168"/>
                <a:gridCol w="1588168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k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eta = 0.01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eta = 0.1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eta = 1.05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0.0000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0.0000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0.0000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0.0600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0.6000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6.3000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0.1188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1.0800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-0.6300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0.1764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1.4640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6.9930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0.2329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1.7712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-1.3923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0.2882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2.0170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7.8315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m_conve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114800"/>
            <a:ext cx="4206240" cy="4323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48006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02020"/>
                </a:solidFill>
                <a:latin typeface="Microsoft JhengHei"/>
              </a:rPr>
              <a:t>收斂係數是 (1 − 2η)：</a:t>
            </a:r>
          </a:p>
          <a:p>
            <a:r>
              <a:rPr sz="1700" b="0">
                <a:solidFill>
                  <a:srgbClr val="202020"/>
                </a:solidFill>
                <a:latin typeface="Microsoft JhengHei"/>
              </a:rPr>
              <a:t>η=0.01 → 0.98，每步只縮 2%，走不動</a:t>
            </a:r>
          </a:p>
          <a:p>
            <a:r>
              <a:rPr sz="1700" b="0">
                <a:solidFill>
                  <a:srgbClr val="202020"/>
                </a:solidFill>
                <a:latin typeface="Microsoft JhengHei"/>
              </a:rPr>
              <a:t>η=0.1 　→ 0.80，穩定收斂</a:t>
            </a:r>
          </a:p>
          <a:p>
            <a:r>
              <a:rPr sz="1700" b="0">
                <a:solidFill>
                  <a:srgbClr val="202020"/>
                </a:solidFill>
                <a:latin typeface="Microsoft JhengHei"/>
              </a:rPr>
              <a:t>η=1.05 → −1.10，絕對值大於 1，每步放大並換邊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263640"/>
            <a:ext cx="5486400" cy="530352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C03030"/>
                </a:solidFill>
                <a:latin typeface="Microsoft JhengHei"/>
              </a:rPr>
              <a:t>黃色那欄在正負之間跳，而且越跳越遠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Graphic spid="6" grpId="0">
        <p:bldAsOne/>
      </p:bldGraphic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六、兩個參數的情形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補充教材 p31 寫「Gradient 是 Loss 等高線的法線方向」，這就是那張圖</a:t>
            </a:r>
          </a:p>
        </p:txBody>
      </p:sp>
      <p:pic>
        <p:nvPicPr>
          <p:cNvPr id="5" name="Picture 4" descr="m_loss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3931920" cy="570145"/>
          </a:xfrm>
          <a:prstGeom prst="rect">
            <a:avLst/>
          </a:prstGeom>
        </p:spPr>
      </p:pic>
      <p:pic>
        <p:nvPicPr>
          <p:cNvPr id="6" name="Picture 5" descr="m_grad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3200400" cy="468434"/>
          </a:xfrm>
          <a:prstGeom prst="rect">
            <a:avLst/>
          </a:prstGeom>
        </p:spPr>
      </p:pic>
      <p:pic>
        <p:nvPicPr>
          <p:cNvPr id="7" name="Picture 6" descr="f3_conto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097280"/>
            <a:ext cx="6858000" cy="39850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74320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02020"/>
                </a:solidFill>
                <a:latin typeface="Microsoft JhengHei"/>
              </a:rPr>
              <a:t>θ₂ 的係數是 θ₁ 的十倍，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等高線被壓成狹長的橢圓。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/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起點 (3, 1)，η = 0.08。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該點的梯度是 (6, 20)，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兩個分量差超過三倍。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846320"/>
            <a:ext cx="4114800" cy="713232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E7A45"/>
                </a:solidFill>
                <a:latin typeface="Microsoft JhengHei"/>
              </a:rPr>
              <a:t>綠色箭頭與等高線垂直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Microsoft JhengHei"/>
              </a:rPr>
              <a:t>紅線往綠箭頭的反方向走，但因為兩個方向的梯度差太多，走出來是一條鋸齒。下一頁看為什麼。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七、鋸齒是怎麼來的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把六步的數字攤開就看得出來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7863837" cy="21122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66427"/>
                <a:gridCol w="1466139"/>
                <a:gridCol w="1466139"/>
                <a:gridCol w="1466139"/>
                <a:gridCol w="1466139"/>
                <a:gridCol w="1332854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k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theta_1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theta_2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dL/dt1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dL/dt2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L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3.0000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1.0000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6.0000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20.0000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19.0000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2.5200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-0.6000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5.0400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-12.0000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9.9504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2.1168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0.3600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4.2336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7.2000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5.7768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1.7781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-0.2160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3.5562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-4.3200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3.6282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1.4936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0.1296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2.9872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2.5920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2.3988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1.2546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-0.0778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2.5093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-1.5552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020"/>
                          </a:solidFill>
                          <a:latin typeface="Consolas"/>
                        </a:rPr>
                        <a:t>1.6346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595360" y="1463040"/>
            <a:ext cx="3200400" cy="868680"/>
          </a:xfrm>
          <a:prstGeom prst="rect">
            <a:avLst/>
          </a:prstGeom>
          <a:solidFill>
            <a:srgbClr val="DAE6F2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F4E79"/>
                </a:solidFill>
                <a:latin typeface="Microsoft JhengHei"/>
              </a:rPr>
              <a:t>θ₁ 每步乘
1 − 0.08×2 = 0.84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2468880"/>
            <a:ext cx="3200400" cy="86868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C03030"/>
                </a:solidFill>
                <a:latin typeface="Microsoft JhengHei"/>
              </a:rPr>
              <a:t>θ₂ 每步乘
1 − 0.08×20 = −0.60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34747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3030"/>
                </a:solidFill>
                <a:latin typeface="Microsoft JhengHei"/>
              </a:rPr>
              <a:t>係數是負的，</a:t>
            </a:r>
          </a:p>
          <a:p>
            <a:r>
              <a:rPr sz="1800" b="1">
                <a:solidFill>
                  <a:srgbClr val="C03030"/>
                </a:solidFill>
                <a:latin typeface="Microsoft JhengHei"/>
              </a:rPr>
              <a:t>所以每一步都跨過去</a:t>
            </a:r>
          </a:p>
          <a:p>
            <a:r>
              <a:rPr sz="1800" b="1">
                <a:solidFill>
                  <a:srgbClr val="C03030"/>
                </a:solidFill>
                <a:latin typeface="Microsoft JhengHei"/>
              </a:rPr>
              <a:t>再跳回來。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49039"/>
            <a:ext cx="7863840" cy="713232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C03030"/>
                </a:solidFill>
                <a:latin typeface="Microsoft JhengHei"/>
              </a:rPr>
              <a:t>黃色那欄的正負號一直在換：1.0 → −0.6 → 0.36 → −0.216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617720"/>
            <a:ext cx="11292840" cy="749808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E7A45"/>
                </a:solidFill>
                <a:latin typeface="Microsoft JhengHei"/>
              </a:rPr>
              <a:t>小考 1 考過這題：尺度差距大時，陡峭方向劇烈震盪、平坦方向幾乎不動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486400"/>
            <a:ext cx="11292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Microsoft JhengHei"/>
              </a:rPr>
              <a:t>解法不是把學習率調小——調小之後平坦方向會更走不動。</a:t>
            </a:r>
          </a:p>
          <a:p>
            <a:r>
              <a:rPr sz="1900" b="1">
                <a:solidFill>
                  <a:srgbClr val="1F4E79"/>
                </a:solidFill>
                <a:latin typeface="Microsoft JhengHei"/>
              </a:rPr>
              <a:t>正確做法是先把特徵標準化，讓等高線變回接近圓形，兩個方向的梯度才會同一個量級。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八、手寫版：自己算梯度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code/gradient_descent.py 的核心，十行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6766560" cy="3200400"/>
          </a:xfrm>
          <a:prstGeom prst="rect">
            <a:avLst/>
          </a:prstGeom>
          <a:solidFill>
            <a:srgbClr val="F2F4F7"/>
          </a:solidFill>
          <a:ln>
            <a:solidFill>
              <a:srgbClr val="C8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91440"/>
          <a:lstStyle/>
          <a:p>
            <a:pPr algn="l"/>
            <a:r>
              <a:rPr sz="1600">
                <a:solidFill>
                  <a:srgbClr val="1F4E79"/>
                </a:solidFill>
                <a:latin typeface="Consolas"/>
              </a:rPr>
              <a:t>def loss(w):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onsolas"/>
              </a:rPr>
              <a:t>    return (w - 3.0) ** 2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onsolas"/>
              </a:rPr>
              <a:t/>
            </a:r>
          </a:p>
          <a:p>
            <a:pPr algn="l"/>
            <a:r>
              <a:rPr sz="1600">
                <a:solidFill>
                  <a:srgbClr val="1F4E79"/>
                </a:solidFill>
                <a:latin typeface="Consolas"/>
              </a:rPr>
              <a:t>def grad(w):</a:t>
            </a:r>
          </a:p>
          <a:p>
            <a:pPr algn="l"/>
            <a:r>
              <a:rPr sz="1600">
                <a:solidFill>
                  <a:srgbClr val="C03030"/>
                </a:solidFill>
                <a:latin typeface="Consolas"/>
              </a:rPr>
              <a:t>    return 2.0 * (w - 3.0)      # 微分要自己推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onsolas"/>
              </a:rPr>
              <a:t/>
            </a:r>
          </a:p>
          <a:p>
            <a:pPr algn="l"/>
            <a:r>
              <a:rPr sz="1600">
                <a:solidFill>
                  <a:srgbClr val="202020"/>
                </a:solidFill>
                <a:latin typeface="Consolas"/>
              </a:rPr>
              <a:t>w, eta = 0.0, 0.1</a:t>
            </a:r>
          </a:p>
          <a:p>
            <a:pPr algn="l"/>
            <a:r>
              <a:rPr sz="1600">
                <a:solidFill>
                  <a:srgbClr val="1F4E79"/>
                </a:solidFill>
                <a:latin typeface="Consolas"/>
              </a:rPr>
              <a:t>for k in range(7):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onsolas"/>
              </a:rPr>
              <a:t>    g = grad(w)</a:t>
            </a:r>
          </a:p>
          <a:p>
            <a:pPr algn="l"/>
            <a:r>
              <a:rPr sz="1600">
                <a:solidFill>
                  <a:srgbClr val="1E7A45"/>
                </a:solidFill>
                <a:latin typeface="Consolas"/>
              </a:rPr>
              <a:t>    w = w - eta * g             # 更新式就是這一行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280160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02020"/>
                </a:solidFill>
                <a:latin typeface="Microsoft JhengHei"/>
              </a:rPr>
              <a:t>這十行就是補充教材那十頁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的全部內容。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/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紅色那行是整個「微分」。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一維還推得出來，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層數一多就不可行了。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/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綠色那行是更新式本身。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72000"/>
            <a:ext cx="11064240" cy="749808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E7A45"/>
                </a:solidFill>
                <a:latin typeface="Microsoft JhengHei"/>
              </a:rPr>
              <a:t>印出來的 w 是 0.000000 → 0.600000 → 1.080000 → …，與第 4 頁手算完全一致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406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Microsoft JhengHei"/>
              </a:rPr>
              <a:t>先用手算得出答案的小題目驗證程式，再把同一支程式套到算不出來的題目上。</a:t>
            </a:r>
          </a:p>
          <a:p>
            <a:r>
              <a:rPr sz="1900" b="1">
                <a:solidFill>
                  <a:srgbClr val="1F4E79"/>
                </a:solidFill>
                <a:latin typeface="Microsoft JhengHei"/>
              </a:rPr>
              <a:t>順序反過來就沒有任何東西可以告訴你程式寫錯了。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九、框架版：讓 TensorFlow 算梯度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GradientTape 把前向計算錄下來，再自動反向微分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6766560" cy="2926080"/>
          </a:xfrm>
          <a:prstGeom prst="rect">
            <a:avLst/>
          </a:prstGeom>
          <a:solidFill>
            <a:srgbClr val="F2F4F7"/>
          </a:solidFill>
          <a:ln>
            <a:solidFill>
              <a:srgbClr val="C8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91440"/>
          <a:lstStyle/>
          <a:p>
            <a:pPr algn="l"/>
            <a:r>
              <a:rPr sz="1600">
                <a:solidFill>
                  <a:srgbClr val="202020"/>
                </a:solidFill>
                <a:latin typeface="Consolas"/>
              </a:rPr>
              <a:t>w = tf.Variable(0.0)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onsolas"/>
              </a:rPr>
              <a:t>opt = tf.keras.optimizers.legacy.SGD(0.1)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onsolas"/>
              </a:rPr>
              <a:t/>
            </a:r>
          </a:p>
          <a:p>
            <a:pPr algn="l"/>
            <a:r>
              <a:rPr sz="1600">
                <a:solidFill>
                  <a:srgbClr val="1F4E79"/>
                </a:solidFill>
                <a:latin typeface="Consolas"/>
              </a:rPr>
              <a:t>for k in range(7):</a:t>
            </a:r>
          </a:p>
          <a:p>
            <a:pPr algn="l"/>
            <a:r>
              <a:rPr sz="1600">
                <a:solidFill>
                  <a:srgbClr val="1F4E79"/>
                </a:solidFill>
                <a:latin typeface="Consolas"/>
              </a:rPr>
              <a:t>    with tf.GradientTape() as tape: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onsolas"/>
              </a:rPr>
              <a:t>        L = (w - 3.0) ** 2      # 只寫前向</a:t>
            </a:r>
          </a:p>
          <a:p>
            <a:pPr algn="l"/>
            <a:r>
              <a:rPr sz="1600">
                <a:solidFill>
                  <a:srgbClr val="1E7A45"/>
                </a:solidFill>
                <a:latin typeface="Consolas"/>
              </a:rPr>
              <a:t>    g = tape.gradient(L, w)     # 自動微分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onsolas"/>
              </a:rPr>
              <a:t>    opt.apply_gradients([(g, w)])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28016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02020"/>
                </a:solidFill>
                <a:latin typeface="Microsoft JhengHei"/>
              </a:rPr>
              <a:t>和手寫版比，少寫的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只有一行：微分。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/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綠色那行取代了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2.0 * (w - 3.0)。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/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模型一複雜，</a:t>
            </a:r>
          </a:p>
          <a:p>
            <a:r>
              <a:rPr sz="1800" b="0">
                <a:solidFill>
                  <a:srgbClr val="202020"/>
                </a:solidFill>
                <a:latin typeface="Microsoft JhengHei"/>
              </a:rPr>
              <a:t>這就是框架的價值。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97680"/>
            <a:ext cx="11064240" cy="749808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C03030"/>
                </a:solidFill>
                <a:latin typeface="Microsoft JhengHei"/>
              </a:rPr>
              <a:t>但是——框架算錯的時候，你不會收到任何錯誤訊息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663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Microsoft JhengHei"/>
              </a:rPr>
              <a:t>寫錯損失函數、學習率設過大、變數沒有被 tape 追蹤，程式都照跑不誤，</a:t>
            </a:r>
          </a:p>
          <a:p>
            <a:r>
              <a:rPr sz="2000" b="1">
                <a:solidFill>
                  <a:srgbClr val="1F4E79"/>
                </a:solidFill>
                <a:latin typeface="Microsoft JhengHei"/>
              </a:rPr>
              <a:t>只是得到一個不收斂的模型。所以要有一個手算得出答案的小題目可以比對。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十、兩版數字比對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同一題、同一個起點、同一個學習率，數字必須一樣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63040" y="1234440"/>
          <a:ext cx="9235437" cy="1508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9457"/>
                <a:gridCol w="3078479"/>
                <a:gridCol w="3078479"/>
                <a:gridCol w="1979022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k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手寫 NumPy 的 w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TensorFlow 2 的 w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差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0.000000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0.000000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0.0e+00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1.080000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1.080000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8.6e-08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1.771200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1.771200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1.2e-07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2.213568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2.213568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5.6e-08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463040" y="3017520"/>
            <a:ext cx="9235440" cy="777240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300" b="1">
                <a:solidFill>
                  <a:srgbClr val="1E7A45"/>
                </a:solidFill>
                <a:latin typeface="Microsoft JhengHei"/>
              </a:rPr>
              <a:t>最大差 1.91e-07，判定一致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977639"/>
            <a:ext cx="9235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59636E"/>
                </a:solidFill>
                <a:latin typeface="Microsoft JhengHei"/>
              </a:rPr>
              <a:t>這個差距來自單精度浮點數，不是演算法不同。</a:t>
            </a:r>
          </a:p>
          <a:p>
            <a:r>
              <a:rPr sz="1900" b="0">
                <a:solidFill>
                  <a:srgbClr val="59636E"/>
                </a:solidFill>
                <a:latin typeface="Microsoft JhengHei"/>
              </a:rPr>
              <a:t>TensorFlow 的預設型別是 float32，手寫版的 NumPy 用 float64。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5029200"/>
            <a:ext cx="9235440" cy="749808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1F4E79"/>
                </a:solidFill>
                <a:latin typeface="Microsoft JhengHei"/>
              </a:rPr>
              <a:t>判準先寫下來：差小於 1e-5 才算通過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897880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C03030"/>
                </a:solidFill>
                <a:latin typeface="Microsoft JhengHei"/>
              </a:rPr>
              <a:t>先寫判準再跑，不然看到什麼數字都會覺得合理。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十一、回到補充教材第 32 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那頁給了參數與梯度，但沒寫更新後是多少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280160"/>
          <a:ext cx="9418320" cy="1508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39440"/>
                <a:gridCol w="2092960"/>
                <a:gridCol w="2092960"/>
                <a:gridCol w="209296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θ₁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θ₂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θ₃</a:t>
                      </a:r>
                    </a:p>
                  </a:txBody>
                  <a:tcPr marL="36576" marR="36576" marT="9144" marB="9144">
                    <a:solidFill>
                      <a:srgbClr val="1F4E7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投影片給的 θ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-0.1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投影片給的梯度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0.15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η × 梯度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0.015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0.005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0.02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更新後的 θ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0.185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-0.105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02020"/>
                          </a:solidFill>
                          <a:latin typeface="Consolas"/>
                        </a:rPr>
                        <a:t>0.28</a:t>
                      </a:r>
                    </a:p>
                  </a:txBody>
                  <a:tcPr marL="36576" marR="36576" marT="9144" marB="9144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371600" y="3108960"/>
            <a:ext cx="9418320" cy="749808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1E7A45"/>
                </a:solidFill>
                <a:latin typeface="Microsoft JhengHei"/>
              </a:rPr>
              <a:t>η = 0.1，三個參數各自更新，彼此不互相影響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02020"/>
                </a:solidFill>
                <a:latin typeface="Microsoft JhengHei"/>
              </a:rPr>
              <a:t>每一個參數都是「自己減掉學習率乘自己的偏微分」。</a:t>
            </a:r>
          </a:p>
          <a:p>
            <a:r>
              <a:rPr sz="2000" b="0">
                <a:solidFill>
                  <a:srgbClr val="202020"/>
                </a:solidFill>
                <a:latin typeface="Microsoft JhengHei"/>
              </a:rPr>
              <a:t>投影片 p32、p33 那一整排的 Compute，做的就是這件事。</a:t>
            </a:r>
          </a:p>
          <a:p>
            <a:r>
              <a:rPr sz="2000" b="0">
                <a:solidFill>
                  <a:srgbClr val="202020"/>
                </a:solidFill>
                <a:latin typeface="Microsoft JhengHei"/>
              </a:rPr>
              <a:t/>
            </a:r>
          </a:p>
          <a:p>
            <a:r>
              <a:rPr sz="2000" b="0">
                <a:solidFill>
                  <a:srgbClr val="202020"/>
                </a:solidFill>
                <a:latin typeface="Microsoft JhengHei"/>
              </a:rPr>
              <a:t>差別只在參數從 3 個變成幾百萬個——演算法一個字都沒變，</a:t>
            </a:r>
          </a:p>
          <a:p>
            <a:r>
              <a:rPr sz="2000" b="0">
                <a:solidFill>
                  <a:srgbClr val="202020"/>
                </a:solidFill>
                <a:latin typeface="Microsoft JhengHei"/>
              </a:rPr>
              <a:t>變的是要算幾次，這才是需要 GPU 的原因。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十二、AI 時代，人在這裡做什麼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模型不收斂的時候，框架不會告訴你是哪一種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1064240" cy="658368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F4E79"/>
                </a:solidFill>
                <a:latin typeface="Microsoft JhengHei"/>
              </a:rPr>
              <a:t>① 學習率不對　→ 損失上下跳或變成 NaN。看第 5 頁那三張圖的右邊那張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38528"/>
            <a:ext cx="11064240" cy="658368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F4E79"/>
                </a:solidFill>
                <a:latin typeface="Microsoft JhengHei"/>
              </a:rPr>
              <a:t>② 特徵尺度不一致　→ 損失降得很慢但沒發散。看第 7 頁的鋸齒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88336"/>
            <a:ext cx="11064240" cy="658368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F4E79"/>
                </a:solidFill>
                <a:latin typeface="Microsoft JhengHei"/>
              </a:rPr>
              <a:t>③ 初始化不對　→ 全零會讓同層神經元永遠同步更新，整層等於一個神經元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38144"/>
            <a:ext cx="11064240" cy="658368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1F4E79"/>
                </a:solidFill>
                <a:latin typeface="Microsoft JhengHei"/>
              </a:rPr>
              <a:t>④ 梯度消失　→ 輸出落在 sigmoid 飽和區，梯度趨近 0，深層幾乎不更新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43400"/>
            <a:ext cx="11064240" cy="777240"/>
          </a:xfrm>
          <a:prstGeom prst="rect">
            <a:avLst/>
          </a:prstGeom>
          <a:solidFill>
            <a:srgbClr val="FFF3CD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C03030"/>
                </a:solidFill>
                <a:latin typeface="Microsoft JhengHei"/>
              </a:rPr>
              <a:t>這四種的症狀相似，處理方式完全不同，而程式一個錯誤訊息都不會給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578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Microsoft JhengHei"/>
              </a:rPr>
              <a:t>AI 可以把模型寫出來、也可以建議調參，但「現在是哪一種病」要由人判斷。</a:t>
            </a:r>
          </a:p>
          <a:p>
            <a:r>
              <a:rPr sz="2000" b="1">
                <a:solidFill>
                  <a:srgbClr val="1F4E79"/>
                </a:solidFill>
                <a:latin typeface="Microsoft JhengHei"/>
              </a:rPr>
              <a:t>判斷的依據就是這份教材的內容：知道更新式長什麼樣、知道收斂係數怎麼算、</a:t>
            </a:r>
          </a:p>
          <a:p>
            <a:r>
              <a:rPr sz="2000" b="1">
                <a:solidFill>
                  <a:srgbClr val="1F4E79"/>
                </a:solidFill>
                <a:latin typeface="Microsoft JhengHei"/>
              </a:rPr>
              <a:t>知道鋸齒代表什麼。小考 1 的四道題考的正是這四件事。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Microsoft JhengHei"/>
              </a:rPr>
              <a:t>練習與程式取用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21207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7D6E5"/>
                </a:solidFill>
                <a:latin typeface="Microsoft JhengHei"/>
              </a:rPr>
              <a:t>程式在 Colab 上，不必安裝任何東西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881360" cy="6858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練習一　把 η 改成 0.5，先用收斂係數預測會怎樣，再跑跑看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10881360" cy="6858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練習二　把二維的損失改成 θ₁² + θ₂²，等高線變什麼形狀？鋸齒還在嗎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10881360" cy="6858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練習三　框架版把 SGD 換成 Adam，數字還會和手寫版一樣嗎？為什麼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59636E"/>
                </a:solidFill>
                <a:latin typeface="Microsoft JhengHei"/>
              </a:rPr>
              <a:t>前兩題用收斂係數就能先預測答案，跑之前先寫下你的預測，再跑。</a:t>
            </a:r>
          </a:p>
          <a:p>
            <a:r>
              <a:rPr sz="1900" b="0">
                <a:solidFill>
                  <a:srgbClr val="59636E"/>
                </a:solidFill>
                <a:latin typeface="Microsoft JhengHei"/>
              </a:rPr>
              <a:t>預測錯比預測對更有價值——那代表你對這個演算法的理解有一個洞。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09160"/>
            <a:ext cx="10881360" cy="749808"/>
          </a:xfrm>
          <a:prstGeom prst="rect">
            <a:avLst/>
          </a:prstGeom>
          <a:solidFill>
            <a:srgbClr val="DCF0E4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1E7A45"/>
                </a:solidFill>
                <a:latin typeface="Microsoft JhengHei"/>
              </a:rPr>
              <a:t>課程 repo 的 README 進階主題那一列，點「在 Colab 開啟」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9636E"/>
                </a:solidFill>
                <a:latin typeface="Microsoft JhengHei"/>
              </a:rPr>
              <a:t>github.com/pychang-ai/115-1_DLMA　→　自主學習：進階主題　→　梯度下降法</a:t>
            </a:r>
          </a:p>
          <a:p>
            <a:r>
              <a:rPr sz="1800" b="0">
                <a:solidFill>
                  <a:srgbClr val="59636E"/>
                </a:solidFill>
                <a:latin typeface="Microsoft JhengHei"/>
              </a:rPr>
              <a:t>點下去直接在瀏覽器跑，不必下載也不必安裝；要改內容先選「複製到雲端硬碟」。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